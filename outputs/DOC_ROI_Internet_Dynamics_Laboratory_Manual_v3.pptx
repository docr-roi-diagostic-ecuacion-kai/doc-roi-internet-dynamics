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0410721a4c4cf0" /><Relationship Type="http://schemas.openxmlformats.org/officeDocument/2006/relationships/extended-properties" Target="/docProps/app.xml" Id="R4de9755945634a78" /><Relationship Type="http://schemas.openxmlformats.org/officeDocument/2006/relationships/officeDocument" Target="/ppt/presentation.xml" Id="Ra88a372989cc4cda" /></Relationships>
</file>

<file path=ppt/presentation.xml><?xml version="1.0" encoding="utf-8"?>
<p:presentation xmlns:p="http://schemas.openxmlformats.org/presentationml/2006/main">
  <p:sldMasterIdLst>
    <p:sldMasterId xmlns:r="http://schemas.openxmlformats.org/officeDocument/2006/relationships" id="2147483648" r:id="R3d5c885a419d41e9"/>
  </p:sldMasterIdLst>
  <p:notesMasterIdLst>
    <p:notesMasterId xmlns:r="http://schemas.openxmlformats.org/officeDocument/2006/relationships" r:id="R70d80a2bb8d64ecc"/>
  </p:notesMasterIdLst>
  <p:sldIdLst>
    <p:sldId xmlns:r="http://schemas.openxmlformats.org/officeDocument/2006/relationships" id="256" r:id="R6a1a47a545a049d7"/>
    <p:sldId xmlns:r="http://schemas.openxmlformats.org/officeDocument/2006/relationships" id="257" r:id="Rb6e80ccb9a6544e5"/>
    <p:sldId xmlns:r="http://schemas.openxmlformats.org/officeDocument/2006/relationships" id="258" r:id="R121f1da37beb4673"/>
    <p:sldId xmlns:r="http://schemas.openxmlformats.org/officeDocument/2006/relationships" id="259" r:id="R6584d72e9f2a4896"/>
    <p:sldId xmlns:r="http://schemas.openxmlformats.org/officeDocument/2006/relationships" id="260" r:id="Rcd2af30a88c94b8b"/>
    <p:sldId xmlns:r="http://schemas.openxmlformats.org/officeDocument/2006/relationships" id="261" r:id="R8fd600b308104866"/>
    <p:sldId xmlns:r="http://schemas.openxmlformats.org/officeDocument/2006/relationships" id="262" r:id="Rf8f174305aa4423a"/>
    <p:sldId xmlns:r="http://schemas.openxmlformats.org/officeDocument/2006/relationships" id="263" r:id="R6de6d5e5db5f42ef"/>
    <p:sldId xmlns:r="http://schemas.openxmlformats.org/officeDocument/2006/relationships" id="264" r:id="R799435c4a0764208"/>
    <p:sldId xmlns:r="http://schemas.openxmlformats.org/officeDocument/2006/relationships" id="265" r:id="R19fdc759b697481a"/>
    <p:sldId xmlns:r="http://schemas.openxmlformats.org/officeDocument/2006/relationships" id="266" r:id="Rb6ef5e222e6f4759"/>
    <p:sldId xmlns:r="http://schemas.openxmlformats.org/officeDocument/2006/relationships" id="267" r:id="R5b53048034b84221"/>
    <p:sldId xmlns:r="http://schemas.openxmlformats.org/officeDocument/2006/relationships" id="268" r:id="Rc7a08c4927cb44af"/>
    <p:sldId xmlns:r="http://schemas.openxmlformats.org/officeDocument/2006/relationships" id="269" r:id="R78625cb2348a44bf"/>
    <p:sldId xmlns:r="http://schemas.openxmlformats.org/officeDocument/2006/relationships" id="270" r:id="Ra0e11eeb42ea461f"/>
    <p:sldId xmlns:r="http://schemas.openxmlformats.org/officeDocument/2006/relationships" id="271" r:id="Rc46151a404544676"/>
    <p:sldId xmlns:r="http://schemas.openxmlformats.org/officeDocument/2006/relationships" id="272" r:id="Rd458bce75be94999"/>
    <p:sldId xmlns:r="http://schemas.openxmlformats.org/officeDocument/2006/relationships" id="273" r:id="R53fa47d9b05e445d"/>
    <p:sldId xmlns:r="http://schemas.openxmlformats.org/officeDocument/2006/relationships" id="274" r:id="R4478ed00e59e4047"/>
    <p:sldId xmlns:r="http://schemas.openxmlformats.org/officeDocument/2006/relationships" id="275" r:id="Rbaea9b91f0e444f1"/>
    <p:sldId xmlns:r="http://schemas.openxmlformats.org/officeDocument/2006/relationships" id="276" r:id="R5f63f0b86bc34889"/>
    <p:sldId xmlns:r="http://schemas.openxmlformats.org/officeDocument/2006/relationships" id="277" r:id="Rb660a771b75041c8"/>
    <p:sldId xmlns:r="http://schemas.openxmlformats.org/officeDocument/2006/relationships" id="278" r:id="Ra39ee33c03cb490c"/>
    <p:sldId xmlns:r="http://schemas.openxmlformats.org/officeDocument/2006/relationships" id="279" r:id="R95b6241d99364965"/>
    <p:sldId xmlns:r="http://schemas.openxmlformats.org/officeDocument/2006/relationships" id="280" r:id="R6fbe791a98cd45af"/>
    <p:sldId xmlns:r="http://schemas.openxmlformats.org/officeDocument/2006/relationships" id="281" r:id="Rc84b9b9b45ff4350"/>
    <p:sldId xmlns:r="http://schemas.openxmlformats.org/officeDocument/2006/relationships" id="282" r:id="R0a2d76d9c3984bab"/>
    <p:sldId xmlns:r="http://schemas.openxmlformats.org/officeDocument/2006/relationships" id="283" r:id="R6a824210322d4b18"/>
    <p:sldId xmlns:r="http://schemas.openxmlformats.org/officeDocument/2006/relationships" id="284" r:id="R0d259f4a00e24182"/>
    <p:sldId xmlns:r="http://schemas.openxmlformats.org/officeDocument/2006/relationships" id="285" r:id="Rb7302ebcd2354ad1"/>
    <p:sldId xmlns:r="http://schemas.openxmlformats.org/officeDocument/2006/relationships" id="286" r:id="Rc079bb07ef514395"/>
    <p:sldId xmlns:r="http://schemas.openxmlformats.org/officeDocument/2006/relationships" id="287" r:id="R3df9480a4e9144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9ce9deee5a4b54" /><Relationship Type="http://schemas.openxmlformats.org/officeDocument/2006/relationships/slideMaster" Target="/ppt/slideMasters/slideMaster1.xml" Id="R3d5c885a419d41e9" /><Relationship Type="http://schemas.openxmlformats.org/officeDocument/2006/relationships/notesMaster" Target="/ppt/notesMasters/notesMaster1.xml" Id="R70d80a2bb8d64ecc" /><Relationship Type="http://schemas.openxmlformats.org/officeDocument/2006/relationships/presProps" Target="/ppt/presProps.xml" Id="Rfe7a8e52ff714dd3" /><Relationship Type="http://schemas.openxmlformats.org/officeDocument/2006/relationships/tableStyles" Target="/ppt/tableStyles.xml" Id="R01aba51f5d9147bd" /><Relationship Type="http://schemas.openxmlformats.org/officeDocument/2006/relationships/slide" Target="/ppt/slides/slide1.xml" Id="R6a1a47a545a049d7" /><Relationship Type="http://schemas.openxmlformats.org/officeDocument/2006/relationships/slide" Target="/ppt/slides/slide2.xml" Id="Rb6e80ccb9a6544e5" /><Relationship Type="http://schemas.openxmlformats.org/officeDocument/2006/relationships/slide" Target="/ppt/slides/slide3.xml" Id="R121f1da37beb4673" /><Relationship Type="http://schemas.openxmlformats.org/officeDocument/2006/relationships/slide" Target="/ppt/slides/slide4.xml" Id="R6584d72e9f2a4896" /><Relationship Type="http://schemas.openxmlformats.org/officeDocument/2006/relationships/slide" Target="/ppt/slides/slide5.xml" Id="Rcd2af30a88c94b8b" /><Relationship Type="http://schemas.openxmlformats.org/officeDocument/2006/relationships/slide" Target="/ppt/slides/slide6.xml" Id="R8fd600b308104866" /><Relationship Type="http://schemas.openxmlformats.org/officeDocument/2006/relationships/slide" Target="/ppt/slides/slide7.xml" Id="Rf8f174305aa4423a" /><Relationship Type="http://schemas.openxmlformats.org/officeDocument/2006/relationships/slide" Target="/ppt/slides/slide8.xml" Id="R6de6d5e5db5f42ef" /><Relationship Type="http://schemas.openxmlformats.org/officeDocument/2006/relationships/slide" Target="/ppt/slides/slide9.xml" Id="R799435c4a0764208" /><Relationship Type="http://schemas.openxmlformats.org/officeDocument/2006/relationships/slide" Target="/ppt/slides/slide10.xml" Id="R19fdc759b697481a" /><Relationship Type="http://schemas.openxmlformats.org/officeDocument/2006/relationships/slide" Target="/ppt/slides/slide11.xml" Id="Rb6ef5e222e6f4759" /><Relationship Type="http://schemas.openxmlformats.org/officeDocument/2006/relationships/slide" Target="/ppt/slides/slide12.xml" Id="R5b53048034b84221" /><Relationship Type="http://schemas.openxmlformats.org/officeDocument/2006/relationships/slide" Target="/ppt/slides/slide13.xml" Id="Rc7a08c4927cb44af" /><Relationship Type="http://schemas.openxmlformats.org/officeDocument/2006/relationships/slide" Target="/ppt/slides/slide14.xml" Id="R78625cb2348a44bf" /><Relationship Type="http://schemas.openxmlformats.org/officeDocument/2006/relationships/slide" Target="/ppt/slides/slide15.xml" Id="Ra0e11eeb42ea461f" /><Relationship Type="http://schemas.openxmlformats.org/officeDocument/2006/relationships/slide" Target="/ppt/slides/slide16.xml" Id="Rc46151a404544676" /><Relationship Type="http://schemas.openxmlformats.org/officeDocument/2006/relationships/slide" Target="/ppt/slides/slide17.xml" Id="Rd458bce75be94999" /><Relationship Type="http://schemas.openxmlformats.org/officeDocument/2006/relationships/slide" Target="/ppt/slides/slide18.xml" Id="R53fa47d9b05e445d" /><Relationship Type="http://schemas.openxmlformats.org/officeDocument/2006/relationships/slide" Target="/ppt/slides/slide19.xml" Id="R4478ed00e59e4047" /><Relationship Type="http://schemas.openxmlformats.org/officeDocument/2006/relationships/slide" Target="/ppt/slides/slide20.xml" Id="Rbaea9b91f0e444f1" /><Relationship Type="http://schemas.openxmlformats.org/officeDocument/2006/relationships/slide" Target="/ppt/slides/slide21.xml" Id="R5f63f0b86bc34889" /><Relationship Type="http://schemas.openxmlformats.org/officeDocument/2006/relationships/slide" Target="/ppt/slides/slide22.xml" Id="Rb660a771b75041c8" /><Relationship Type="http://schemas.openxmlformats.org/officeDocument/2006/relationships/slide" Target="/ppt/slides/slide23.xml" Id="Ra39ee33c03cb490c" /><Relationship Type="http://schemas.openxmlformats.org/officeDocument/2006/relationships/slide" Target="/ppt/slides/slide24.xml" Id="R95b6241d99364965" /><Relationship Type="http://schemas.openxmlformats.org/officeDocument/2006/relationships/slide" Target="/ppt/slides/slide25.xml" Id="R6fbe791a98cd45af" /><Relationship Type="http://schemas.openxmlformats.org/officeDocument/2006/relationships/slide" Target="/ppt/slides/slide26.xml" Id="Rc84b9b9b45ff4350" /><Relationship Type="http://schemas.openxmlformats.org/officeDocument/2006/relationships/slide" Target="/ppt/slides/slide27.xml" Id="R0a2d76d9c3984bab" /><Relationship Type="http://schemas.openxmlformats.org/officeDocument/2006/relationships/slide" Target="/ppt/slides/slide28.xml" Id="R6a824210322d4b18" /><Relationship Type="http://schemas.openxmlformats.org/officeDocument/2006/relationships/slide" Target="/ppt/slides/slide29.xml" Id="R0d259f4a00e24182" /><Relationship Type="http://schemas.openxmlformats.org/officeDocument/2006/relationships/slide" Target="/ppt/slides/slide30.xml" Id="Rb7302ebcd2354ad1" /><Relationship Type="http://schemas.openxmlformats.org/officeDocument/2006/relationships/slide" Target="/ppt/slides/slide31.xml" Id="Rc079bb07ef514395" /><Relationship Type="http://schemas.openxmlformats.org/officeDocument/2006/relationships/slide" Target="/ppt/slides/slide32.xml" Id="R3df9480a4e91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d1bec17f943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4d83ec23cc41c1" /><Relationship Type="http://schemas.openxmlformats.org/officeDocument/2006/relationships/notesMaster" Target="/ppt/notesMasters/notesMaster1.xml" Id="R685b56fb054043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4340cd4e4d49b3" /><Relationship Type="http://schemas.openxmlformats.org/officeDocument/2006/relationships/notesMaster" Target="/ppt/notesMasters/notesMaster1.xml" Id="Rbe07dc9a84564d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be4e0e0e2d41da" /><Relationship Type="http://schemas.openxmlformats.org/officeDocument/2006/relationships/notesMaster" Target="/ppt/notesMasters/notesMaster1.xml" Id="R6fae707ad1294e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99875185bb4a16" /><Relationship Type="http://schemas.openxmlformats.org/officeDocument/2006/relationships/notesMaster" Target="/ppt/notesMasters/notesMaster1.xml" Id="R73020fea555c43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a505ce0dde4165" /><Relationship Type="http://schemas.openxmlformats.org/officeDocument/2006/relationships/notesMaster" Target="/ppt/notesMasters/notesMaster1.xml" Id="R12d92a0fb08c4a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550090100b4032" /><Relationship Type="http://schemas.openxmlformats.org/officeDocument/2006/relationships/notesMaster" Target="/ppt/notesMasters/notesMaster1.xml" Id="R35f5bf599f4844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7dc9729d44448a" /><Relationship Type="http://schemas.openxmlformats.org/officeDocument/2006/relationships/notesMaster" Target="/ppt/notesMasters/notesMaster1.xml" Id="R155794010c6f43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57a09a7048453b" /><Relationship Type="http://schemas.openxmlformats.org/officeDocument/2006/relationships/notesMaster" Target="/ppt/notesMasters/notesMaster1.xml" Id="Rf657f66edc6840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b20d1eed044eaf" /><Relationship Type="http://schemas.openxmlformats.org/officeDocument/2006/relationships/notesMaster" Target="/ppt/notesMasters/notesMaster1.xml" Id="R899412be69ce41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86631f646446a9" /><Relationship Type="http://schemas.openxmlformats.org/officeDocument/2006/relationships/notesMaster" Target="/ppt/notesMasters/notesMaster1.xml" Id="Rd20f9f6552eb44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a5b5dda619496b" /><Relationship Type="http://schemas.openxmlformats.org/officeDocument/2006/relationships/notesMaster" Target="/ppt/notesMasters/notesMaster1.xml" Id="Rf1975a87154e4f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ac1777ef424cc9" /><Relationship Type="http://schemas.openxmlformats.org/officeDocument/2006/relationships/notesMaster" Target="/ppt/notesMasters/notesMaster1.xml" Id="R8655a8ed5d4946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d52087b679486d" /><Relationship Type="http://schemas.openxmlformats.org/officeDocument/2006/relationships/notesMaster" Target="/ppt/notesMasters/notesMaster1.xml" Id="R9a692407fb9f49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a0a60fa459436e" /><Relationship Type="http://schemas.openxmlformats.org/officeDocument/2006/relationships/notesMaster" Target="/ppt/notesMasters/notesMaster1.xml" Id="Rd2ca5134904d4b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932f753ffd4375" /><Relationship Type="http://schemas.openxmlformats.org/officeDocument/2006/relationships/notesMaster" Target="/ppt/notesMasters/notesMaster1.xml" Id="R7749bb47b49b4b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d733d8fd334f34" /><Relationship Type="http://schemas.openxmlformats.org/officeDocument/2006/relationships/notesMaster" Target="/ppt/notesMasters/notesMaster1.xml" Id="R84c50e3cfde14e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85e03feb9d40af" /><Relationship Type="http://schemas.openxmlformats.org/officeDocument/2006/relationships/notesMaster" Target="/ppt/notesMasters/notesMaster1.xml" Id="Re1bb502a553b45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e7b460cb17464e" /><Relationship Type="http://schemas.openxmlformats.org/officeDocument/2006/relationships/notesMaster" Target="/ppt/notesMasters/notesMaster1.xml" Id="Rce775890fa304c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e26abcfc3b40b0" /><Relationship Type="http://schemas.openxmlformats.org/officeDocument/2006/relationships/notesMaster" Target="/ppt/notesMasters/notesMaster1.xml" Id="R800b0996dbd24b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8b5465d5294fa6" /><Relationship Type="http://schemas.openxmlformats.org/officeDocument/2006/relationships/notesMaster" Target="/ppt/notesMasters/notesMaster1.xml" Id="Rb247dd07f8264b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e10529ee0064a74" /><Relationship Type="http://schemas.openxmlformats.org/officeDocument/2006/relationships/notesMaster" Target="/ppt/notesMasters/notesMaster1.xml" Id="R7c314ff224b340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fe0614fb514192" /><Relationship Type="http://schemas.openxmlformats.org/officeDocument/2006/relationships/notesMaster" Target="/ppt/notesMasters/notesMaster1.xml" Id="Rd289e4ed278642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3d489d803e411d" /><Relationship Type="http://schemas.openxmlformats.org/officeDocument/2006/relationships/notesMaster" Target="/ppt/notesMasters/notesMaster1.xml" Id="R32af539c1cd246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e38743dd724023" /><Relationship Type="http://schemas.openxmlformats.org/officeDocument/2006/relationships/notesMaster" Target="/ppt/notesMasters/notesMaster1.xml" Id="R7163a01147fe471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ee2287cc48c4cfd" /><Relationship Type="http://schemas.openxmlformats.org/officeDocument/2006/relationships/notesMaster" Target="/ppt/notesMasters/notesMaster1.xml" Id="R7a8134abb8054c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cc3e0364f544e40" /><Relationship Type="http://schemas.openxmlformats.org/officeDocument/2006/relationships/notesMaster" Target="/ppt/notesMasters/notesMaster1.xml" Id="R68d5a79d55f1462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ec14e6f5924700" /><Relationship Type="http://schemas.openxmlformats.org/officeDocument/2006/relationships/notesMaster" Target="/ppt/notesMasters/notesMaster1.xml" Id="Rf594a857cf44464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83cd0a00c34c07" /><Relationship Type="http://schemas.openxmlformats.org/officeDocument/2006/relationships/notesMaster" Target="/ppt/notesMasters/notesMaster1.xml" Id="Rbed5d4a1816340f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905a5b5e6e848fb" /><Relationship Type="http://schemas.openxmlformats.org/officeDocument/2006/relationships/notesMaster" Target="/ppt/notesMasters/notesMaster1.xml" Id="R5682d00fc751419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7c04ac6b4904ff0" /><Relationship Type="http://schemas.openxmlformats.org/officeDocument/2006/relationships/notesMaster" Target="/ppt/notesMasters/notesMaster1.xml" Id="R6a7ed4c44a3e4f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868dbea39b6434f" /><Relationship Type="http://schemas.openxmlformats.org/officeDocument/2006/relationships/notesMaster" Target="/ppt/notesMasters/notesMaster1.xml" Id="Rbe24c56d91c546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890f7b552f4117" /><Relationship Type="http://schemas.openxmlformats.org/officeDocument/2006/relationships/notesMaster" Target="/ppt/notesMasters/notesMaster1.xml" Id="Rcbf0b1d54b6549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2e088879b348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8446d50e0d400f" /><Relationship Type="http://schemas.openxmlformats.org/officeDocument/2006/relationships/slideLayout" Target="/ppt/slideLayouts/slideLayout1.xml" Id="R5c8e5e566b434b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8e5e566b434b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6940a4c0b340d5" /><Relationship Type="http://schemas.openxmlformats.org/officeDocument/2006/relationships/notesSlide" Target="/ppt/notesSlides/notesSlide1.xml" Id="R0f0cb6ec30c842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76099d2da648d2" /><Relationship Type="http://schemas.openxmlformats.org/officeDocument/2006/relationships/notesSlide" Target="/ppt/notesSlides/notesSlide2.xml" Id="R04164db338c744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ee810336dc4580" /><Relationship Type="http://schemas.openxmlformats.org/officeDocument/2006/relationships/notesSlide" Target="/ppt/notesSlides/notesSlide3.xml" Id="R66e387e5a29c45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922cc90056427d" /><Relationship Type="http://schemas.openxmlformats.org/officeDocument/2006/relationships/notesSlide" Target="/ppt/notesSlides/notesSlide4.xml" Id="R2e0508d4fecf42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43b8acb8e74a09" /><Relationship Type="http://schemas.openxmlformats.org/officeDocument/2006/relationships/notesSlide" Target="/ppt/notesSlides/notesSlide5.xml" Id="Re390ef3abd5c4e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da7ee83c3e43da" /><Relationship Type="http://schemas.openxmlformats.org/officeDocument/2006/relationships/notesSlide" Target="/ppt/notesSlides/notesSlide6.xml" Id="R7c21c3e1794b47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202ebb745a4550" /><Relationship Type="http://schemas.openxmlformats.org/officeDocument/2006/relationships/notesSlide" Target="/ppt/notesSlides/notesSlide7.xml" Id="Rd16080d290874d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7db2c8f5f146b1" /><Relationship Type="http://schemas.openxmlformats.org/officeDocument/2006/relationships/notesSlide" Target="/ppt/notesSlides/notesSlide8.xml" Id="Ra18fa91c64a240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48cc8a55f74263" /><Relationship Type="http://schemas.openxmlformats.org/officeDocument/2006/relationships/notesSlide" Target="/ppt/notesSlides/notesSlide9.xml" Id="Rbce639548e694b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4ed71eabd94285" /><Relationship Type="http://schemas.openxmlformats.org/officeDocument/2006/relationships/notesSlide" Target="/ppt/notesSlides/notesSlide10.xml" Id="R6c6aabde2d3144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19d5c0870c4ac3" /><Relationship Type="http://schemas.openxmlformats.org/officeDocument/2006/relationships/notesSlide" Target="/ppt/notesSlides/notesSlide11.xml" Id="R9de206cc34a44a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84b4c3737b4615" /><Relationship Type="http://schemas.openxmlformats.org/officeDocument/2006/relationships/notesSlide" Target="/ppt/notesSlides/notesSlide12.xml" Id="Ree4a9505b5e441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1ac93da5b214032" /><Relationship Type="http://schemas.openxmlformats.org/officeDocument/2006/relationships/notesSlide" Target="/ppt/notesSlides/notesSlide13.xml" Id="Rd61afec0cf0e4c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55e46ae0344566" /><Relationship Type="http://schemas.openxmlformats.org/officeDocument/2006/relationships/notesSlide" Target="/ppt/notesSlides/notesSlide14.xml" Id="R4266275ea6b747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e0eecac4764716" /><Relationship Type="http://schemas.openxmlformats.org/officeDocument/2006/relationships/notesSlide" Target="/ppt/notesSlides/notesSlide15.xml" Id="R5cec864c13644d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6195e9d205a4b84" /><Relationship Type="http://schemas.openxmlformats.org/officeDocument/2006/relationships/notesSlide" Target="/ppt/notesSlides/notesSlide16.xml" Id="R7b581f0e682e43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8724374db54e5e" /><Relationship Type="http://schemas.openxmlformats.org/officeDocument/2006/relationships/notesSlide" Target="/ppt/notesSlides/notesSlide17.xml" Id="R5e22485f596b4e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c8e99651dd455d" /><Relationship Type="http://schemas.openxmlformats.org/officeDocument/2006/relationships/notesSlide" Target="/ppt/notesSlides/notesSlide18.xml" Id="Ref5191f5f4f14e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65396cc542d4b98" /><Relationship Type="http://schemas.openxmlformats.org/officeDocument/2006/relationships/notesSlide" Target="/ppt/notesSlides/notesSlide19.xml" Id="R36a42b8731b74c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de379c970ca4ebb" /><Relationship Type="http://schemas.openxmlformats.org/officeDocument/2006/relationships/notesSlide" Target="/ppt/notesSlides/notesSlide20.xml" Id="Reced8ac0796f489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5f24199d164a96" /><Relationship Type="http://schemas.openxmlformats.org/officeDocument/2006/relationships/notesSlide" Target="/ppt/notesSlides/notesSlide21.xml" Id="R232d0b1cf6c347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407b6b13cbc4ab6" /><Relationship Type="http://schemas.openxmlformats.org/officeDocument/2006/relationships/notesSlide" Target="/ppt/notesSlides/notesSlide22.xml" Id="R49c72757104842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dab7259af24045" /><Relationship Type="http://schemas.openxmlformats.org/officeDocument/2006/relationships/notesSlide" Target="/ppt/notesSlides/notesSlide23.xml" Id="R23cd021d24214d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d865bad124d408f" /><Relationship Type="http://schemas.openxmlformats.org/officeDocument/2006/relationships/notesSlide" Target="/ppt/notesSlides/notesSlide24.xml" Id="R843124d7da364c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0d1e02fc5c54886" /><Relationship Type="http://schemas.openxmlformats.org/officeDocument/2006/relationships/notesSlide" Target="/ppt/notesSlides/notesSlide25.xml" Id="R35b7877af3654d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92fdd38ef5a4b63" /><Relationship Type="http://schemas.openxmlformats.org/officeDocument/2006/relationships/notesSlide" Target="/ppt/notesSlides/notesSlide26.xml" Id="Rdc666cd0ce2f4d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50ee9284a4e4b14" /><Relationship Type="http://schemas.openxmlformats.org/officeDocument/2006/relationships/notesSlide" Target="/ppt/notesSlides/notesSlide27.xml" Id="R1a2879cdc47749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8ae5d90c9b54bd4" /><Relationship Type="http://schemas.openxmlformats.org/officeDocument/2006/relationships/notesSlide" Target="/ppt/notesSlides/notesSlide28.xml" Id="R47340ec9ad7849b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df985581fb84bd2" /><Relationship Type="http://schemas.openxmlformats.org/officeDocument/2006/relationships/notesSlide" Target="/ppt/notesSlides/notesSlide29.xml" Id="R11aeda21393548c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6bbb72c3ca74349" /><Relationship Type="http://schemas.openxmlformats.org/officeDocument/2006/relationships/notesSlide" Target="/ppt/notesSlides/notesSlide30.xml" Id="R302a33725653482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914c40f966d4fc2" /><Relationship Type="http://schemas.openxmlformats.org/officeDocument/2006/relationships/notesSlide" Target="/ppt/notesSlides/notesSlide31.xml" Id="R050f33e218e14b5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21ea16df5294122" /><Relationship Type="http://schemas.openxmlformats.org/officeDocument/2006/relationships/notesSlide" Target="/ppt/notesSlides/notesSlide32.xml" Id="Rb0334d498a9b4e48"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DED32C3-FDB0-4443-9279-1A1E3F68C2EE}"/>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3E909333-6935-41F3-97AA-63179D72294E}"/>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00C359D4-1E03-452F-A129-BB5D45806C14}"/>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28F2BEBD-CE50-4A44-A039-8591E10BAE2C}"/>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How to fill the Internet Dynamics laboratory</a:t>
            </a:r>
          </a:p>
        </p:txBody>
      </p:sp>
      <p:sp>
        <p:nvSpPr>
          <p:cNvPr id="5" name="">
            <a:extLst xmlns:a="http://schemas.openxmlformats.org/drawingml/2006/main">
              <a:ext uri="{FF2B5EF4-FFF2-40B4-BE49-F238E27FC236}">
                <a16:creationId xmlns:a16="http://schemas.microsoft.com/office/drawing/2014/main" id="{88A4AC2D-7C70-498F-941F-10A4B0C13759}"/>
              </a:ext>
            </a:extLst>
          </p:cNvPr>
          <p:cNvSpPr>
            <a:spLocks xmlns:a="http://schemas.openxmlformats.org/drawingml/2006/main" noGrp="1"/>
          </p:cNvSpPr>
          <p:nvPr/>
        </p:nvSpPr>
        <p:spPr>
          <a:xfrm xmlns:a="http://schemas.openxmlformats.org/drawingml/2006/main">
            <a:off x="685800" y="2038350"/>
            <a:ext cx="723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34155"/>
                </a:solidFill>
              </a:defRPr>
            </a:pPr>
            <a:r>
              <a:rPr sz="1800" b="0">
                <a:solidFill>
                  <a:srgbClr val="334155"/>
                </a:solidFill>
              </a:rPr>
              <a:t>A practical manual for using the model with a real ecommerce example: football club merchandising.</a:t>
            </a:r>
          </a:p>
        </p:txBody>
      </p:sp>
      <p:sp>
        <p:nvSpPr>
          <p:cNvPr id="6" name="">
            <a:extLst xmlns:a="http://schemas.openxmlformats.org/drawingml/2006/main">
              <a:ext uri="{FF2B5EF4-FFF2-40B4-BE49-F238E27FC236}">
                <a16:creationId xmlns:a16="http://schemas.microsoft.com/office/drawing/2014/main" id="{5B5E8C25-05B6-4F8D-881B-0F1940533704}"/>
              </a:ext>
            </a:extLst>
          </p:cNvPr>
          <p:cNvSpPr>
            <a:spLocks xmlns:a="http://schemas.openxmlformats.org/drawingml/2006/main" noGrp="1"/>
          </p:cNvSpPr>
          <p:nvPr/>
        </p:nvSpPr>
        <p:spPr>
          <a:xfrm xmlns:a="http://schemas.openxmlformats.org/drawingml/2006/main">
            <a:off x="7524750" y="1695450"/>
            <a:ext cx="34290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334D630E-9366-4ECE-9B9D-1012B35D7761}"/>
              </a:ext>
            </a:extLst>
          </p:cNvPr>
          <p:cNvSpPr>
            <a:spLocks xmlns:a="http://schemas.openxmlformats.org/drawingml/2006/main" noGrp="1"/>
          </p:cNvSpPr>
          <p:nvPr/>
        </p:nvSpPr>
        <p:spPr>
          <a:xfrm xmlns:a="http://schemas.openxmlformats.org/drawingml/2006/main">
            <a:off x="7886700" y="20764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3B5C"/>
                </a:solidFill>
              </a:defRPr>
            </a:pPr>
            <a:r>
              <a:rPr sz="2100" b="1">
                <a:solidFill>
                  <a:srgbClr val="003B5C"/>
                </a:solidFill>
              </a:rPr>
              <a:t>The rule</a:t>
            </a:r>
          </a:p>
        </p:txBody>
      </p:sp>
      <p:sp>
        <p:nvSpPr>
          <p:cNvPr id="8" name="">
            <a:extLst xmlns:a="http://schemas.openxmlformats.org/drawingml/2006/main">
              <a:ext uri="{FF2B5EF4-FFF2-40B4-BE49-F238E27FC236}">
                <a16:creationId xmlns:a16="http://schemas.microsoft.com/office/drawing/2014/main" id="{4E9DE35B-668D-4D01-A78A-05CB43E91CEB}"/>
              </a:ext>
            </a:extLst>
          </p:cNvPr>
          <p:cNvSpPr>
            <a:spLocks xmlns:a="http://schemas.openxmlformats.org/drawingml/2006/main" noGrp="1"/>
          </p:cNvSpPr>
          <p:nvPr/>
        </p:nvSpPr>
        <p:spPr>
          <a:xfrm xmlns:a="http://schemas.openxmlformats.org/drawingml/2006/main">
            <a:off x="7886700" y="25717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3B5C"/>
                </a:solidFill>
              </a:defRPr>
            </a:pPr>
            <a:r>
              <a:rPr sz="1350" b="1">
                <a:solidFill>
                  <a:srgbClr val="003B5C"/>
                </a:solidFill>
              </a:rPr>
              <a:t>•</a:t>
            </a:r>
          </a:p>
        </p:txBody>
      </p:sp>
      <p:sp>
        <p:nvSpPr>
          <p:cNvPr id="9" name="">
            <a:extLst xmlns:a="http://schemas.openxmlformats.org/drawingml/2006/main">
              <a:ext uri="{FF2B5EF4-FFF2-40B4-BE49-F238E27FC236}">
                <a16:creationId xmlns:a16="http://schemas.microsoft.com/office/drawing/2014/main" id="{5578F943-7093-4621-B07C-DE072605B45E}"/>
              </a:ext>
            </a:extLst>
          </p:cNvPr>
          <p:cNvSpPr>
            <a:spLocks xmlns:a="http://schemas.openxmlformats.org/drawingml/2006/main" noGrp="1"/>
          </p:cNvSpPr>
          <p:nvPr/>
        </p:nvSpPr>
        <p:spPr>
          <a:xfrm xmlns:a="http://schemas.openxmlformats.org/drawingml/2006/main">
            <a:off x="8153400" y="2571750"/>
            <a:ext cx="24003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Enter only values that can be explained.</a:t>
            </a:r>
          </a:p>
        </p:txBody>
      </p:sp>
      <p:sp>
        <p:nvSpPr>
          <p:cNvPr id="10" name="">
            <a:extLst xmlns:a="http://schemas.openxmlformats.org/drawingml/2006/main">
              <a:ext uri="{FF2B5EF4-FFF2-40B4-BE49-F238E27FC236}">
                <a16:creationId xmlns:a16="http://schemas.microsoft.com/office/drawing/2014/main" id="{9E7F238A-F81F-42D1-BD4C-069DE94B79D4}"/>
              </a:ext>
            </a:extLst>
          </p:cNvPr>
          <p:cNvSpPr>
            <a:spLocks xmlns:a="http://schemas.openxmlformats.org/drawingml/2006/main" noGrp="1"/>
          </p:cNvSpPr>
          <p:nvPr/>
        </p:nvSpPr>
        <p:spPr>
          <a:xfrm xmlns:a="http://schemas.openxmlformats.org/drawingml/2006/main">
            <a:off x="7886700" y="300037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3B5C"/>
                </a:solidFill>
              </a:defRPr>
            </a:pPr>
            <a:r>
              <a:rPr sz="1350" b="1">
                <a:solidFill>
                  <a:srgbClr val="003B5C"/>
                </a:solidFill>
              </a:rPr>
              <a:t>•</a:t>
            </a:r>
          </a:p>
        </p:txBody>
      </p:sp>
      <p:sp>
        <p:nvSpPr>
          <p:cNvPr id="11" name="">
            <a:extLst xmlns:a="http://schemas.openxmlformats.org/drawingml/2006/main">
              <a:ext uri="{FF2B5EF4-FFF2-40B4-BE49-F238E27FC236}">
                <a16:creationId xmlns:a16="http://schemas.microsoft.com/office/drawing/2014/main" id="{8A8AAEA7-9D50-409B-AEA9-C0C294B3A431}"/>
              </a:ext>
            </a:extLst>
          </p:cNvPr>
          <p:cNvSpPr>
            <a:spLocks xmlns:a="http://schemas.openxmlformats.org/drawingml/2006/main" noGrp="1"/>
          </p:cNvSpPr>
          <p:nvPr/>
        </p:nvSpPr>
        <p:spPr>
          <a:xfrm xmlns:a="http://schemas.openxmlformats.org/drawingml/2006/main">
            <a:off x="8153400" y="3000375"/>
            <a:ext cx="24003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Use current observed values, not wishes.</a:t>
            </a:r>
          </a:p>
        </p:txBody>
      </p:sp>
      <p:sp>
        <p:nvSpPr>
          <p:cNvPr id="12" name="">
            <a:extLst xmlns:a="http://schemas.openxmlformats.org/drawingml/2006/main">
              <a:ext uri="{FF2B5EF4-FFF2-40B4-BE49-F238E27FC236}">
                <a16:creationId xmlns:a16="http://schemas.microsoft.com/office/drawing/2014/main" id="{991F73B1-FF14-40B8-B380-9F9C8A392EE4}"/>
              </a:ext>
            </a:extLst>
          </p:cNvPr>
          <p:cNvSpPr>
            <a:spLocks xmlns:a="http://schemas.openxmlformats.org/drawingml/2006/main" noGrp="1"/>
          </p:cNvSpPr>
          <p:nvPr/>
        </p:nvSpPr>
        <p:spPr>
          <a:xfrm xmlns:a="http://schemas.openxmlformats.org/drawingml/2006/main">
            <a:off x="7886700" y="34290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3B5C"/>
                </a:solidFill>
              </a:defRPr>
            </a:pPr>
            <a:r>
              <a:rPr sz="1350" b="1">
                <a:solidFill>
                  <a:srgbClr val="003B5C"/>
                </a:solidFill>
              </a:rPr>
              <a:t>•</a:t>
            </a:r>
          </a:p>
        </p:txBody>
      </p:sp>
      <p:sp>
        <p:nvSpPr>
          <p:cNvPr id="13" name="">
            <a:extLst xmlns:a="http://schemas.openxmlformats.org/drawingml/2006/main">
              <a:ext uri="{FF2B5EF4-FFF2-40B4-BE49-F238E27FC236}">
                <a16:creationId xmlns:a16="http://schemas.microsoft.com/office/drawing/2014/main" id="{3866EA6D-5D75-4D8B-A8B1-CE0B82BA9F7C}"/>
              </a:ext>
            </a:extLst>
          </p:cNvPr>
          <p:cNvSpPr>
            <a:spLocks xmlns:a="http://schemas.openxmlformats.org/drawingml/2006/main" noGrp="1"/>
          </p:cNvSpPr>
          <p:nvPr/>
        </p:nvSpPr>
        <p:spPr>
          <a:xfrm xmlns:a="http://schemas.openxmlformats.org/drawingml/2006/main">
            <a:off x="8153400" y="3429000"/>
            <a:ext cx="24003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Set the arrival maximum as a realistic target.</a:t>
            </a:r>
          </a:p>
        </p:txBody>
      </p:sp>
      <p:sp>
        <p:nvSpPr>
          <p:cNvPr id="14" name="">
            <a:extLst xmlns:a="http://schemas.openxmlformats.org/drawingml/2006/main">
              <a:ext uri="{FF2B5EF4-FFF2-40B4-BE49-F238E27FC236}">
                <a16:creationId xmlns:a16="http://schemas.microsoft.com/office/drawing/2014/main" id="{99AD6CF9-8FDD-4787-A8C6-4A5BE075F0AB}"/>
              </a:ext>
            </a:extLst>
          </p:cNvPr>
          <p:cNvSpPr>
            <a:spLocks xmlns:a="http://schemas.openxmlformats.org/drawingml/2006/main" noGrp="1"/>
          </p:cNvSpPr>
          <p:nvPr/>
        </p:nvSpPr>
        <p:spPr>
          <a:xfrm xmlns:a="http://schemas.openxmlformats.org/drawingml/2006/main">
            <a:off x="7886700" y="3857625"/>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3B5C"/>
                </a:solidFill>
              </a:defRPr>
            </a:pPr>
            <a:r>
              <a:rPr sz="1350" b="1">
                <a:solidFill>
                  <a:srgbClr val="003B5C"/>
                </a:solidFill>
              </a:rPr>
              <a:t>•</a:t>
            </a:r>
          </a:p>
        </p:txBody>
      </p:sp>
      <p:sp>
        <p:nvSpPr>
          <p:cNvPr id="15" name="">
            <a:extLst xmlns:a="http://schemas.openxmlformats.org/drawingml/2006/main">
              <a:ext uri="{FF2B5EF4-FFF2-40B4-BE49-F238E27FC236}">
                <a16:creationId xmlns:a16="http://schemas.microsoft.com/office/drawing/2014/main" id="{1BFE5A62-DCDB-4A7C-8CDB-36B240A66453}"/>
              </a:ext>
            </a:extLst>
          </p:cNvPr>
          <p:cNvSpPr>
            <a:spLocks xmlns:a="http://schemas.openxmlformats.org/drawingml/2006/main" noGrp="1"/>
          </p:cNvSpPr>
          <p:nvPr/>
        </p:nvSpPr>
        <p:spPr>
          <a:xfrm xmlns:a="http://schemas.openxmlformats.org/drawingml/2006/main">
            <a:off x="8153400" y="3857625"/>
            <a:ext cx="24003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Let the equation translate data into direction.</a:t>
            </a:r>
          </a:p>
        </p:txBody>
      </p:sp>
      <p:sp>
        <p:nvSpPr>
          <p:cNvPr id="16" name="">
            <a:extLst xmlns:a="http://schemas.openxmlformats.org/drawingml/2006/main">
              <a:ext uri="{FF2B5EF4-FFF2-40B4-BE49-F238E27FC236}">
                <a16:creationId xmlns:a16="http://schemas.microsoft.com/office/drawing/2014/main" id="{3B78D52D-5ED4-43C5-9EA7-E0917AC419EE}"/>
              </a:ext>
            </a:extLst>
          </p:cNvPr>
          <p:cNvSpPr>
            <a:spLocks xmlns:a="http://schemas.openxmlformats.org/drawingml/2006/main" noGrp="1"/>
          </p:cNvSpPr>
          <p:nvPr/>
        </p:nvSpPr>
        <p:spPr>
          <a:xfrm xmlns:a="http://schemas.openxmlformats.org/drawingml/2006/main">
            <a:off x="685800" y="57531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5070B"/>
                </a:solidFill>
              </a:defRPr>
            </a:pPr>
            <a:r>
              <a:rPr sz="1500" b="1">
                <a:solidFill>
                  <a:srgbClr val="05070B"/>
                </a:solidFill>
              </a:rPr>
              <a:t>Deliverables: a manual deck and a JSON example ready to open in the tool.</a:t>
            </a:r>
          </a:p>
        </p:txBody>
      </p:sp>
    </p:spTree>
    <p:extLst>
      <p:ext uri="{BB962C8B-B14F-4D97-AF65-F5344CB8AC3E}">
        <p14:creationId xmlns:p14="http://schemas.microsoft.com/office/powerpoint/2010/main" val="386310863"/>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6DF89E-E55B-40FD-BBC3-A7DBCF25A699}"/>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6FE41CB1-3B43-43B4-8238-6DBE67FAB501}"/>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3C8675F4-56B2-429E-B2C2-1E2D964D2B3A}"/>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75FB67DA-F832-4CC0-A477-A049DF39719E}"/>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The model asks for signals, not perfect truth</a:t>
            </a:r>
          </a:p>
        </p:txBody>
      </p:sp>
      <p:sp>
        <p:nvSpPr>
          <p:cNvPr id="5" name="">
            <a:extLst xmlns:a="http://schemas.openxmlformats.org/drawingml/2006/main">
              <a:ext uri="{FF2B5EF4-FFF2-40B4-BE49-F238E27FC236}">
                <a16:creationId xmlns:a16="http://schemas.microsoft.com/office/drawing/2014/main" id="{F57EC637-D49E-43FB-A5D6-2B8FAC48F6E7}"/>
              </a:ext>
            </a:extLst>
          </p:cNvPr>
          <p:cNvSpPr>
            <a:spLocks xmlns:a="http://schemas.openxmlformats.org/drawingml/2006/main" noGrp="1"/>
          </p:cNvSpPr>
          <p:nvPr/>
        </p:nvSpPr>
        <p:spPr>
          <a:xfrm xmlns:a="http://schemas.openxmlformats.org/drawingml/2006/main">
            <a:off x="857250" y="21907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17D70CAB-B027-477D-B738-B1D22CAD8FB7}"/>
              </a:ext>
            </a:extLst>
          </p:cNvPr>
          <p:cNvSpPr>
            <a:spLocks xmlns:a="http://schemas.openxmlformats.org/drawingml/2006/main" noGrp="1"/>
          </p:cNvSpPr>
          <p:nvPr/>
        </p:nvSpPr>
        <p:spPr>
          <a:xfrm xmlns:a="http://schemas.openxmlformats.org/drawingml/2006/main">
            <a:off x="1123950" y="2190750"/>
            <a:ext cx="601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Users represent the audience, demand and relationship side of the system.</a:t>
            </a:r>
          </a:p>
        </p:txBody>
      </p:sp>
      <p:sp>
        <p:nvSpPr>
          <p:cNvPr id="7" name="">
            <a:extLst xmlns:a="http://schemas.openxmlformats.org/drawingml/2006/main">
              <a:ext uri="{FF2B5EF4-FFF2-40B4-BE49-F238E27FC236}">
                <a16:creationId xmlns:a16="http://schemas.microsoft.com/office/drawing/2014/main" id="{F1093BE7-9075-4894-AA45-1436D79676B0}"/>
              </a:ext>
            </a:extLst>
          </p:cNvPr>
          <p:cNvSpPr>
            <a:spLocks xmlns:a="http://schemas.openxmlformats.org/drawingml/2006/main" noGrp="1"/>
          </p:cNvSpPr>
          <p:nvPr/>
        </p:nvSpPr>
        <p:spPr>
          <a:xfrm xmlns:a="http://schemas.openxmlformats.org/drawingml/2006/main">
            <a:off x="857250" y="28003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0204E983-6A89-49E6-AA68-0AFC6A15917A}"/>
              </a:ext>
            </a:extLst>
          </p:cNvPr>
          <p:cNvSpPr>
            <a:spLocks xmlns:a="http://schemas.openxmlformats.org/drawingml/2006/main" noGrp="1"/>
          </p:cNvSpPr>
          <p:nvPr/>
        </p:nvSpPr>
        <p:spPr>
          <a:xfrm xmlns:a="http://schemas.openxmlformats.org/drawingml/2006/main">
            <a:off x="1123950" y="2800350"/>
            <a:ext cx="601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Content represents the offer, message, promise, campaign and brand communication.</a:t>
            </a:r>
          </a:p>
        </p:txBody>
      </p:sp>
      <p:sp>
        <p:nvSpPr>
          <p:cNvPr id="9" name="">
            <a:extLst xmlns:a="http://schemas.openxmlformats.org/drawingml/2006/main">
              <a:ext uri="{FF2B5EF4-FFF2-40B4-BE49-F238E27FC236}">
                <a16:creationId xmlns:a16="http://schemas.microsoft.com/office/drawing/2014/main" id="{CC797998-8344-4CCA-A60F-A2E11D4AB470}"/>
              </a:ext>
            </a:extLst>
          </p:cNvPr>
          <p:cNvSpPr>
            <a:spLocks xmlns:a="http://schemas.openxmlformats.org/drawingml/2006/main" noGrp="1"/>
          </p:cNvSpPr>
          <p:nvPr/>
        </p:nvSpPr>
        <p:spPr>
          <a:xfrm xmlns:a="http://schemas.openxmlformats.org/drawingml/2006/main">
            <a:off x="8572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AB6898E5-B1B4-4A5A-A6F0-94DFFD42DA82}"/>
              </a:ext>
            </a:extLst>
          </p:cNvPr>
          <p:cNvSpPr>
            <a:spLocks xmlns:a="http://schemas.openxmlformats.org/drawingml/2006/main" noGrp="1"/>
          </p:cNvSpPr>
          <p:nvPr/>
        </p:nvSpPr>
        <p:spPr>
          <a:xfrm xmlns:a="http://schemas.openxmlformats.org/drawingml/2006/main">
            <a:off x="1123950" y="3409950"/>
            <a:ext cx="601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Infrastructure represents channels, systems, data capture, workflow AI and technical capacity.</a:t>
            </a:r>
          </a:p>
        </p:txBody>
      </p:sp>
      <p:sp>
        <p:nvSpPr>
          <p:cNvPr id="11" name="">
            <a:extLst xmlns:a="http://schemas.openxmlformats.org/drawingml/2006/main">
              <a:ext uri="{FF2B5EF4-FFF2-40B4-BE49-F238E27FC236}">
                <a16:creationId xmlns:a16="http://schemas.microsoft.com/office/drawing/2014/main" id="{7DEF3A39-53AA-4C37-A148-00D3198DD366}"/>
              </a:ext>
            </a:extLst>
          </p:cNvPr>
          <p:cNvSpPr>
            <a:spLocks xmlns:a="http://schemas.openxmlformats.org/drawingml/2006/main" noGrp="1"/>
          </p:cNvSpPr>
          <p:nvPr/>
        </p:nvSpPr>
        <p:spPr>
          <a:xfrm xmlns:a="http://schemas.openxmlformats.org/drawingml/2006/main">
            <a:off x="857250" y="40195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87C8D3A8-84AF-422B-AADC-9B676132459F}"/>
              </a:ext>
            </a:extLst>
          </p:cNvPr>
          <p:cNvSpPr>
            <a:spLocks xmlns:a="http://schemas.openxmlformats.org/drawingml/2006/main" noGrp="1"/>
          </p:cNvSpPr>
          <p:nvPr/>
        </p:nvSpPr>
        <p:spPr>
          <a:xfrm xmlns:a="http://schemas.openxmlformats.org/drawingml/2006/main">
            <a:off x="1123950" y="4019550"/>
            <a:ext cx="601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External variables explain why the same system can accelerate or slow down in the real world.</a:t>
            </a:r>
          </a:p>
        </p:txBody>
      </p:sp>
      <p:sp>
        <p:nvSpPr>
          <p:cNvPr id="13" name="">
            <a:extLst xmlns:a="http://schemas.openxmlformats.org/drawingml/2006/main">
              <a:ext uri="{FF2B5EF4-FFF2-40B4-BE49-F238E27FC236}">
                <a16:creationId xmlns:a16="http://schemas.microsoft.com/office/drawing/2014/main" id="{EA63F4FB-9D13-4607-A8A5-3284115D7EE3}"/>
              </a:ext>
            </a:extLst>
          </p:cNvPr>
          <p:cNvSpPr>
            <a:spLocks xmlns:a="http://schemas.openxmlformats.org/drawingml/2006/main" noGrp="1"/>
          </p:cNvSpPr>
          <p:nvPr/>
        </p:nvSpPr>
        <p:spPr>
          <a:xfrm xmlns:a="http://schemas.openxmlformats.org/drawingml/2006/main">
            <a:off x="7810500" y="2095500"/>
            <a:ext cx="3048000" cy="2095500"/>
          </a:xfrm>
          <a:prstGeom xmlns:a="http://schemas.openxmlformats.org/drawingml/2006/main" prst="roundRect">
            <a:avLst>
              <a:gd name="adj" fmla="val 3636"/>
            </a:avLst>
          </a:prstGeom>
          <a:solidFill xmlns:a="http://schemas.openxmlformats.org/drawingml/2006/main">
            <a:srgbClr val="D8ECF8"/>
          </a:solidFill>
          <a:ln xmlns:a="http://schemas.openxmlformats.org/drawingml/2006/main" w="9525">
            <a:solidFill>
              <a:srgbClr val="003B5C"/>
            </a:solidFill>
            <a:prstDash val="solid"/>
          </a:ln>
        </p:spPr>
      </p:sp>
      <p:sp>
        <p:nvSpPr>
          <p:cNvPr id="14" name="">
            <a:extLst xmlns:a="http://schemas.openxmlformats.org/drawingml/2006/main">
              <a:ext uri="{FF2B5EF4-FFF2-40B4-BE49-F238E27FC236}">
                <a16:creationId xmlns:a16="http://schemas.microsoft.com/office/drawing/2014/main" id="{C240140F-896E-4E74-9654-2EA938485890}"/>
              </a:ext>
            </a:extLst>
          </p:cNvPr>
          <p:cNvSpPr>
            <a:spLocks xmlns:a="http://schemas.openxmlformats.org/drawingml/2006/main" noGrp="1"/>
          </p:cNvSpPr>
          <p:nvPr/>
        </p:nvSpPr>
        <p:spPr>
          <a:xfrm xmlns:a="http://schemas.openxmlformats.org/drawingml/2006/main">
            <a:off x="8096250" y="2428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Simple operating idea</a:t>
            </a:r>
          </a:p>
        </p:txBody>
      </p:sp>
      <p:sp>
        <p:nvSpPr>
          <p:cNvPr id="15" name="">
            <a:extLst xmlns:a="http://schemas.openxmlformats.org/drawingml/2006/main">
              <a:ext uri="{FF2B5EF4-FFF2-40B4-BE49-F238E27FC236}">
                <a16:creationId xmlns:a16="http://schemas.microsoft.com/office/drawing/2014/main" id="{9FFB529F-B5AC-4163-B821-3C2164BB1B74}"/>
              </a:ext>
            </a:extLst>
          </p:cNvPr>
          <p:cNvSpPr>
            <a:spLocks xmlns:a="http://schemas.openxmlformats.org/drawingml/2006/main" noGrp="1"/>
          </p:cNvSpPr>
          <p:nvPr/>
        </p:nvSpPr>
        <p:spPr>
          <a:xfrm xmlns:a="http://schemas.openxmlformats.org/drawingml/2006/main">
            <a:off x="8096250" y="295275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If a value helps explain how communication reaches, persuades, serves or learns from the buyer persona, it belongs in the model.</a:t>
            </a:r>
          </a:p>
        </p:txBody>
      </p:sp>
    </p:spTree>
    <p:extLst>
      <p:ext uri="{BB962C8B-B14F-4D97-AF65-F5344CB8AC3E}">
        <p14:creationId xmlns:p14="http://schemas.microsoft.com/office/powerpoint/2010/main" val="1407571671"/>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644349D-D536-41B4-B247-B1B2C6F957DC}"/>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B1BC1A12-3D06-42D6-9358-6A03744D4BCB}"/>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2CB659D9-0425-4643-9125-7F8E89B7165E}"/>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2DEEA135-A3B7-4FD4-A405-C55791C2264F}"/>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Use this filling sequence every time</a:t>
            </a:r>
          </a:p>
        </p:txBody>
      </p:sp>
      <p:sp>
        <p:nvSpPr>
          <p:cNvPr id="5" name="">
            <a:extLst xmlns:a="http://schemas.openxmlformats.org/drawingml/2006/main">
              <a:ext uri="{FF2B5EF4-FFF2-40B4-BE49-F238E27FC236}">
                <a16:creationId xmlns:a16="http://schemas.microsoft.com/office/drawing/2014/main" id="{7FE2D16F-D4BC-413B-90BB-FF1B9F47F277}"/>
              </a:ext>
            </a:extLst>
          </p:cNvPr>
          <p:cNvSpPr>
            <a:spLocks xmlns:a="http://schemas.openxmlformats.org/drawingml/2006/main" noGrp="1"/>
          </p:cNvSpPr>
          <p:nvPr/>
        </p:nvSpPr>
        <p:spPr>
          <a:xfrm xmlns:a="http://schemas.openxmlformats.org/drawingml/2006/main">
            <a:off x="685800" y="21907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DE8"/>
            </a:solidFill>
            <a:prstDash val="solid"/>
          </a:ln>
        </p:spPr>
      </p:sp>
      <p:sp>
        <p:nvSpPr>
          <p:cNvPr id="6" name="">
            <a:extLst xmlns:a="http://schemas.openxmlformats.org/drawingml/2006/main">
              <a:ext uri="{FF2B5EF4-FFF2-40B4-BE49-F238E27FC236}">
                <a16:creationId xmlns:a16="http://schemas.microsoft.com/office/drawing/2014/main" id="{55681736-4097-4FDC-9BDA-9DDC23105404}"/>
              </a:ext>
            </a:extLst>
          </p:cNvPr>
          <p:cNvSpPr>
            <a:spLocks xmlns:a="http://schemas.openxmlformats.org/drawingml/2006/main" noGrp="1"/>
          </p:cNvSpPr>
          <p:nvPr/>
        </p:nvSpPr>
        <p:spPr>
          <a:xfrm xmlns:a="http://schemas.openxmlformats.org/drawingml/2006/main">
            <a:off x="819150" y="2362200"/>
            <a:ext cx="419100" cy="419100"/>
          </a:xfrm>
          <a:prstGeom xmlns:a="http://schemas.openxmlformats.org/drawingml/2006/main" prst="roundRect">
            <a:avLst>
              <a:gd name="adj" fmla="val 18182"/>
            </a:avLst>
          </a:prstGeom>
          <a:solidFill xmlns:a="http://schemas.openxmlformats.org/drawingml/2006/main">
            <a:srgbClr val="003B5C"/>
          </a:solidFill>
          <a:ln xmlns:a="http://schemas.openxmlformats.org/drawingml/2006/main" w="9525">
            <a:solidFill>
              <a:srgbClr val="003B5C"/>
            </a:solidFill>
            <a:prstDash val="solid"/>
          </a:ln>
        </p:spPr>
      </p:sp>
      <p:sp>
        <p:nvSpPr>
          <p:cNvPr id="7" name="">
            <a:extLst xmlns:a="http://schemas.openxmlformats.org/drawingml/2006/main">
              <a:ext uri="{FF2B5EF4-FFF2-40B4-BE49-F238E27FC236}">
                <a16:creationId xmlns:a16="http://schemas.microsoft.com/office/drawing/2014/main" id="{0DFB8530-0C1B-447C-9709-4503B310ED22}"/>
              </a:ext>
            </a:extLst>
          </p:cNvPr>
          <p:cNvSpPr>
            <a:spLocks xmlns:a="http://schemas.openxmlformats.org/drawingml/2006/main" noGrp="1"/>
          </p:cNvSpPr>
          <p:nvPr/>
        </p:nvSpPr>
        <p:spPr>
          <a:xfrm xmlns:a="http://schemas.openxmlformats.org/drawingml/2006/main">
            <a:off x="942975" y="24574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8" name="">
            <a:extLst xmlns:a="http://schemas.openxmlformats.org/drawingml/2006/main">
              <a:ext uri="{FF2B5EF4-FFF2-40B4-BE49-F238E27FC236}">
                <a16:creationId xmlns:a16="http://schemas.microsoft.com/office/drawing/2014/main" id="{73652DFC-D255-436E-AEF4-41920FC670E0}"/>
              </a:ext>
            </a:extLst>
          </p:cNvPr>
          <p:cNvSpPr>
            <a:spLocks xmlns:a="http://schemas.openxmlformats.org/drawingml/2006/main" noGrp="1"/>
          </p:cNvSpPr>
          <p:nvPr/>
        </p:nvSpPr>
        <p:spPr>
          <a:xfrm xmlns:a="http://schemas.openxmlformats.org/drawingml/2006/main">
            <a:off x="1371600" y="236220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5070B"/>
                </a:solidFill>
              </a:defRPr>
            </a:pPr>
            <a:r>
              <a:rPr sz="1575" b="1">
                <a:solidFill>
                  <a:srgbClr val="05070B"/>
                </a:solidFill>
              </a:rPr>
              <a:t>Choose the case</a:t>
            </a:r>
          </a:p>
        </p:txBody>
      </p:sp>
      <p:sp>
        <p:nvSpPr>
          <p:cNvPr id="9" name="">
            <a:extLst xmlns:a="http://schemas.openxmlformats.org/drawingml/2006/main">
              <a:ext uri="{FF2B5EF4-FFF2-40B4-BE49-F238E27FC236}">
                <a16:creationId xmlns:a16="http://schemas.microsoft.com/office/drawing/2014/main" id="{71EB2BF8-9E7D-46C9-9D2A-9BEFFFA76BD7}"/>
              </a:ext>
            </a:extLst>
          </p:cNvPr>
          <p:cNvSpPr>
            <a:spLocks xmlns:a="http://schemas.openxmlformats.org/drawingml/2006/main" noGrp="1"/>
          </p:cNvSpPr>
          <p:nvPr/>
        </p:nvSpPr>
        <p:spPr>
          <a:xfrm xmlns:a="http://schemas.openxmlformats.org/drawingml/2006/main">
            <a:off x="1371600" y="2686050"/>
            <a:ext cx="2362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Name the project as a real business situation, not as a generic exercise.</a:t>
            </a:r>
          </a:p>
        </p:txBody>
      </p:sp>
      <p:sp>
        <p:nvSpPr>
          <p:cNvPr id="10" name="">
            <a:extLst xmlns:a="http://schemas.openxmlformats.org/drawingml/2006/main">
              <a:ext uri="{FF2B5EF4-FFF2-40B4-BE49-F238E27FC236}">
                <a16:creationId xmlns:a16="http://schemas.microsoft.com/office/drawing/2014/main" id="{29D6DE38-114E-42AD-AE70-37748E94A54D}"/>
              </a:ext>
            </a:extLst>
          </p:cNvPr>
          <p:cNvSpPr>
            <a:spLocks xmlns:a="http://schemas.openxmlformats.org/drawingml/2006/main" noGrp="1"/>
          </p:cNvSpPr>
          <p:nvPr/>
        </p:nvSpPr>
        <p:spPr>
          <a:xfrm xmlns:a="http://schemas.openxmlformats.org/drawingml/2006/main">
            <a:off x="4476750" y="21907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DE8"/>
            </a:solidFill>
            <a:prstDash val="solid"/>
          </a:ln>
        </p:spPr>
      </p:sp>
      <p:sp>
        <p:nvSpPr>
          <p:cNvPr id="11" name="">
            <a:extLst xmlns:a="http://schemas.openxmlformats.org/drawingml/2006/main">
              <a:ext uri="{FF2B5EF4-FFF2-40B4-BE49-F238E27FC236}">
                <a16:creationId xmlns:a16="http://schemas.microsoft.com/office/drawing/2014/main" id="{0B1CB7FB-D603-493A-AF3E-C81504ED930A}"/>
              </a:ext>
            </a:extLst>
          </p:cNvPr>
          <p:cNvSpPr>
            <a:spLocks xmlns:a="http://schemas.openxmlformats.org/drawingml/2006/main" noGrp="1"/>
          </p:cNvSpPr>
          <p:nvPr/>
        </p:nvSpPr>
        <p:spPr>
          <a:xfrm xmlns:a="http://schemas.openxmlformats.org/drawingml/2006/main">
            <a:off x="4610100" y="2362200"/>
            <a:ext cx="419100" cy="419100"/>
          </a:xfrm>
          <a:prstGeom xmlns:a="http://schemas.openxmlformats.org/drawingml/2006/main" prst="roundRect">
            <a:avLst>
              <a:gd name="adj" fmla="val 18182"/>
            </a:avLst>
          </a:prstGeom>
          <a:solidFill xmlns:a="http://schemas.openxmlformats.org/drawingml/2006/main">
            <a:srgbClr val="003B5C"/>
          </a:solidFill>
          <a:ln xmlns:a="http://schemas.openxmlformats.org/drawingml/2006/main" w="9525">
            <a:solidFill>
              <a:srgbClr val="003B5C"/>
            </a:solidFill>
            <a:prstDash val="solid"/>
          </a:ln>
        </p:spPr>
      </p:sp>
      <p:sp>
        <p:nvSpPr>
          <p:cNvPr id="12" name="">
            <a:extLst xmlns:a="http://schemas.openxmlformats.org/drawingml/2006/main">
              <a:ext uri="{FF2B5EF4-FFF2-40B4-BE49-F238E27FC236}">
                <a16:creationId xmlns:a16="http://schemas.microsoft.com/office/drawing/2014/main" id="{8DF3CBC2-F886-4DA6-B66D-F2BF3BF91271}"/>
              </a:ext>
            </a:extLst>
          </p:cNvPr>
          <p:cNvSpPr>
            <a:spLocks xmlns:a="http://schemas.openxmlformats.org/drawingml/2006/main" noGrp="1"/>
          </p:cNvSpPr>
          <p:nvPr/>
        </p:nvSpPr>
        <p:spPr>
          <a:xfrm xmlns:a="http://schemas.openxmlformats.org/drawingml/2006/main">
            <a:off x="4733925" y="24574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3" name="">
            <a:extLst xmlns:a="http://schemas.openxmlformats.org/drawingml/2006/main">
              <a:ext uri="{FF2B5EF4-FFF2-40B4-BE49-F238E27FC236}">
                <a16:creationId xmlns:a16="http://schemas.microsoft.com/office/drawing/2014/main" id="{6F365295-06DB-46EA-B84D-B28D2FC498F5}"/>
              </a:ext>
            </a:extLst>
          </p:cNvPr>
          <p:cNvSpPr>
            <a:spLocks xmlns:a="http://schemas.openxmlformats.org/drawingml/2006/main" noGrp="1"/>
          </p:cNvSpPr>
          <p:nvPr/>
        </p:nvSpPr>
        <p:spPr>
          <a:xfrm xmlns:a="http://schemas.openxmlformats.org/drawingml/2006/main">
            <a:off x="5162550" y="236220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5070B"/>
                </a:solidFill>
              </a:defRPr>
            </a:pPr>
            <a:r>
              <a:rPr sz="1575" b="1">
                <a:solidFill>
                  <a:srgbClr val="05070B"/>
                </a:solidFill>
              </a:rPr>
              <a:t>Add the signals</a:t>
            </a:r>
          </a:p>
        </p:txBody>
      </p:sp>
      <p:sp>
        <p:nvSpPr>
          <p:cNvPr id="14" name="">
            <a:extLst xmlns:a="http://schemas.openxmlformats.org/drawingml/2006/main">
              <a:ext uri="{FF2B5EF4-FFF2-40B4-BE49-F238E27FC236}">
                <a16:creationId xmlns:a16="http://schemas.microsoft.com/office/drawing/2014/main" id="{D7E97D7B-B7DC-481A-A73A-8372CD6B083D}"/>
              </a:ext>
            </a:extLst>
          </p:cNvPr>
          <p:cNvSpPr>
            <a:spLocks xmlns:a="http://schemas.openxmlformats.org/drawingml/2006/main" noGrp="1"/>
          </p:cNvSpPr>
          <p:nvPr/>
        </p:nvSpPr>
        <p:spPr>
          <a:xfrm xmlns:a="http://schemas.openxmlformats.org/drawingml/2006/main">
            <a:off x="5162550" y="2686050"/>
            <a:ext cx="2362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Select users, content and infrastructure nodes that truly exist in the case.</a:t>
            </a:r>
          </a:p>
        </p:txBody>
      </p:sp>
      <p:sp>
        <p:nvSpPr>
          <p:cNvPr id="15" name="">
            <a:extLst xmlns:a="http://schemas.openxmlformats.org/drawingml/2006/main">
              <a:ext uri="{FF2B5EF4-FFF2-40B4-BE49-F238E27FC236}">
                <a16:creationId xmlns:a16="http://schemas.microsoft.com/office/drawing/2014/main" id="{AF7CDB78-22BD-49F8-A5FE-26B9BA8E6DCF}"/>
              </a:ext>
            </a:extLst>
          </p:cNvPr>
          <p:cNvSpPr>
            <a:spLocks xmlns:a="http://schemas.openxmlformats.org/drawingml/2006/main" noGrp="1"/>
          </p:cNvSpPr>
          <p:nvPr/>
        </p:nvSpPr>
        <p:spPr>
          <a:xfrm xmlns:a="http://schemas.openxmlformats.org/drawingml/2006/main">
            <a:off x="8267700" y="21907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DE8"/>
            </a:solidFill>
            <a:prstDash val="solid"/>
          </a:ln>
        </p:spPr>
      </p:sp>
      <p:sp>
        <p:nvSpPr>
          <p:cNvPr id="16" name="">
            <a:extLst xmlns:a="http://schemas.openxmlformats.org/drawingml/2006/main">
              <a:ext uri="{FF2B5EF4-FFF2-40B4-BE49-F238E27FC236}">
                <a16:creationId xmlns:a16="http://schemas.microsoft.com/office/drawing/2014/main" id="{92B73EF7-A130-4756-93B1-04D05E9EECF1}"/>
              </a:ext>
            </a:extLst>
          </p:cNvPr>
          <p:cNvSpPr>
            <a:spLocks xmlns:a="http://schemas.openxmlformats.org/drawingml/2006/main" noGrp="1"/>
          </p:cNvSpPr>
          <p:nvPr/>
        </p:nvSpPr>
        <p:spPr>
          <a:xfrm xmlns:a="http://schemas.openxmlformats.org/drawingml/2006/main">
            <a:off x="8401050" y="2362200"/>
            <a:ext cx="419100" cy="419100"/>
          </a:xfrm>
          <a:prstGeom xmlns:a="http://schemas.openxmlformats.org/drawingml/2006/main" prst="roundRect">
            <a:avLst>
              <a:gd name="adj" fmla="val 18182"/>
            </a:avLst>
          </a:prstGeom>
          <a:solidFill xmlns:a="http://schemas.openxmlformats.org/drawingml/2006/main">
            <a:srgbClr val="003B5C"/>
          </a:solidFill>
          <a:ln xmlns:a="http://schemas.openxmlformats.org/drawingml/2006/main" w="9525">
            <a:solidFill>
              <a:srgbClr val="003B5C"/>
            </a:solidFill>
            <a:prstDash val="solid"/>
          </a:ln>
        </p:spPr>
      </p:sp>
      <p:sp>
        <p:nvSpPr>
          <p:cNvPr id="17" name="">
            <a:extLst xmlns:a="http://schemas.openxmlformats.org/drawingml/2006/main">
              <a:ext uri="{FF2B5EF4-FFF2-40B4-BE49-F238E27FC236}">
                <a16:creationId xmlns:a16="http://schemas.microsoft.com/office/drawing/2014/main" id="{085C5AF3-1FD3-4048-BB83-C516503768C3}"/>
              </a:ext>
            </a:extLst>
          </p:cNvPr>
          <p:cNvSpPr>
            <a:spLocks xmlns:a="http://schemas.openxmlformats.org/drawingml/2006/main" noGrp="1"/>
          </p:cNvSpPr>
          <p:nvPr/>
        </p:nvSpPr>
        <p:spPr>
          <a:xfrm xmlns:a="http://schemas.openxmlformats.org/drawingml/2006/main">
            <a:off x="8524875" y="24574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18" name="">
            <a:extLst xmlns:a="http://schemas.openxmlformats.org/drawingml/2006/main">
              <a:ext uri="{FF2B5EF4-FFF2-40B4-BE49-F238E27FC236}">
                <a16:creationId xmlns:a16="http://schemas.microsoft.com/office/drawing/2014/main" id="{2CCE64B1-F562-417D-8A22-8CAD23F2A640}"/>
              </a:ext>
            </a:extLst>
          </p:cNvPr>
          <p:cNvSpPr>
            <a:spLocks xmlns:a="http://schemas.openxmlformats.org/drawingml/2006/main" noGrp="1"/>
          </p:cNvSpPr>
          <p:nvPr/>
        </p:nvSpPr>
        <p:spPr>
          <a:xfrm xmlns:a="http://schemas.openxmlformats.org/drawingml/2006/main">
            <a:off x="8953500" y="236220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5070B"/>
                </a:solidFill>
              </a:defRPr>
            </a:pPr>
            <a:r>
              <a:rPr sz="1575" b="1">
                <a:solidFill>
                  <a:srgbClr val="05070B"/>
                </a:solidFill>
              </a:rPr>
              <a:t>Enter quantities</a:t>
            </a:r>
          </a:p>
        </p:txBody>
      </p:sp>
      <p:sp>
        <p:nvSpPr>
          <p:cNvPr id="19" name="">
            <a:extLst xmlns:a="http://schemas.openxmlformats.org/drawingml/2006/main">
              <a:ext uri="{FF2B5EF4-FFF2-40B4-BE49-F238E27FC236}">
                <a16:creationId xmlns:a16="http://schemas.microsoft.com/office/drawing/2014/main" id="{6E686DA6-9AD4-4961-B36C-A15A6E38355F}"/>
              </a:ext>
            </a:extLst>
          </p:cNvPr>
          <p:cNvSpPr>
            <a:spLocks xmlns:a="http://schemas.openxmlformats.org/drawingml/2006/main" noGrp="1"/>
          </p:cNvSpPr>
          <p:nvPr/>
        </p:nvSpPr>
        <p:spPr>
          <a:xfrm xmlns:a="http://schemas.openxmlformats.org/drawingml/2006/main">
            <a:off x="8953500" y="2686050"/>
            <a:ext cx="2362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Add observed values and a reasonable arrival maximum for each node.</a:t>
            </a:r>
          </a:p>
        </p:txBody>
      </p:sp>
      <p:sp>
        <p:nvSpPr>
          <p:cNvPr id="20" name="">
            <a:extLst xmlns:a="http://schemas.openxmlformats.org/drawingml/2006/main">
              <a:ext uri="{FF2B5EF4-FFF2-40B4-BE49-F238E27FC236}">
                <a16:creationId xmlns:a16="http://schemas.microsoft.com/office/drawing/2014/main" id="{A33A1E1F-8090-41B3-A676-AFF186210E25}"/>
              </a:ext>
            </a:extLst>
          </p:cNvPr>
          <p:cNvSpPr>
            <a:spLocks xmlns:a="http://schemas.openxmlformats.org/drawingml/2006/main" noGrp="1"/>
          </p:cNvSpPr>
          <p:nvPr/>
        </p:nvSpPr>
        <p:spPr>
          <a:xfrm xmlns:a="http://schemas.openxmlformats.org/drawingml/2006/main">
            <a:off x="685800" y="38290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DE8"/>
            </a:solidFill>
            <a:prstDash val="solid"/>
          </a:ln>
        </p:spPr>
      </p:sp>
      <p:sp>
        <p:nvSpPr>
          <p:cNvPr id="21" name="">
            <a:extLst xmlns:a="http://schemas.openxmlformats.org/drawingml/2006/main">
              <a:ext uri="{FF2B5EF4-FFF2-40B4-BE49-F238E27FC236}">
                <a16:creationId xmlns:a16="http://schemas.microsoft.com/office/drawing/2014/main" id="{94CCE836-D965-426C-A2D2-849E658B469A}"/>
              </a:ext>
            </a:extLst>
          </p:cNvPr>
          <p:cNvSpPr>
            <a:spLocks xmlns:a="http://schemas.openxmlformats.org/drawingml/2006/main" noGrp="1"/>
          </p:cNvSpPr>
          <p:nvPr/>
        </p:nvSpPr>
        <p:spPr>
          <a:xfrm xmlns:a="http://schemas.openxmlformats.org/drawingml/2006/main">
            <a:off x="819150" y="4000500"/>
            <a:ext cx="419100" cy="419100"/>
          </a:xfrm>
          <a:prstGeom xmlns:a="http://schemas.openxmlformats.org/drawingml/2006/main" prst="roundRect">
            <a:avLst>
              <a:gd name="adj" fmla="val 18182"/>
            </a:avLst>
          </a:prstGeom>
          <a:solidFill xmlns:a="http://schemas.openxmlformats.org/drawingml/2006/main">
            <a:srgbClr val="003B5C"/>
          </a:solidFill>
          <a:ln xmlns:a="http://schemas.openxmlformats.org/drawingml/2006/main" w="9525">
            <a:solidFill>
              <a:srgbClr val="003B5C"/>
            </a:solidFill>
            <a:prstDash val="solid"/>
          </a:ln>
        </p:spPr>
      </p:sp>
      <p:sp>
        <p:nvSpPr>
          <p:cNvPr id="22" name="">
            <a:extLst xmlns:a="http://schemas.openxmlformats.org/drawingml/2006/main">
              <a:ext uri="{FF2B5EF4-FFF2-40B4-BE49-F238E27FC236}">
                <a16:creationId xmlns:a16="http://schemas.microsoft.com/office/drawing/2014/main" id="{B8FAB298-3227-49E5-B4F4-EBD68276542E}"/>
              </a:ext>
            </a:extLst>
          </p:cNvPr>
          <p:cNvSpPr>
            <a:spLocks xmlns:a="http://schemas.openxmlformats.org/drawingml/2006/main" noGrp="1"/>
          </p:cNvSpPr>
          <p:nvPr/>
        </p:nvSpPr>
        <p:spPr>
          <a:xfrm xmlns:a="http://schemas.openxmlformats.org/drawingml/2006/main">
            <a:off x="942975" y="40957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23" name="">
            <a:extLst xmlns:a="http://schemas.openxmlformats.org/drawingml/2006/main">
              <a:ext uri="{FF2B5EF4-FFF2-40B4-BE49-F238E27FC236}">
                <a16:creationId xmlns:a16="http://schemas.microsoft.com/office/drawing/2014/main" id="{A7EC20D5-D3BD-49B5-92C3-D79571B9D7F1}"/>
              </a:ext>
            </a:extLst>
          </p:cNvPr>
          <p:cNvSpPr>
            <a:spLocks xmlns:a="http://schemas.openxmlformats.org/drawingml/2006/main" noGrp="1"/>
          </p:cNvSpPr>
          <p:nvPr/>
        </p:nvSpPr>
        <p:spPr>
          <a:xfrm xmlns:a="http://schemas.openxmlformats.org/drawingml/2006/main">
            <a:off x="1371600" y="400050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5070B"/>
                </a:solidFill>
              </a:defRPr>
            </a:pPr>
            <a:r>
              <a:rPr sz="1575" b="1">
                <a:solidFill>
                  <a:srgbClr val="05070B"/>
                </a:solidFill>
              </a:rPr>
              <a:t>Set weight and AI</a:t>
            </a:r>
          </a:p>
        </p:txBody>
      </p:sp>
      <p:sp>
        <p:nvSpPr>
          <p:cNvPr id="24" name="">
            <a:extLst xmlns:a="http://schemas.openxmlformats.org/drawingml/2006/main">
              <a:ext uri="{FF2B5EF4-FFF2-40B4-BE49-F238E27FC236}">
                <a16:creationId xmlns:a16="http://schemas.microsoft.com/office/drawing/2014/main" id="{51DEB8AF-040C-4384-A966-519FF38326E1}"/>
              </a:ext>
            </a:extLst>
          </p:cNvPr>
          <p:cNvSpPr>
            <a:spLocks xmlns:a="http://schemas.openxmlformats.org/drawingml/2006/main" noGrp="1"/>
          </p:cNvSpPr>
          <p:nvPr/>
        </p:nvSpPr>
        <p:spPr>
          <a:xfrm xmlns:a="http://schemas.openxmlformats.org/drawingml/2006/main">
            <a:off x="1371600" y="4324350"/>
            <a:ext cx="2362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Adjust importance and the current AI enablement level.</a:t>
            </a:r>
          </a:p>
        </p:txBody>
      </p:sp>
      <p:sp>
        <p:nvSpPr>
          <p:cNvPr id="25" name="">
            <a:extLst xmlns:a="http://schemas.openxmlformats.org/drawingml/2006/main">
              <a:ext uri="{FF2B5EF4-FFF2-40B4-BE49-F238E27FC236}">
                <a16:creationId xmlns:a16="http://schemas.microsoft.com/office/drawing/2014/main" id="{E6C764B3-312C-41A7-8604-7C4BC9E475A3}"/>
              </a:ext>
            </a:extLst>
          </p:cNvPr>
          <p:cNvSpPr>
            <a:spLocks xmlns:a="http://schemas.openxmlformats.org/drawingml/2006/main" noGrp="1"/>
          </p:cNvSpPr>
          <p:nvPr/>
        </p:nvSpPr>
        <p:spPr>
          <a:xfrm xmlns:a="http://schemas.openxmlformats.org/drawingml/2006/main">
            <a:off x="4476750" y="38290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DE8"/>
            </a:solidFill>
            <a:prstDash val="solid"/>
          </a:ln>
        </p:spPr>
      </p:sp>
      <p:sp>
        <p:nvSpPr>
          <p:cNvPr id="26" name="">
            <a:extLst xmlns:a="http://schemas.openxmlformats.org/drawingml/2006/main">
              <a:ext uri="{FF2B5EF4-FFF2-40B4-BE49-F238E27FC236}">
                <a16:creationId xmlns:a16="http://schemas.microsoft.com/office/drawing/2014/main" id="{4E593909-D033-45ED-9505-5F50D9DC2BE6}"/>
              </a:ext>
            </a:extLst>
          </p:cNvPr>
          <p:cNvSpPr>
            <a:spLocks xmlns:a="http://schemas.openxmlformats.org/drawingml/2006/main" noGrp="1"/>
          </p:cNvSpPr>
          <p:nvPr/>
        </p:nvSpPr>
        <p:spPr>
          <a:xfrm xmlns:a="http://schemas.openxmlformats.org/drawingml/2006/main">
            <a:off x="4610100" y="4000500"/>
            <a:ext cx="419100" cy="419100"/>
          </a:xfrm>
          <a:prstGeom xmlns:a="http://schemas.openxmlformats.org/drawingml/2006/main" prst="roundRect">
            <a:avLst>
              <a:gd name="adj" fmla="val 18182"/>
            </a:avLst>
          </a:prstGeom>
          <a:solidFill xmlns:a="http://schemas.openxmlformats.org/drawingml/2006/main">
            <a:srgbClr val="003B5C"/>
          </a:solidFill>
          <a:ln xmlns:a="http://schemas.openxmlformats.org/drawingml/2006/main" w="9525">
            <a:solidFill>
              <a:srgbClr val="003B5C"/>
            </a:solidFill>
            <a:prstDash val="solid"/>
          </a:ln>
        </p:spPr>
      </p:sp>
      <p:sp>
        <p:nvSpPr>
          <p:cNvPr id="27" name="">
            <a:extLst xmlns:a="http://schemas.openxmlformats.org/drawingml/2006/main">
              <a:ext uri="{FF2B5EF4-FFF2-40B4-BE49-F238E27FC236}">
                <a16:creationId xmlns:a16="http://schemas.microsoft.com/office/drawing/2014/main" id="{65EB4F5B-DAA6-471C-B888-E1E30AF10C56}"/>
              </a:ext>
            </a:extLst>
          </p:cNvPr>
          <p:cNvSpPr>
            <a:spLocks xmlns:a="http://schemas.openxmlformats.org/drawingml/2006/main" noGrp="1"/>
          </p:cNvSpPr>
          <p:nvPr/>
        </p:nvSpPr>
        <p:spPr>
          <a:xfrm xmlns:a="http://schemas.openxmlformats.org/drawingml/2006/main">
            <a:off x="4733925" y="40957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5</a:t>
            </a:r>
          </a:p>
        </p:txBody>
      </p:sp>
      <p:sp>
        <p:nvSpPr>
          <p:cNvPr id="28" name="">
            <a:extLst xmlns:a="http://schemas.openxmlformats.org/drawingml/2006/main">
              <a:ext uri="{FF2B5EF4-FFF2-40B4-BE49-F238E27FC236}">
                <a16:creationId xmlns:a16="http://schemas.microsoft.com/office/drawing/2014/main" id="{5A5F731B-1123-4D4E-AD3C-EFA002BB3335}"/>
              </a:ext>
            </a:extLst>
          </p:cNvPr>
          <p:cNvSpPr>
            <a:spLocks xmlns:a="http://schemas.openxmlformats.org/drawingml/2006/main" noGrp="1"/>
          </p:cNvSpPr>
          <p:nvPr/>
        </p:nvSpPr>
        <p:spPr>
          <a:xfrm xmlns:a="http://schemas.openxmlformats.org/drawingml/2006/main">
            <a:off x="5162550" y="400050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5070B"/>
                </a:solidFill>
              </a:defRPr>
            </a:pPr>
            <a:r>
              <a:rPr sz="1575" b="1">
                <a:solidFill>
                  <a:srgbClr val="05070B"/>
                </a:solidFill>
              </a:rPr>
              <a:t>Score the environment</a:t>
            </a:r>
          </a:p>
        </p:txBody>
      </p:sp>
      <p:sp>
        <p:nvSpPr>
          <p:cNvPr id="29" name="">
            <a:extLst xmlns:a="http://schemas.openxmlformats.org/drawingml/2006/main">
              <a:ext uri="{FF2B5EF4-FFF2-40B4-BE49-F238E27FC236}">
                <a16:creationId xmlns:a16="http://schemas.microsoft.com/office/drawing/2014/main" id="{34BA491C-AC06-4F55-9115-1C4E92D576F9}"/>
              </a:ext>
            </a:extLst>
          </p:cNvPr>
          <p:cNvSpPr>
            <a:spLocks xmlns:a="http://schemas.openxmlformats.org/drawingml/2006/main" noGrp="1"/>
          </p:cNvSpPr>
          <p:nvPr/>
        </p:nvSpPr>
        <p:spPr>
          <a:xfrm xmlns:a="http://schemas.openxmlformats.org/drawingml/2006/main">
            <a:off x="5162550" y="4324350"/>
            <a:ext cx="2362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company and exogenous sliders to explain acceleration or friction.</a:t>
            </a:r>
          </a:p>
        </p:txBody>
      </p:sp>
      <p:sp>
        <p:nvSpPr>
          <p:cNvPr id="30" name="">
            <a:extLst xmlns:a="http://schemas.openxmlformats.org/drawingml/2006/main">
              <a:ext uri="{FF2B5EF4-FFF2-40B4-BE49-F238E27FC236}">
                <a16:creationId xmlns:a16="http://schemas.microsoft.com/office/drawing/2014/main" id="{99E8D011-5F46-4303-A34E-4974C00D5F8F}"/>
              </a:ext>
            </a:extLst>
          </p:cNvPr>
          <p:cNvSpPr>
            <a:spLocks xmlns:a="http://schemas.openxmlformats.org/drawingml/2006/main" noGrp="1"/>
          </p:cNvSpPr>
          <p:nvPr/>
        </p:nvSpPr>
        <p:spPr>
          <a:xfrm xmlns:a="http://schemas.openxmlformats.org/drawingml/2006/main">
            <a:off x="8267700" y="3829050"/>
            <a:ext cx="32385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BDDE8"/>
            </a:solidFill>
            <a:prstDash val="solid"/>
          </a:ln>
        </p:spPr>
      </p:sp>
      <p:sp>
        <p:nvSpPr>
          <p:cNvPr id="31" name="">
            <a:extLst xmlns:a="http://schemas.openxmlformats.org/drawingml/2006/main">
              <a:ext uri="{FF2B5EF4-FFF2-40B4-BE49-F238E27FC236}">
                <a16:creationId xmlns:a16="http://schemas.microsoft.com/office/drawing/2014/main" id="{6B56EC43-31FC-48A0-A7BC-9B07A04FFBB1}"/>
              </a:ext>
            </a:extLst>
          </p:cNvPr>
          <p:cNvSpPr>
            <a:spLocks xmlns:a="http://schemas.openxmlformats.org/drawingml/2006/main" noGrp="1"/>
          </p:cNvSpPr>
          <p:nvPr/>
        </p:nvSpPr>
        <p:spPr>
          <a:xfrm xmlns:a="http://schemas.openxmlformats.org/drawingml/2006/main">
            <a:off x="8401050" y="4000500"/>
            <a:ext cx="419100" cy="419100"/>
          </a:xfrm>
          <a:prstGeom xmlns:a="http://schemas.openxmlformats.org/drawingml/2006/main" prst="roundRect">
            <a:avLst>
              <a:gd name="adj" fmla="val 18182"/>
            </a:avLst>
          </a:prstGeom>
          <a:solidFill xmlns:a="http://schemas.openxmlformats.org/drawingml/2006/main">
            <a:srgbClr val="003B5C"/>
          </a:solidFill>
          <a:ln xmlns:a="http://schemas.openxmlformats.org/drawingml/2006/main" w="9525">
            <a:solidFill>
              <a:srgbClr val="003B5C"/>
            </a:solidFill>
            <a:prstDash val="solid"/>
          </a:ln>
        </p:spPr>
      </p:sp>
      <p:sp>
        <p:nvSpPr>
          <p:cNvPr id="32" name="">
            <a:extLst xmlns:a="http://schemas.openxmlformats.org/drawingml/2006/main">
              <a:ext uri="{FF2B5EF4-FFF2-40B4-BE49-F238E27FC236}">
                <a16:creationId xmlns:a16="http://schemas.microsoft.com/office/drawing/2014/main" id="{D0D1300D-9BCE-4E67-A9EC-B6EE398ACBDC}"/>
              </a:ext>
            </a:extLst>
          </p:cNvPr>
          <p:cNvSpPr>
            <a:spLocks xmlns:a="http://schemas.openxmlformats.org/drawingml/2006/main" noGrp="1"/>
          </p:cNvSpPr>
          <p:nvPr/>
        </p:nvSpPr>
        <p:spPr>
          <a:xfrm xmlns:a="http://schemas.openxmlformats.org/drawingml/2006/main">
            <a:off x="8524875" y="40957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6</a:t>
            </a:r>
          </a:p>
        </p:txBody>
      </p:sp>
      <p:sp>
        <p:nvSpPr>
          <p:cNvPr id="33" name="">
            <a:extLst xmlns:a="http://schemas.openxmlformats.org/drawingml/2006/main">
              <a:ext uri="{FF2B5EF4-FFF2-40B4-BE49-F238E27FC236}">
                <a16:creationId xmlns:a16="http://schemas.microsoft.com/office/drawing/2014/main" id="{106C4791-C408-4C8F-A7C4-B4EC3F43634D}"/>
              </a:ext>
            </a:extLst>
          </p:cNvPr>
          <p:cNvSpPr>
            <a:spLocks xmlns:a="http://schemas.openxmlformats.org/drawingml/2006/main" noGrp="1"/>
          </p:cNvSpPr>
          <p:nvPr/>
        </p:nvSpPr>
        <p:spPr>
          <a:xfrm xmlns:a="http://schemas.openxmlformats.org/drawingml/2006/main">
            <a:off x="8953500" y="400050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5070B"/>
                </a:solidFill>
              </a:defRPr>
            </a:pPr>
            <a:r>
              <a:rPr sz="1575" b="1">
                <a:solidFill>
                  <a:srgbClr val="05070B"/>
                </a:solidFill>
              </a:rPr>
              <a:t>Read the equation</a:t>
            </a:r>
          </a:p>
        </p:txBody>
      </p:sp>
      <p:sp>
        <p:nvSpPr>
          <p:cNvPr id="34" name="">
            <a:extLst xmlns:a="http://schemas.openxmlformats.org/drawingml/2006/main">
              <a:ext uri="{FF2B5EF4-FFF2-40B4-BE49-F238E27FC236}">
                <a16:creationId xmlns:a16="http://schemas.microsoft.com/office/drawing/2014/main" id="{DFEC60CE-740E-4DE6-960F-06BA6F792802}"/>
              </a:ext>
            </a:extLst>
          </p:cNvPr>
          <p:cNvSpPr>
            <a:spLocks xmlns:a="http://schemas.openxmlformats.org/drawingml/2006/main" noGrp="1"/>
          </p:cNvSpPr>
          <p:nvPr/>
        </p:nvSpPr>
        <p:spPr>
          <a:xfrm xmlns:a="http://schemas.openxmlformats.org/drawingml/2006/main">
            <a:off x="8953500" y="4324350"/>
            <a:ext cx="2362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the final score as a business interpretation, not as a vanity metric.</a:t>
            </a:r>
          </a:p>
        </p:txBody>
      </p:sp>
    </p:spTree>
    <p:extLst>
      <p:ext uri="{BB962C8B-B14F-4D97-AF65-F5344CB8AC3E}">
        <p14:creationId xmlns:p14="http://schemas.microsoft.com/office/powerpoint/2010/main" val="558169291"/>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D42602-5910-420D-8FA9-E52E4F7E0F10}"/>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85D78B61-95A0-4B38-BF1B-99914E894124}"/>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40A08E7E-BBD5-4999-9469-6CDBAE6B95E8}"/>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5BF56BA7-B10C-43EA-85CF-AEBE45F2A9ED}"/>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case: Ibiza football club ecommerce</a:t>
            </a:r>
          </a:p>
        </p:txBody>
      </p:sp>
      <p:sp>
        <p:nvSpPr>
          <p:cNvPr id="5" name="">
            <a:extLst xmlns:a="http://schemas.openxmlformats.org/drawingml/2006/main">
              <a:ext uri="{FF2B5EF4-FFF2-40B4-BE49-F238E27FC236}">
                <a16:creationId xmlns:a16="http://schemas.microsoft.com/office/drawing/2014/main" id="{D65456D6-0206-43D2-85FE-AA2261F0F2BF}"/>
              </a:ext>
            </a:extLst>
          </p:cNvPr>
          <p:cNvSpPr>
            <a:spLocks xmlns:a="http://schemas.openxmlformats.org/drawingml/2006/main" noGrp="1"/>
          </p:cNvSpPr>
          <p:nvPr/>
        </p:nvSpPr>
        <p:spPr>
          <a:xfrm xmlns:a="http://schemas.openxmlformats.org/drawingml/2006/main">
            <a:off x="857250" y="21907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EB1897B8-1288-450D-BCE3-E5AA820D3C1B}"/>
              </a:ext>
            </a:extLst>
          </p:cNvPr>
          <p:cNvSpPr>
            <a:spLocks xmlns:a="http://schemas.openxmlformats.org/drawingml/2006/main" noGrp="1"/>
          </p:cNvSpPr>
          <p:nvPr/>
        </p:nvSpPr>
        <p:spPr>
          <a:xfrm xmlns:a="http://schemas.openxmlformats.org/drawingml/2006/main">
            <a:off x="1123950" y="2190750"/>
            <a:ext cx="592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Scenario: the club sells shirts, scarves and merchandise through an ecommerce store.</a:t>
            </a:r>
          </a:p>
        </p:txBody>
      </p:sp>
      <p:sp>
        <p:nvSpPr>
          <p:cNvPr id="7" name="">
            <a:extLst xmlns:a="http://schemas.openxmlformats.org/drawingml/2006/main">
              <a:ext uri="{FF2B5EF4-FFF2-40B4-BE49-F238E27FC236}">
                <a16:creationId xmlns:a16="http://schemas.microsoft.com/office/drawing/2014/main" id="{E97A0FF5-868E-448C-B66C-2AD4A9CF06AF}"/>
              </a:ext>
            </a:extLst>
          </p:cNvPr>
          <p:cNvSpPr>
            <a:spLocks xmlns:a="http://schemas.openxmlformats.org/drawingml/2006/main" noGrp="1"/>
          </p:cNvSpPr>
          <p:nvPr/>
        </p:nvSpPr>
        <p:spPr>
          <a:xfrm xmlns:a="http://schemas.openxmlformats.org/drawingml/2006/main">
            <a:off x="857250" y="28003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F60B1216-AD05-48CB-854C-88412A18A58B}"/>
              </a:ext>
            </a:extLst>
          </p:cNvPr>
          <p:cNvSpPr>
            <a:spLocks xmlns:a="http://schemas.openxmlformats.org/drawingml/2006/main" noGrp="1"/>
          </p:cNvSpPr>
          <p:nvPr/>
        </p:nvSpPr>
        <p:spPr>
          <a:xfrm xmlns:a="http://schemas.openxmlformats.org/drawingml/2006/main">
            <a:off x="1123950" y="2800350"/>
            <a:ext cx="592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Goal: improve digital communication with fans and convert attention into purchases.</a:t>
            </a:r>
          </a:p>
        </p:txBody>
      </p:sp>
      <p:sp>
        <p:nvSpPr>
          <p:cNvPr id="9" name="">
            <a:extLst xmlns:a="http://schemas.openxmlformats.org/drawingml/2006/main">
              <a:ext uri="{FF2B5EF4-FFF2-40B4-BE49-F238E27FC236}">
                <a16:creationId xmlns:a16="http://schemas.microsoft.com/office/drawing/2014/main" id="{E35FC84C-475A-4A1C-B1DD-15FBE7E7539D}"/>
              </a:ext>
            </a:extLst>
          </p:cNvPr>
          <p:cNvSpPr>
            <a:spLocks xmlns:a="http://schemas.openxmlformats.org/drawingml/2006/main" noGrp="1"/>
          </p:cNvSpPr>
          <p:nvPr/>
        </p:nvSpPr>
        <p:spPr>
          <a:xfrm xmlns:a="http://schemas.openxmlformats.org/drawingml/2006/main">
            <a:off x="8572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1058EE8A-A6A6-47F4-B745-259612F3022C}"/>
              </a:ext>
            </a:extLst>
          </p:cNvPr>
          <p:cNvSpPr>
            <a:spLocks xmlns:a="http://schemas.openxmlformats.org/drawingml/2006/main" noGrp="1"/>
          </p:cNvSpPr>
          <p:nvPr/>
        </p:nvSpPr>
        <p:spPr>
          <a:xfrm xmlns:a="http://schemas.openxmlformats.org/drawingml/2006/main">
            <a:off x="1123950" y="3409950"/>
            <a:ext cx="592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Buyer persona: local supporters, tourists, social media fans and returning customers.</a:t>
            </a:r>
          </a:p>
        </p:txBody>
      </p:sp>
      <p:sp>
        <p:nvSpPr>
          <p:cNvPr id="11" name="">
            <a:extLst xmlns:a="http://schemas.openxmlformats.org/drawingml/2006/main">
              <a:ext uri="{FF2B5EF4-FFF2-40B4-BE49-F238E27FC236}">
                <a16:creationId xmlns:a16="http://schemas.microsoft.com/office/drawing/2014/main" id="{FF01EBFE-859D-4A13-BD6F-F1722C5F47A1}"/>
              </a:ext>
            </a:extLst>
          </p:cNvPr>
          <p:cNvSpPr>
            <a:spLocks xmlns:a="http://schemas.openxmlformats.org/drawingml/2006/main" noGrp="1"/>
          </p:cNvSpPr>
          <p:nvPr/>
        </p:nvSpPr>
        <p:spPr>
          <a:xfrm xmlns:a="http://schemas.openxmlformats.org/drawingml/2006/main">
            <a:off x="857250" y="40195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26619B61-4AEC-4457-ABEA-85C8AD8C1C4B}"/>
              </a:ext>
            </a:extLst>
          </p:cNvPr>
          <p:cNvSpPr>
            <a:spLocks xmlns:a="http://schemas.openxmlformats.org/drawingml/2006/main" noGrp="1"/>
          </p:cNvSpPr>
          <p:nvPr/>
        </p:nvSpPr>
        <p:spPr>
          <a:xfrm xmlns:a="http://schemas.openxmlformats.org/drawingml/2006/main">
            <a:off x="1123950" y="4019550"/>
            <a:ext cx="592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Business question: how close is the club to an AI-enabled communication system?</a:t>
            </a:r>
          </a:p>
        </p:txBody>
      </p:sp>
      <p:sp>
        <p:nvSpPr>
          <p:cNvPr id="13" name="">
            <a:extLst xmlns:a="http://schemas.openxmlformats.org/drawingml/2006/main">
              <a:ext uri="{FF2B5EF4-FFF2-40B4-BE49-F238E27FC236}">
                <a16:creationId xmlns:a16="http://schemas.microsoft.com/office/drawing/2014/main" id="{FFF39B8B-F1B6-4072-877C-065011E69931}"/>
              </a:ext>
            </a:extLst>
          </p:cNvPr>
          <p:cNvSpPr>
            <a:spLocks xmlns:a="http://schemas.openxmlformats.org/drawingml/2006/main" noGrp="1"/>
          </p:cNvSpPr>
          <p:nvPr/>
        </p:nvSpPr>
        <p:spPr>
          <a:xfrm xmlns:a="http://schemas.openxmlformats.org/drawingml/2006/main">
            <a:off x="7620000" y="2190750"/>
            <a:ext cx="3143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CBDDE8"/>
            </a:solidFill>
            <a:prstDash val="solid"/>
          </a:ln>
        </p:spPr>
      </p:sp>
      <p:sp>
        <p:nvSpPr>
          <p:cNvPr id="14" name="">
            <a:extLst xmlns:a="http://schemas.openxmlformats.org/drawingml/2006/main">
              <a:ext uri="{FF2B5EF4-FFF2-40B4-BE49-F238E27FC236}">
                <a16:creationId xmlns:a16="http://schemas.microsoft.com/office/drawing/2014/main" id="{69E65CE9-AC13-44B9-B54D-D6C66D691E6F}"/>
              </a:ext>
            </a:extLst>
          </p:cNvPr>
          <p:cNvSpPr>
            <a:spLocks xmlns:a="http://schemas.openxmlformats.org/drawingml/2006/main" noGrp="1"/>
          </p:cNvSpPr>
          <p:nvPr/>
        </p:nvSpPr>
        <p:spPr>
          <a:xfrm xmlns:a="http://schemas.openxmlformats.org/drawingml/2006/main">
            <a:off x="7905750" y="25241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Working assumption</a:t>
            </a:r>
          </a:p>
        </p:txBody>
      </p:sp>
      <p:sp>
        <p:nvSpPr>
          <p:cNvPr id="15" name="">
            <a:extLst xmlns:a="http://schemas.openxmlformats.org/drawingml/2006/main">
              <a:ext uri="{FF2B5EF4-FFF2-40B4-BE49-F238E27FC236}">
                <a16:creationId xmlns:a16="http://schemas.microsoft.com/office/drawing/2014/main" id="{302F7CCF-E1A2-4FD1-95A1-1A717D32DAD7}"/>
              </a:ext>
            </a:extLst>
          </p:cNvPr>
          <p:cNvSpPr>
            <a:spLocks xmlns:a="http://schemas.openxmlformats.org/drawingml/2006/main" noGrp="1"/>
          </p:cNvSpPr>
          <p:nvPr/>
        </p:nvSpPr>
        <p:spPr>
          <a:xfrm xmlns:a="http://schemas.openxmlformats.org/drawingml/2006/main">
            <a:off x="7905750" y="304800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334155"/>
                </a:solidFill>
              </a:defRPr>
            </a:pPr>
            <a:r>
              <a:rPr sz="1425" b="0">
                <a:solidFill>
                  <a:srgbClr val="334155"/>
                </a:solidFill>
              </a:rPr>
              <a:t>The example uses illustrative numbers so a student can understand the model. Replace them with real analytics, CRM, ecommerce and campaign data when available.</a:t>
            </a:r>
          </a:p>
        </p:txBody>
      </p:sp>
    </p:spTree>
    <p:extLst>
      <p:ext uri="{BB962C8B-B14F-4D97-AF65-F5344CB8AC3E}">
        <p14:creationId xmlns:p14="http://schemas.microsoft.com/office/powerpoint/2010/main" val="1237958518"/>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B5408FA-8135-4F48-87E2-87CEE9475BF6}"/>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D55384ED-49EF-4BAE-AC51-124E6D8FDBA7}"/>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B3772138-FE53-4310-9C41-1DB70E910E22}"/>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D46399E1-DD91-41F4-A28D-FD01E7DC5842}"/>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Users: fill the market side of communication</a:t>
            </a:r>
          </a:p>
        </p:txBody>
      </p:sp>
      <p:sp>
        <p:nvSpPr>
          <p:cNvPr id="5" name="">
            <a:extLst xmlns:a="http://schemas.openxmlformats.org/drawingml/2006/main">
              <a:ext uri="{FF2B5EF4-FFF2-40B4-BE49-F238E27FC236}">
                <a16:creationId xmlns:a16="http://schemas.microsoft.com/office/drawing/2014/main" id="{CE4E81ED-05CC-45B4-AA03-DD9C987AE940}"/>
              </a:ext>
            </a:extLst>
          </p:cNvPr>
          <p:cNvSpPr>
            <a:spLocks xmlns:a="http://schemas.openxmlformats.org/drawingml/2006/main" noGrp="1"/>
          </p:cNvSpPr>
          <p:nvPr/>
        </p:nvSpPr>
        <p:spPr>
          <a:xfrm xmlns:a="http://schemas.openxmlformats.org/drawingml/2006/main">
            <a:off x="819150" y="2095500"/>
            <a:ext cx="10287000" cy="590550"/>
          </a:xfrm>
          <a:prstGeom xmlns:a="http://schemas.openxmlformats.org/drawingml/2006/main" prst="roundRect">
            <a:avLst>
              <a:gd name="adj" fmla="val 12903"/>
            </a:avLst>
          </a:prstGeom>
          <a:solidFill xmlns:a="http://schemas.openxmlformats.org/drawingml/2006/main">
            <a:srgbClr val="003B5C"/>
          </a:solidFill>
          <a:ln xmlns:a="http://schemas.openxmlformats.org/drawingml/2006/main" w="9525">
            <a:solidFill>
              <a:srgbClr val="003B5C"/>
            </a:solidFill>
            <a:prstDash val="solid"/>
          </a:ln>
        </p:spPr>
      </p:sp>
      <p:sp>
        <p:nvSpPr>
          <p:cNvPr id="6" name="">
            <a:extLst xmlns:a="http://schemas.openxmlformats.org/drawingml/2006/main">
              <a:ext uri="{FF2B5EF4-FFF2-40B4-BE49-F238E27FC236}">
                <a16:creationId xmlns:a16="http://schemas.microsoft.com/office/drawing/2014/main" id="{112DFCEF-A04D-43F4-B4CD-C193974CE6EB}"/>
              </a:ext>
            </a:extLst>
          </p:cNvPr>
          <p:cNvSpPr>
            <a:spLocks xmlns:a="http://schemas.openxmlformats.org/drawingml/2006/main" noGrp="1"/>
          </p:cNvSpPr>
          <p:nvPr/>
        </p:nvSpPr>
        <p:spPr>
          <a:xfrm xmlns:a="http://schemas.openxmlformats.org/drawingml/2006/main">
            <a:off x="952500" y="22098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Node</a:t>
            </a:r>
          </a:p>
        </p:txBody>
      </p:sp>
      <p:sp>
        <p:nvSpPr>
          <p:cNvPr id="7" name="">
            <a:extLst xmlns:a="http://schemas.openxmlformats.org/drawingml/2006/main">
              <a:ext uri="{FF2B5EF4-FFF2-40B4-BE49-F238E27FC236}">
                <a16:creationId xmlns:a16="http://schemas.microsoft.com/office/drawing/2014/main" id="{53E7AE9B-8885-4660-B8B9-2D29AE7AEB01}"/>
              </a:ext>
            </a:extLst>
          </p:cNvPr>
          <p:cNvSpPr>
            <a:spLocks xmlns:a="http://schemas.openxmlformats.org/drawingml/2006/main" noGrp="1"/>
          </p:cNvSpPr>
          <p:nvPr/>
        </p:nvSpPr>
        <p:spPr>
          <a:xfrm xmlns:a="http://schemas.openxmlformats.org/drawingml/2006/main">
            <a:off x="3905250" y="22098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How to fill it in the Ibiza ecommerce case</a:t>
            </a:r>
          </a:p>
        </p:txBody>
      </p:sp>
      <p:sp>
        <p:nvSpPr>
          <p:cNvPr id="8" name="">
            <a:extLst xmlns:a="http://schemas.openxmlformats.org/drawingml/2006/main">
              <a:ext uri="{FF2B5EF4-FFF2-40B4-BE49-F238E27FC236}">
                <a16:creationId xmlns:a16="http://schemas.microsoft.com/office/drawing/2014/main" id="{2C85272E-8A2A-4EB7-8177-AB498914551D}"/>
              </a:ext>
            </a:extLst>
          </p:cNvPr>
          <p:cNvSpPr>
            <a:spLocks xmlns:a="http://schemas.openxmlformats.org/drawingml/2006/main" noGrp="1"/>
          </p:cNvSpPr>
          <p:nvPr/>
        </p:nvSpPr>
        <p:spPr>
          <a:xfrm xmlns:a="http://schemas.openxmlformats.org/drawingml/2006/main">
            <a:off x="819150" y="27622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9" name="">
            <a:extLst xmlns:a="http://schemas.openxmlformats.org/drawingml/2006/main">
              <a:ext uri="{FF2B5EF4-FFF2-40B4-BE49-F238E27FC236}">
                <a16:creationId xmlns:a16="http://schemas.microsoft.com/office/drawing/2014/main" id="{E65C2F12-EADE-43A5-80C8-BACA7C695341}"/>
              </a:ext>
            </a:extLst>
          </p:cNvPr>
          <p:cNvSpPr>
            <a:spLocks xmlns:a="http://schemas.openxmlformats.org/drawingml/2006/main" noGrp="1"/>
          </p:cNvSpPr>
          <p:nvPr/>
        </p:nvSpPr>
        <p:spPr>
          <a:xfrm xmlns:a="http://schemas.openxmlformats.org/drawingml/2006/main">
            <a:off x="952500" y="28765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B2C</a:t>
            </a:r>
          </a:p>
        </p:txBody>
      </p:sp>
      <p:sp>
        <p:nvSpPr>
          <p:cNvPr id="10" name="">
            <a:extLst xmlns:a="http://schemas.openxmlformats.org/drawingml/2006/main">
              <a:ext uri="{FF2B5EF4-FFF2-40B4-BE49-F238E27FC236}">
                <a16:creationId xmlns:a16="http://schemas.microsoft.com/office/drawing/2014/main" id="{39C4530F-3C42-468F-AB34-7B5517877F10}"/>
              </a:ext>
            </a:extLst>
          </p:cNvPr>
          <p:cNvSpPr>
            <a:spLocks xmlns:a="http://schemas.openxmlformats.org/drawingml/2006/main" noGrp="1"/>
          </p:cNvSpPr>
          <p:nvPr/>
        </p:nvSpPr>
        <p:spPr>
          <a:xfrm xmlns:a="http://schemas.openxmlformats.org/drawingml/2006/main">
            <a:off x="3905250" y="28765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the estimated reachable consumer audience: supporters, visitors and online buyers. Example: 85,000 observed / 250,000 arrival.</a:t>
            </a:r>
          </a:p>
        </p:txBody>
      </p:sp>
      <p:sp>
        <p:nvSpPr>
          <p:cNvPr id="11" name="">
            <a:extLst xmlns:a="http://schemas.openxmlformats.org/drawingml/2006/main">
              <a:ext uri="{FF2B5EF4-FFF2-40B4-BE49-F238E27FC236}">
                <a16:creationId xmlns:a16="http://schemas.microsoft.com/office/drawing/2014/main" id="{4BB3EC24-F35B-496B-ACA8-587B23F6A98A}"/>
              </a:ext>
            </a:extLst>
          </p:cNvPr>
          <p:cNvSpPr>
            <a:spLocks xmlns:a="http://schemas.openxmlformats.org/drawingml/2006/main" noGrp="1"/>
          </p:cNvSpPr>
          <p:nvPr/>
        </p:nvSpPr>
        <p:spPr>
          <a:xfrm xmlns:a="http://schemas.openxmlformats.org/drawingml/2006/main">
            <a:off x="819150" y="342900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2" name="">
            <a:extLst xmlns:a="http://schemas.openxmlformats.org/drawingml/2006/main">
              <a:ext uri="{FF2B5EF4-FFF2-40B4-BE49-F238E27FC236}">
                <a16:creationId xmlns:a16="http://schemas.microsoft.com/office/drawing/2014/main" id="{C318A499-3576-490B-B785-0EF2FF0B7A34}"/>
              </a:ext>
            </a:extLst>
          </p:cNvPr>
          <p:cNvSpPr>
            <a:spLocks xmlns:a="http://schemas.openxmlformats.org/drawingml/2006/main" noGrp="1"/>
          </p:cNvSpPr>
          <p:nvPr/>
        </p:nvSpPr>
        <p:spPr>
          <a:xfrm xmlns:a="http://schemas.openxmlformats.org/drawingml/2006/main">
            <a:off x="952500" y="35433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Fans</a:t>
            </a:r>
          </a:p>
        </p:txBody>
      </p:sp>
      <p:sp>
        <p:nvSpPr>
          <p:cNvPr id="13" name="">
            <a:extLst xmlns:a="http://schemas.openxmlformats.org/drawingml/2006/main">
              <a:ext uri="{FF2B5EF4-FFF2-40B4-BE49-F238E27FC236}">
                <a16:creationId xmlns:a16="http://schemas.microsoft.com/office/drawing/2014/main" id="{C6562DBF-CDF3-484D-9574-B7DC6AD620A5}"/>
              </a:ext>
            </a:extLst>
          </p:cNvPr>
          <p:cNvSpPr>
            <a:spLocks xmlns:a="http://schemas.openxmlformats.org/drawingml/2006/main" noGrp="1"/>
          </p:cNvSpPr>
          <p:nvPr/>
        </p:nvSpPr>
        <p:spPr>
          <a:xfrm xmlns:a="http://schemas.openxmlformats.org/drawingml/2006/main">
            <a:off x="3905250" y="35433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social followers or fan community size. Example: 120,000 observed / 300,000 arrival.</a:t>
            </a:r>
          </a:p>
        </p:txBody>
      </p:sp>
      <p:sp>
        <p:nvSpPr>
          <p:cNvPr id="14" name="">
            <a:extLst xmlns:a="http://schemas.openxmlformats.org/drawingml/2006/main">
              <a:ext uri="{FF2B5EF4-FFF2-40B4-BE49-F238E27FC236}">
                <a16:creationId xmlns:a16="http://schemas.microsoft.com/office/drawing/2014/main" id="{CE38914C-7F68-4F70-ABDC-DC7F91DAA2C4}"/>
              </a:ext>
            </a:extLst>
          </p:cNvPr>
          <p:cNvSpPr>
            <a:spLocks xmlns:a="http://schemas.openxmlformats.org/drawingml/2006/main" noGrp="1"/>
          </p:cNvSpPr>
          <p:nvPr/>
        </p:nvSpPr>
        <p:spPr>
          <a:xfrm xmlns:a="http://schemas.openxmlformats.org/drawingml/2006/main">
            <a:off x="819150" y="40957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5" name="">
            <a:extLst xmlns:a="http://schemas.openxmlformats.org/drawingml/2006/main">
              <a:ext uri="{FF2B5EF4-FFF2-40B4-BE49-F238E27FC236}">
                <a16:creationId xmlns:a16="http://schemas.microsoft.com/office/drawing/2014/main" id="{F9714F05-1EB1-4893-806F-EB496F4948A0}"/>
              </a:ext>
            </a:extLst>
          </p:cNvPr>
          <p:cNvSpPr>
            <a:spLocks xmlns:a="http://schemas.openxmlformats.org/drawingml/2006/main" noGrp="1"/>
          </p:cNvSpPr>
          <p:nvPr/>
        </p:nvSpPr>
        <p:spPr>
          <a:xfrm xmlns:a="http://schemas.openxmlformats.org/drawingml/2006/main">
            <a:off x="952500" y="42100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Leads</a:t>
            </a:r>
          </a:p>
        </p:txBody>
      </p:sp>
      <p:sp>
        <p:nvSpPr>
          <p:cNvPr id="16" name="">
            <a:extLst xmlns:a="http://schemas.openxmlformats.org/drawingml/2006/main">
              <a:ext uri="{FF2B5EF4-FFF2-40B4-BE49-F238E27FC236}">
                <a16:creationId xmlns:a16="http://schemas.microsoft.com/office/drawing/2014/main" id="{CF097C6C-8721-429C-9C08-C4391B879E48}"/>
              </a:ext>
            </a:extLst>
          </p:cNvPr>
          <p:cNvSpPr>
            <a:spLocks xmlns:a="http://schemas.openxmlformats.org/drawingml/2006/main" noGrp="1"/>
          </p:cNvSpPr>
          <p:nvPr/>
        </p:nvSpPr>
        <p:spPr>
          <a:xfrm xmlns:a="http://schemas.openxmlformats.org/drawingml/2006/main">
            <a:off x="3905250" y="42100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newsletter signups, carts, accounts or identified prospects. Example: 7,500 / 30,000.</a:t>
            </a:r>
          </a:p>
        </p:txBody>
      </p:sp>
      <p:sp>
        <p:nvSpPr>
          <p:cNvPr id="17" name="">
            <a:extLst xmlns:a="http://schemas.openxmlformats.org/drawingml/2006/main">
              <a:ext uri="{FF2B5EF4-FFF2-40B4-BE49-F238E27FC236}">
                <a16:creationId xmlns:a16="http://schemas.microsoft.com/office/drawing/2014/main" id="{324B0BE1-F9DA-47AB-A7FE-E98C48F0EEA0}"/>
              </a:ext>
            </a:extLst>
          </p:cNvPr>
          <p:cNvSpPr>
            <a:spLocks xmlns:a="http://schemas.openxmlformats.org/drawingml/2006/main" noGrp="1"/>
          </p:cNvSpPr>
          <p:nvPr/>
        </p:nvSpPr>
        <p:spPr>
          <a:xfrm xmlns:a="http://schemas.openxmlformats.org/drawingml/2006/main">
            <a:off x="819150" y="476250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8" name="">
            <a:extLst xmlns:a="http://schemas.openxmlformats.org/drawingml/2006/main">
              <a:ext uri="{FF2B5EF4-FFF2-40B4-BE49-F238E27FC236}">
                <a16:creationId xmlns:a16="http://schemas.microsoft.com/office/drawing/2014/main" id="{C1538B83-EE88-4F82-B60A-B446763E15AA}"/>
              </a:ext>
            </a:extLst>
          </p:cNvPr>
          <p:cNvSpPr>
            <a:spLocks xmlns:a="http://schemas.openxmlformats.org/drawingml/2006/main" noGrp="1"/>
          </p:cNvSpPr>
          <p:nvPr/>
        </p:nvSpPr>
        <p:spPr>
          <a:xfrm xmlns:a="http://schemas.openxmlformats.org/drawingml/2006/main">
            <a:off x="952500" y="48768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Clients</a:t>
            </a:r>
          </a:p>
        </p:txBody>
      </p:sp>
      <p:sp>
        <p:nvSpPr>
          <p:cNvPr id="19" name="">
            <a:extLst xmlns:a="http://schemas.openxmlformats.org/drawingml/2006/main">
              <a:ext uri="{FF2B5EF4-FFF2-40B4-BE49-F238E27FC236}">
                <a16:creationId xmlns:a16="http://schemas.microsoft.com/office/drawing/2014/main" id="{C3E697DC-6A13-4489-9631-60C526B544E5}"/>
              </a:ext>
            </a:extLst>
          </p:cNvPr>
          <p:cNvSpPr>
            <a:spLocks xmlns:a="http://schemas.openxmlformats.org/drawingml/2006/main" noGrp="1"/>
          </p:cNvSpPr>
          <p:nvPr/>
        </p:nvSpPr>
        <p:spPr>
          <a:xfrm xmlns:a="http://schemas.openxmlformats.org/drawingml/2006/main">
            <a:off x="3905250" y="48768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buyers with purchase history. Example: 12,000 / 40,000.</a:t>
            </a:r>
          </a:p>
        </p:txBody>
      </p:sp>
      <p:sp>
        <p:nvSpPr>
          <p:cNvPr id="20" name="">
            <a:extLst xmlns:a="http://schemas.openxmlformats.org/drawingml/2006/main">
              <a:ext uri="{FF2B5EF4-FFF2-40B4-BE49-F238E27FC236}">
                <a16:creationId xmlns:a16="http://schemas.microsoft.com/office/drawing/2014/main" id="{CE1DB204-790B-48BB-8FED-348DC234B151}"/>
              </a:ext>
            </a:extLst>
          </p:cNvPr>
          <p:cNvSpPr>
            <a:spLocks xmlns:a="http://schemas.openxmlformats.org/drawingml/2006/main" noGrp="1"/>
          </p:cNvSpPr>
          <p:nvPr/>
        </p:nvSpPr>
        <p:spPr>
          <a:xfrm xmlns:a="http://schemas.openxmlformats.org/drawingml/2006/main">
            <a:off x="819150" y="54292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21" name="">
            <a:extLst xmlns:a="http://schemas.openxmlformats.org/drawingml/2006/main">
              <a:ext uri="{FF2B5EF4-FFF2-40B4-BE49-F238E27FC236}">
                <a16:creationId xmlns:a16="http://schemas.microsoft.com/office/drawing/2014/main" id="{DD4F0E8B-1C63-4B5A-B298-51160A23404E}"/>
              </a:ext>
            </a:extLst>
          </p:cNvPr>
          <p:cNvSpPr>
            <a:spLocks xmlns:a="http://schemas.openxmlformats.org/drawingml/2006/main" noGrp="1"/>
          </p:cNvSpPr>
          <p:nvPr/>
        </p:nvSpPr>
        <p:spPr>
          <a:xfrm xmlns:a="http://schemas.openxmlformats.org/drawingml/2006/main">
            <a:off x="952500" y="55435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Promoters</a:t>
            </a:r>
          </a:p>
        </p:txBody>
      </p:sp>
      <p:sp>
        <p:nvSpPr>
          <p:cNvPr id="22" name="">
            <a:extLst xmlns:a="http://schemas.openxmlformats.org/drawingml/2006/main">
              <a:ext uri="{FF2B5EF4-FFF2-40B4-BE49-F238E27FC236}">
                <a16:creationId xmlns:a16="http://schemas.microsoft.com/office/drawing/2014/main" id="{E6380B68-601D-4E27-9309-0FC4502A6A57}"/>
              </a:ext>
            </a:extLst>
          </p:cNvPr>
          <p:cNvSpPr>
            <a:spLocks xmlns:a="http://schemas.openxmlformats.org/drawingml/2006/main" noGrp="1"/>
          </p:cNvSpPr>
          <p:nvPr/>
        </p:nvSpPr>
        <p:spPr>
          <a:xfrm xmlns:a="http://schemas.openxmlformats.org/drawingml/2006/main">
            <a:off x="3905250" y="55435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reviewers, high NPS customers or referral users. Example: 1,800 / 10,000.</a:t>
            </a:r>
          </a:p>
        </p:txBody>
      </p:sp>
    </p:spTree>
    <p:extLst>
      <p:ext uri="{BB962C8B-B14F-4D97-AF65-F5344CB8AC3E}">
        <p14:creationId xmlns:p14="http://schemas.microsoft.com/office/powerpoint/2010/main" val="64298198"/>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D174100-3AAE-4343-BF93-F43254113CF5}"/>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C5BD6AA0-E877-450A-942F-56B411F4D9FC}"/>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A6E3FB10-3BD7-4490-9C17-930C9B405BE4}"/>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60834CC8-AA8E-4C6E-955B-C18AEF2C2828}"/>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Content: fill the offer and message side</a:t>
            </a:r>
          </a:p>
        </p:txBody>
      </p:sp>
      <p:sp>
        <p:nvSpPr>
          <p:cNvPr id="5" name="">
            <a:extLst xmlns:a="http://schemas.openxmlformats.org/drawingml/2006/main">
              <a:ext uri="{FF2B5EF4-FFF2-40B4-BE49-F238E27FC236}">
                <a16:creationId xmlns:a16="http://schemas.microsoft.com/office/drawing/2014/main" id="{77326F64-988D-49EB-89FB-A8FB27D03734}"/>
              </a:ext>
            </a:extLst>
          </p:cNvPr>
          <p:cNvSpPr>
            <a:spLocks xmlns:a="http://schemas.openxmlformats.org/drawingml/2006/main" noGrp="1"/>
          </p:cNvSpPr>
          <p:nvPr/>
        </p:nvSpPr>
        <p:spPr>
          <a:xfrm xmlns:a="http://schemas.openxmlformats.org/drawingml/2006/main">
            <a:off x="819150" y="2095500"/>
            <a:ext cx="10287000" cy="590550"/>
          </a:xfrm>
          <a:prstGeom xmlns:a="http://schemas.openxmlformats.org/drawingml/2006/main" prst="roundRect">
            <a:avLst>
              <a:gd name="adj" fmla="val 12903"/>
            </a:avLst>
          </a:prstGeom>
          <a:solidFill xmlns:a="http://schemas.openxmlformats.org/drawingml/2006/main">
            <a:srgbClr val="003B5C"/>
          </a:solidFill>
          <a:ln xmlns:a="http://schemas.openxmlformats.org/drawingml/2006/main" w="9525">
            <a:solidFill>
              <a:srgbClr val="003B5C"/>
            </a:solidFill>
            <a:prstDash val="solid"/>
          </a:ln>
        </p:spPr>
      </p:sp>
      <p:sp>
        <p:nvSpPr>
          <p:cNvPr id="6" name="">
            <a:extLst xmlns:a="http://schemas.openxmlformats.org/drawingml/2006/main">
              <a:ext uri="{FF2B5EF4-FFF2-40B4-BE49-F238E27FC236}">
                <a16:creationId xmlns:a16="http://schemas.microsoft.com/office/drawing/2014/main" id="{6D4AFDCF-26FD-40B1-B526-1EB6A909141D}"/>
              </a:ext>
            </a:extLst>
          </p:cNvPr>
          <p:cNvSpPr>
            <a:spLocks xmlns:a="http://schemas.openxmlformats.org/drawingml/2006/main" noGrp="1"/>
          </p:cNvSpPr>
          <p:nvPr/>
        </p:nvSpPr>
        <p:spPr>
          <a:xfrm xmlns:a="http://schemas.openxmlformats.org/drawingml/2006/main">
            <a:off x="952500" y="22098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Node</a:t>
            </a:r>
          </a:p>
        </p:txBody>
      </p:sp>
      <p:sp>
        <p:nvSpPr>
          <p:cNvPr id="7" name="">
            <a:extLst xmlns:a="http://schemas.openxmlformats.org/drawingml/2006/main">
              <a:ext uri="{FF2B5EF4-FFF2-40B4-BE49-F238E27FC236}">
                <a16:creationId xmlns:a16="http://schemas.microsoft.com/office/drawing/2014/main" id="{24625454-E57D-4104-965A-27FA55B98ED2}"/>
              </a:ext>
            </a:extLst>
          </p:cNvPr>
          <p:cNvSpPr>
            <a:spLocks xmlns:a="http://schemas.openxmlformats.org/drawingml/2006/main" noGrp="1"/>
          </p:cNvSpPr>
          <p:nvPr/>
        </p:nvSpPr>
        <p:spPr>
          <a:xfrm xmlns:a="http://schemas.openxmlformats.org/drawingml/2006/main">
            <a:off x="3905250" y="22098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What it means and why it matters</a:t>
            </a:r>
          </a:p>
        </p:txBody>
      </p:sp>
      <p:sp>
        <p:nvSpPr>
          <p:cNvPr id="8" name="">
            <a:extLst xmlns:a="http://schemas.openxmlformats.org/drawingml/2006/main">
              <a:ext uri="{FF2B5EF4-FFF2-40B4-BE49-F238E27FC236}">
                <a16:creationId xmlns:a16="http://schemas.microsoft.com/office/drawing/2014/main" id="{1F9B1641-5471-4E13-ADD2-BCE1AC707F4B}"/>
              </a:ext>
            </a:extLst>
          </p:cNvPr>
          <p:cNvSpPr>
            <a:spLocks xmlns:a="http://schemas.openxmlformats.org/drawingml/2006/main" noGrp="1"/>
          </p:cNvSpPr>
          <p:nvPr/>
        </p:nvSpPr>
        <p:spPr>
          <a:xfrm xmlns:a="http://schemas.openxmlformats.org/drawingml/2006/main">
            <a:off x="819150" y="27622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9" name="">
            <a:extLst xmlns:a="http://schemas.openxmlformats.org/drawingml/2006/main">
              <a:ext uri="{FF2B5EF4-FFF2-40B4-BE49-F238E27FC236}">
                <a16:creationId xmlns:a16="http://schemas.microsoft.com/office/drawing/2014/main" id="{A5266E93-3740-4A85-8FD4-D423EC9DEC54}"/>
              </a:ext>
            </a:extLst>
          </p:cNvPr>
          <p:cNvSpPr>
            <a:spLocks xmlns:a="http://schemas.openxmlformats.org/drawingml/2006/main" noGrp="1"/>
          </p:cNvSpPr>
          <p:nvPr/>
        </p:nvSpPr>
        <p:spPr>
          <a:xfrm xmlns:a="http://schemas.openxmlformats.org/drawingml/2006/main">
            <a:off x="952500" y="28765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SEO</a:t>
            </a:r>
          </a:p>
        </p:txBody>
      </p:sp>
      <p:sp>
        <p:nvSpPr>
          <p:cNvPr id="10" name="">
            <a:extLst xmlns:a="http://schemas.openxmlformats.org/drawingml/2006/main">
              <a:ext uri="{FF2B5EF4-FFF2-40B4-BE49-F238E27FC236}">
                <a16:creationId xmlns:a16="http://schemas.microsoft.com/office/drawing/2014/main" id="{C914F80D-70AE-4C5D-B3B6-00A6AE6057A8}"/>
              </a:ext>
            </a:extLst>
          </p:cNvPr>
          <p:cNvSpPr>
            <a:spLocks xmlns:a="http://schemas.openxmlformats.org/drawingml/2006/main" noGrp="1"/>
          </p:cNvSpPr>
          <p:nvPr/>
        </p:nvSpPr>
        <p:spPr>
          <a:xfrm xmlns:a="http://schemas.openxmlformats.org/drawingml/2006/main">
            <a:off x="3905250" y="28765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Organic search demand for shirts, club store, local football merchandise and tourism-related searches.</a:t>
            </a:r>
          </a:p>
        </p:txBody>
      </p:sp>
      <p:sp>
        <p:nvSpPr>
          <p:cNvPr id="11" name="">
            <a:extLst xmlns:a="http://schemas.openxmlformats.org/drawingml/2006/main">
              <a:ext uri="{FF2B5EF4-FFF2-40B4-BE49-F238E27FC236}">
                <a16:creationId xmlns:a16="http://schemas.microsoft.com/office/drawing/2014/main" id="{6A29B3A4-75A0-4915-BE27-2707B4C27F21}"/>
              </a:ext>
            </a:extLst>
          </p:cNvPr>
          <p:cNvSpPr>
            <a:spLocks xmlns:a="http://schemas.openxmlformats.org/drawingml/2006/main" noGrp="1"/>
          </p:cNvSpPr>
          <p:nvPr/>
        </p:nvSpPr>
        <p:spPr>
          <a:xfrm xmlns:a="http://schemas.openxmlformats.org/drawingml/2006/main">
            <a:off x="819150" y="342900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2" name="">
            <a:extLst xmlns:a="http://schemas.openxmlformats.org/drawingml/2006/main">
              <a:ext uri="{FF2B5EF4-FFF2-40B4-BE49-F238E27FC236}">
                <a16:creationId xmlns:a16="http://schemas.microsoft.com/office/drawing/2014/main" id="{9556D9B8-7E6C-4BDE-9EAA-4F3A5B9D8B77}"/>
              </a:ext>
            </a:extLst>
          </p:cNvPr>
          <p:cNvSpPr>
            <a:spLocks xmlns:a="http://schemas.openxmlformats.org/drawingml/2006/main" noGrp="1"/>
          </p:cNvSpPr>
          <p:nvPr/>
        </p:nvSpPr>
        <p:spPr>
          <a:xfrm xmlns:a="http://schemas.openxmlformats.org/drawingml/2006/main">
            <a:off x="952500" y="35433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Paid media</a:t>
            </a:r>
          </a:p>
        </p:txBody>
      </p:sp>
      <p:sp>
        <p:nvSpPr>
          <p:cNvPr id="13" name="">
            <a:extLst xmlns:a="http://schemas.openxmlformats.org/drawingml/2006/main">
              <a:ext uri="{FF2B5EF4-FFF2-40B4-BE49-F238E27FC236}">
                <a16:creationId xmlns:a16="http://schemas.microsoft.com/office/drawing/2014/main" id="{37B19E6C-0B18-436A-BDEF-0BDDECE89071}"/>
              </a:ext>
            </a:extLst>
          </p:cNvPr>
          <p:cNvSpPr>
            <a:spLocks xmlns:a="http://schemas.openxmlformats.org/drawingml/2006/main" noGrp="1"/>
          </p:cNvSpPr>
          <p:nvPr/>
        </p:nvSpPr>
        <p:spPr>
          <a:xfrm xmlns:a="http://schemas.openxmlformats.org/drawingml/2006/main">
            <a:off x="3905250" y="35433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Campaign reach and budget-driven traffic. It can accelerate sales but increases communication cost.</a:t>
            </a:r>
          </a:p>
        </p:txBody>
      </p:sp>
      <p:sp>
        <p:nvSpPr>
          <p:cNvPr id="14" name="">
            <a:extLst xmlns:a="http://schemas.openxmlformats.org/drawingml/2006/main">
              <a:ext uri="{FF2B5EF4-FFF2-40B4-BE49-F238E27FC236}">
                <a16:creationId xmlns:a16="http://schemas.microsoft.com/office/drawing/2014/main" id="{A1CD64AF-F927-400B-B5BD-24D1CD5CFD9C}"/>
              </a:ext>
            </a:extLst>
          </p:cNvPr>
          <p:cNvSpPr>
            <a:spLocks xmlns:a="http://schemas.openxmlformats.org/drawingml/2006/main" noGrp="1"/>
          </p:cNvSpPr>
          <p:nvPr/>
        </p:nvSpPr>
        <p:spPr>
          <a:xfrm xmlns:a="http://schemas.openxmlformats.org/drawingml/2006/main">
            <a:off x="819150" y="40957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5" name="">
            <a:extLst xmlns:a="http://schemas.openxmlformats.org/drawingml/2006/main">
              <a:ext uri="{FF2B5EF4-FFF2-40B4-BE49-F238E27FC236}">
                <a16:creationId xmlns:a16="http://schemas.microsoft.com/office/drawing/2014/main" id="{4D116716-3DB9-43DD-A890-B9E7CA0CBF84}"/>
              </a:ext>
            </a:extLst>
          </p:cNvPr>
          <p:cNvSpPr>
            <a:spLocks xmlns:a="http://schemas.openxmlformats.org/drawingml/2006/main" noGrp="1"/>
          </p:cNvSpPr>
          <p:nvPr/>
        </p:nvSpPr>
        <p:spPr>
          <a:xfrm xmlns:a="http://schemas.openxmlformats.org/drawingml/2006/main">
            <a:off x="952500" y="42100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Email</a:t>
            </a:r>
          </a:p>
        </p:txBody>
      </p:sp>
      <p:sp>
        <p:nvSpPr>
          <p:cNvPr id="16" name="">
            <a:extLst xmlns:a="http://schemas.openxmlformats.org/drawingml/2006/main">
              <a:ext uri="{FF2B5EF4-FFF2-40B4-BE49-F238E27FC236}">
                <a16:creationId xmlns:a16="http://schemas.microsoft.com/office/drawing/2014/main" id="{0BD969D5-E9BE-4919-84C6-F4C5DBB2203C}"/>
              </a:ext>
            </a:extLst>
          </p:cNvPr>
          <p:cNvSpPr>
            <a:spLocks xmlns:a="http://schemas.openxmlformats.org/drawingml/2006/main" noGrp="1"/>
          </p:cNvSpPr>
          <p:nvPr/>
        </p:nvSpPr>
        <p:spPr>
          <a:xfrm xmlns:a="http://schemas.openxmlformats.org/drawingml/2006/main">
            <a:off x="3905250" y="42100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Direct owned communication with fans, buyers and subscribers.</a:t>
            </a:r>
          </a:p>
        </p:txBody>
      </p:sp>
      <p:sp>
        <p:nvSpPr>
          <p:cNvPr id="17" name="">
            <a:extLst xmlns:a="http://schemas.openxmlformats.org/drawingml/2006/main">
              <a:ext uri="{FF2B5EF4-FFF2-40B4-BE49-F238E27FC236}">
                <a16:creationId xmlns:a16="http://schemas.microsoft.com/office/drawing/2014/main" id="{F043BA74-851E-4C67-872D-5600E0385609}"/>
              </a:ext>
            </a:extLst>
          </p:cNvPr>
          <p:cNvSpPr>
            <a:spLocks xmlns:a="http://schemas.openxmlformats.org/drawingml/2006/main" noGrp="1"/>
          </p:cNvSpPr>
          <p:nvPr/>
        </p:nvSpPr>
        <p:spPr>
          <a:xfrm xmlns:a="http://schemas.openxmlformats.org/drawingml/2006/main">
            <a:off x="819150" y="476250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8" name="">
            <a:extLst xmlns:a="http://schemas.openxmlformats.org/drawingml/2006/main">
              <a:ext uri="{FF2B5EF4-FFF2-40B4-BE49-F238E27FC236}">
                <a16:creationId xmlns:a16="http://schemas.microsoft.com/office/drawing/2014/main" id="{7F54AFCB-8A0F-4FE1-9BE2-CECCDC92EF3E}"/>
              </a:ext>
            </a:extLst>
          </p:cNvPr>
          <p:cNvSpPr>
            <a:spLocks xmlns:a="http://schemas.openxmlformats.org/drawingml/2006/main" noGrp="1"/>
          </p:cNvSpPr>
          <p:nvPr/>
        </p:nvSpPr>
        <p:spPr>
          <a:xfrm xmlns:a="http://schemas.openxmlformats.org/drawingml/2006/main">
            <a:off x="952500" y="48768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Product</a:t>
            </a:r>
          </a:p>
        </p:txBody>
      </p:sp>
      <p:sp>
        <p:nvSpPr>
          <p:cNvPr id="19" name="">
            <a:extLst xmlns:a="http://schemas.openxmlformats.org/drawingml/2006/main">
              <a:ext uri="{FF2B5EF4-FFF2-40B4-BE49-F238E27FC236}">
                <a16:creationId xmlns:a16="http://schemas.microsoft.com/office/drawing/2014/main" id="{286AD47B-F27D-4B78-8C84-A892590EAA79}"/>
              </a:ext>
            </a:extLst>
          </p:cNvPr>
          <p:cNvSpPr>
            <a:spLocks xmlns:a="http://schemas.openxmlformats.org/drawingml/2006/main" noGrp="1"/>
          </p:cNvSpPr>
          <p:nvPr/>
        </p:nvSpPr>
        <p:spPr>
          <a:xfrm xmlns:a="http://schemas.openxmlformats.org/drawingml/2006/main">
            <a:off x="3905250" y="48768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The quality and clarity of the offer: shirt, scarf, pack, delivery, discount or launch.</a:t>
            </a:r>
          </a:p>
        </p:txBody>
      </p:sp>
      <p:sp>
        <p:nvSpPr>
          <p:cNvPr id="20" name="">
            <a:extLst xmlns:a="http://schemas.openxmlformats.org/drawingml/2006/main">
              <a:ext uri="{FF2B5EF4-FFF2-40B4-BE49-F238E27FC236}">
                <a16:creationId xmlns:a16="http://schemas.microsoft.com/office/drawing/2014/main" id="{B9669321-F756-4468-AC4B-475CFCDAD1F3}"/>
              </a:ext>
            </a:extLst>
          </p:cNvPr>
          <p:cNvSpPr>
            <a:spLocks xmlns:a="http://schemas.openxmlformats.org/drawingml/2006/main" noGrp="1"/>
          </p:cNvSpPr>
          <p:nvPr/>
        </p:nvSpPr>
        <p:spPr>
          <a:xfrm xmlns:a="http://schemas.openxmlformats.org/drawingml/2006/main">
            <a:off x="819150" y="54292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21" name="">
            <a:extLst xmlns:a="http://schemas.openxmlformats.org/drawingml/2006/main">
              <a:ext uri="{FF2B5EF4-FFF2-40B4-BE49-F238E27FC236}">
                <a16:creationId xmlns:a16="http://schemas.microsoft.com/office/drawing/2014/main" id="{EB69822B-520B-4270-9F1E-F93559AB9C9A}"/>
              </a:ext>
            </a:extLst>
          </p:cNvPr>
          <p:cNvSpPr>
            <a:spLocks xmlns:a="http://schemas.openxmlformats.org/drawingml/2006/main" noGrp="1"/>
          </p:cNvSpPr>
          <p:nvPr/>
        </p:nvSpPr>
        <p:spPr>
          <a:xfrm xmlns:a="http://schemas.openxmlformats.org/drawingml/2006/main">
            <a:off x="952500" y="55435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Brand</a:t>
            </a:r>
          </a:p>
        </p:txBody>
      </p:sp>
      <p:sp>
        <p:nvSpPr>
          <p:cNvPr id="22" name="">
            <a:extLst xmlns:a="http://schemas.openxmlformats.org/drawingml/2006/main">
              <a:ext uri="{FF2B5EF4-FFF2-40B4-BE49-F238E27FC236}">
                <a16:creationId xmlns:a16="http://schemas.microsoft.com/office/drawing/2014/main" id="{AB939BE2-6554-4D51-A216-2B0C146916A8}"/>
              </a:ext>
            </a:extLst>
          </p:cNvPr>
          <p:cNvSpPr>
            <a:spLocks xmlns:a="http://schemas.openxmlformats.org/drawingml/2006/main" noGrp="1"/>
          </p:cNvSpPr>
          <p:nvPr/>
        </p:nvSpPr>
        <p:spPr>
          <a:xfrm xmlns:a="http://schemas.openxmlformats.org/drawingml/2006/main">
            <a:off x="3905250" y="55435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Trust, reputation, emotional connection and club identity.</a:t>
            </a:r>
          </a:p>
        </p:txBody>
      </p:sp>
    </p:spTree>
    <p:extLst>
      <p:ext uri="{BB962C8B-B14F-4D97-AF65-F5344CB8AC3E}">
        <p14:creationId xmlns:p14="http://schemas.microsoft.com/office/powerpoint/2010/main" val="20119795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6BE25C7-818D-456F-834B-A3CD3D33DBA2}"/>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18512A64-2836-4961-9F8A-8091E2864B75}"/>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810BE248-85AF-4F32-AF4A-B757A7FBD126}"/>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BB63155F-616B-489E-A7D6-4156AB71F4F5}"/>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Infrastructure: fill the machine that carries the relationship</a:t>
            </a:r>
          </a:p>
        </p:txBody>
      </p:sp>
      <p:sp>
        <p:nvSpPr>
          <p:cNvPr id="5" name="">
            <a:extLst xmlns:a="http://schemas.openxmlformats.org/drawingml/2006/main">
              <a:ext uri="{FF2B5EF4-FFF2-40B4-BE49-F238E27FC236}">
                <a16:creationId xmlns:a16="http://schemas.microsoft.com/office/drawing/2014/main" id="{F7D12A90-62A3-44ED-8298-B4DE9AC8A8AB}"/>
              </a:ext>
            </a:extLst>
          </p:cNvPr>
          <p:cNvSpPr>
            <a:spLocks xmlns:a="http://schemas.openxmlformats.org/drawingml/2006/main" noGrp="1"/>
          </p:cNvSpPr>
          <p:nvPr/>
        </p:nvSpPr>
        <p:spPr>
          <a:xfrm xmlns:a="http://schemas.openxmlformats.org/drawingml/2006/main">
            <a:off x="819150" y="2095500"/>
            <a:ext cx="10287000" cy="590550"/>
          </a:xfrm>
          <a:prstGeom xmlns:a="http://schemas.openxmlformats.org/drawingml/2006/main" prst="roundRect">
            <a:avLst>
              <a:gd name="adj" fmla="val 12903"/>
            </a:avLst>
          </a:prstGeom>
          <a:solidFill xmlns:a="http://schemas.openxmlformats.org/drawingml/2006/main">
            <a:srgbClr val="003B5C"/>
          </a:solidFill>
          <a:ln xmlns:a="http://schemas.openxmlformats.org/drawingml/2006/main" w="9525">
            <a:solidFill>
              <a:srgbClr val="003B5C"/>
            </a:solidFill>
            <a:prstDash val="solid"/>
          </a:ln>
        </p:spPr>
      </p:sp>
      <p:sp>
        <p:nvSpPr>
          <p:cNvPr id="6" name="">
            <a:extLst xmlns:a="http://schemas.openxmlformats.org/drawingml/2006/main">
              <a:ext uri="{FF2B5EF4-FFF2-40B4-BE49-F238E27FC236}">
                <a16:creationId xmlns:a16="http://schemas.microsoft.com/office/drawing/2014/main" id="{2AF7A679-4E15-478A-888E-B84B8B1D8E9E}"/>
              </a:ext>
            </a:extLst>
          </p:cNvPr>
          <p:cNvSpPr>
            <a:spLocks xmlns:a="http://schemas.openxmlformats.org/drawingml/2006/main" noGrp="1"/>
          </p:cNvSpPr>
          <p:nvPr/>
        </p:nvSpPr>
        <p:spPr>
          <a:xfrm xmlns:a="http://schemas.openxmlformats.org/drawingml/2006/main">
            <a:off x="952500" y="22098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Node</a:t>
            </a:r>
          </a:p>
        </p:txBody>
      </p:sp>
      <p:sp>
        <p:nvSpPr>
          <p:cNvPr id="7" name="">
            <a:extLst xmlns:a="http://schemas.openxmlformats.org/drawingml/2006/main">
              <a:ext uri="{FF2B5EF4-FFF2-40B4-BE49-F238E27FC236}">
                <a16:creationId xmlns:a16="http://schemas.microsoft.com/office/drawing/2014/main" id="{BABD6FD0-3269-4183-B12E-C36937D7E93B}"/>
              </a:ext>
            </a:extLst>
          </p:cNvPr>
          <p:cNvSpPr>
            <a:spLocks xmlns:a="http://schemas.openxmlformats.org/drawingml/2006/main" noGrp="1"/>
          </p:cNvSpPr>
          <p:nvPr/>
        </p:nvSpPr>
        <p:spPr>
          <a:xfrm xmlns:a="http://schemas.openxmlformats.org/drawingml/2006/main">
            <a:off x="3905250" y="22098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What to enter and why</a:t>
            </a:r>
          </a:p>
        </p:txBody>
      </p:sp>
      <p:sp>
        <p:nvSpPr>
          <p:cNvPr id="8" name="">
            <a:extLst xmlns:a="http://schemas.openxmlformats.org/drawingml/2006/main">
              <a:ext uri="{FF2B5EF4-FFF2-40B4-BE49-F238E27FC236}">
                <a16:creationId xmlns:a16="http://schemas.microsoft.com/office/drawing/2014/main" id="{3F70B2BA-3BA3-4099-8B39-87DB9CB2FE80}"/>
              </a:ext>
            </a:extLst>
          </p:cNvPr>
          <p:cNvSpPr>
            <a:spLocks xmlns:a="http://schemas.openxmlformats.org/drawingml/2006/main" noGrp="1"/>
          </p:cNvSpPr>
          <p:nvPr/>
        </p:nvSpPr>
        <p:spPr>
          <a:xfrm xmlns:a="http://schemas.openxmlformats.org/drawingml/2006/main">
            <a:off x="819150" y="27622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9" name="">
            <a:extLst xmlns:a="http://schemas.openxmlformats.org/drawingml/2006/main">
              <a:ext uri="{FF2B5EF4-FFF2-40B4-BE49-F238E27FC236}">
                <a16:creationId xmlns:a16="http://schemas.microsoft.com/office/drawing/2014/main" id="{957ACE72-23F6-4AC1-BE4E-F6181808356E}"/>
              </a:ext>
            </a:extLst>
          </p:cNvPr>
          <p:cNvSpPr>
            <a:spLocks xmlns:a="http://schemas.openxmlformats.org/drawingml/2006/main" noGrp="1"/>
          </p:cNvSpPr>
          <p:nvPr/>
        </p:nvSpPr>
        <p:spPr>
          <a:xfrm xmlns:a="http://schemas.openxmlformats.org/drawingml/2006/main">
            <a:off x="952500" y="28765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Mobile</a:t>
            </a:r>
          </a:p>
        </p:txBody>
      </p:sp>
      <p:sp>
        <p:nvSpPr>
          <p:cNvPr id="10" name="">
            <a:extLst xmlns:a="http://schemas.openxmlformats.org/drawingml/2006/main">
              <a:ext uri="{FF2B5EF4-FFF2-40B4-BE49-F238E27FC236}">
                <a16:creationId xmlns:a16="http://schemas.microsoft.com/office/drawing/2014/main" id="{4EBBB339-E603-4428-8882-1A2F9C6D44B9}"/>
              </a:ext>
            </a:extLst>
          </p:cNvPr>
          <p:cNvSpPr>
            <a:spLocks xmlns:a="http://schemas.openxmlformats.org/drawingml/2006/main" noGrp="1"/>
          </p:cNvSpPr>
          <p:nvPr/>
        </p:nvSpPr>
        <p:spPr>
          <a:xfrm xmlns:a="http://schemas.openxmlformats.org/drawingml/2006/main">
            <a:off x="3905250" y="28765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mobile traffic or orders. Fans often discover and buy from mobile; high fit improves communication.</a:t>
            </a:r>
          </a:p>
        </p:txBody>
      </p:sp>
      <p:sp>
        <p:nvSpPr>
          <p:cNvPr id="11" name="">
            <a:extLst xmlns:a="http://schemas.openxmlformats.org/drawingml/2006/main">
              <a:ext uri="{FF2B5EF4-FFF2-40B4-BE49-F238E27FC236}">
                <a16:creationId xmlns:a16="http://schemas.microsoft.com/office/drawing/2014/main" id="{7705A765-D049-40B0-AFC4-CCC82EDB3308}"/>
              </a:ext>
            </a:extLst>
          </p:cNvPr>
          <p:cNvSpPr>
            <a:spLocks xmlns:a="http://schemas.openxmlformats.org/drawingml/2006/main" noGrp="1"/>
          </p:cNvSpPr>
          <p:nvPr/>
        </p:nvSpPr>
        <p:spPr>
          <a:xfrm xmlns:a="http://schemas.openxmlformats.org/drawingml/2006/main">
            <a:off x="819150" y="342900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2" name="">
            <a:extLst xmlns:a="http://schemas.openxmlformats.org/drawingml/2006/main">
              <a:ext uri="{FF2B5EF4-FFF2-40B4-BE49-F238E27FC236}">
                <a16:creationId xmlns:a16="http://schemas.microsoft.com/office/drawing/2014/main" id="{846B4A9D-D3DA-4DFE-A8FA-BF0563F17654}"/>
              </a:ext>
            </a:extLst>
          </p:cNvPr>
          <p:cNvSpPr>
            <a:spLocks xmlns:a="http://schemas.openxmlformats.org/drawingml/2006/main" noGrp="1"/>
          </p:cNvSpPr>
          <p:nvPr/>
        </p:nvSpPr>
        <p:spPr>
          <a:xfrm xmlns:a="http://schemas.openxmlformats.org/drawingml/2006/main">
            <a:off x="952500" y="35433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Ecommerce</a:t>
            </a:r>
          </a:p>
        </p:txBody>
      </p:sp>
      <p:sp>
        <p:nvSpPr>
          <p:cNvPr id="13" name="">
            <a:extLst xmlns:a="http://schemas.openxmlformats.org/drawingml/2006/main">
              <a:ext uri="{FF2B5EF4-FFF2-40B4-BE49-F238E27FC236}">
                <a16:creationId xmlns:a16="http://schemas.microsoft.com/office/drawing/2014/main" id="{7F2C2468-1420-46F6-9EEA-C5BDF77BFFEF}"/>
              </a:ext>
            </a:extLst>
          </p:cNvPr>
          <p:cNvSpPr>
            <a:spLocks xmlns:a="http://schemas.openxmlformats.org/drawingml/2006/main" noGrp="1"/>
          </p:cNvSpPr>
          <p:nvPr/>
        </p:nvSpPr>
        <p:spPr>
          <a:xfrm xmlns:a="http://schemas.openxmlformats.org/drawingml/2006/main">
            <a:off x="3905250" y="35433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ecommerce capability or transaction volume. It connects content with revenue.</a:t>
            </a:r>
          </a:p>
        </p:txBody>
      </p:sp>
      <p:sp>
        <p:nvSpPr>
          <p:cNvPr id="14" name="">
            <a:extLst xmlns:a="http://schemas.openxmlformats.org/drawingml/2006/main">
              <a:ext uri="{FF2B5EF4-FFF2-40B4-BE49-F238E27FC236}">
                <a16:creationId xmlns:a16="http://schemas.microsoft.com/office/drawing/2014/main" id="{CF5CA372-7813-4E16-9F35-6FCC176933A3}"/>
              </a:ext>
            </a:extLst>
          </p:cNvPr>
          <p:cNvSpPr>
            <a:spLocks xmlns:a="http://schemas.openxmlformats.org/drawingml/2006/main" noGrp="1"/>
          </p:cNvSpPr>
          <p:nvPr/>
        </p:nvSpPr>
        <p:spPr>
          <a:xfrm xmlns:a="http://schemas.openxmlformats.org/drawingml/2006/main">
            <a:off x="819150" y="40957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5" name="">
            <a:extLst xmlns:a="http://schemas.openxmlformats.org/drawingml/2006/main">
              <a:ext uri="{FF2B5EF4-FFF2-40B4-BE49-F238E27FC236}">
                <a16:creationId xmlns:a16="http://schemas.microsoft.com/office/drawing/2014/main" id="{F3BFCD74-8102-4583-BAD6-7ACF46208A07}"/>
              </a:ext>
            </a:extLst>
          </p:cNvPr>
          <p:cNvSpPr>
            <a:spLocks xmlns:a="http://schemas.openxmlformats.org/drawingml/2006/main" noGrp="1"/>
          </p:cNvSpPr>
          <p:nvPr/>
        </p:nvSpPr>
        <p:spPr>
          <a:xfrm xmlns:a="http://schemas.openxmlformats.org/drawingml/2006/main">
            <a:off x="952500" y="42100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CRM</a:t>
            </a:r>
          </a:p>
        </p:txBody>
      </p:sp>
      <p:sp>
        <p:nvSpPr>
          <p:cNvPr id="16" name="">
            <a:extLst xmlns:a="http://schemas.openxmlformats.org/drawingml/2006/main">
              <a:ext uri="{FF2B5EF4-FFF2-40B4-BE49-F238E27FC236}">
                <a16:creationId xmlns:a16="http://schemas.microsoft.com/office/drawing/2014/main" id="{4B0FDE68-7C1E-44C6-9669-2F9EA5CD4778}"/>
              </a:ext>
            </a:extLst>
          </p:cNvPr>
          <p:cNvSpPr>
            <a:spLocks xmlns:a="http://schemas.openxmlformats.org/drawingml/2006/main" noGrp="1"/>
          </p:cNvSpPr>
          <p:nvPr/>
        </p:nvSpPr>
        <p:spPr>
          <a:xfrm xmlns:a="http://schemas.openxmlformats.org/drawingml/2006/main">
            <a:off x="3905250" y="42100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CRM maturity or active customer records. CRM matters because it lets the club remember and personalize the relationship.</a:t>
            </a:r>
          </a:p>
        </p:txBody>
      </p:sp>
      <p:sp>
        <p:nvSpPr>
          <p:cNvPr id="17" name="">
            <a:extLst xmlns:a="http://schemas.openxmlformats.org/drawingml/2006/main">
              <a:ext uri="{FF2B5EF4-FFF2-40B4-BE49-F238E27FC236}">
                <a16:creationId xmlns:a16="http://schemas.microsoft.com/office/drawing/2014/main" id="{F766B4C1-51A5-4406-A26D-18D339260EE0}"/>
              </a:ext>
            </a:extLst>
          </p:cNvPr>
          <p:cNvSpPr>
            <a:spLocks xmlns:a="http://schemas.openxmlformats.org/drawingml/2006/main" noGrp="1"/>
          </p:cNvSpPr>
          <p:nvPr/>
        </p:nvSpPr>
        <p:spPr>
          <a:xfrm xmlns:a="http://schemas.openxmlformats.org/drawingml/2006/main">
            <a:off x="819150" y="476250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18" name="">
            <a:extLst xmlns:a="http://schemas.openxmlformats.org/drawingml/2006/main">
              <a:ext uri="{FF2B5EF4-FFF2-40B4-BE49-F238E27FC236}">
                <a16:creationId xmlns:a16="http://schemas.microsoft.com/office/drawing/2014/main" id="{55CFE959-A467-4802-A8F9-07F5383887DA}"/>
              </a:ext>
            </a:extLst>
          </p:cNvPr>
          <p:cNvSpPr>
            <a:spLocks xmlns:a="http://schemas.openxmlformats.org/drawingml/2006/main" noGrp="1"/>
          </p:cNvSpPr>
          <p:nvPr/>
        </p:nvSpPr>
        <p:spPr>
          <a:xfrm xmlns:a="http://schemas.openxmlformats.org/drawingml/2006/main">
            <a:off x="952500" y="487680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Analytics</a:t>
            </a:r>
          </a:p>
        </p:txBody>
      </p:sp>
      <p:sp>
        <p:nvSpPr>
          <p:cNvPr id="19" name="">
            <a:extLst xmlns:a="http://schemas.openxmlformats.org/drawingml/2006/main">
              <a:ext uri="{FF2B5EF4-FFF2-40B4-BE49-F238E27FC236}">
                <a16:creationId xmlns:a16="http://schemas.microsoft.com/office/drawing/2014/main" id="{1D5DC2F0-3B41-4594-91D8-BAF541CC7987}"/>
              </a:ext>
            </a:extLst>
          </p:cNvPr>
          <p:cNvSpPr>
            <a:spLocks xmlns:a="http://schemas.openxmlformats.org/drawingml/2006/main" noGrp="1"/>
          </p:cNvSpPr>
          <p:nvPr/>
        </p:nvSpPr>
        <p:spPr>
          <a:xfrm xmlns:a="http://schemas.openxmlformats.org/drawingml/2006/main">
            <a:off x="3905250" y="487680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measurement coverage. Without analytics, the system cannot learn from behaviour.</a:t>
            </a:r>
          </a:p>
        </p:txBody>
      </p:sp>
      <p:sp>
        <p:nvSpPr>
          <p:cNvPr id="20" name="">
            <a:extLst xmlns:a="http://schemas.openxmlformats.org/drawingml/2006/main">
              <a:ext uri="{FF2B5EF4-FFF2-40B4-BE49-F238E27FC236}">
                <a16:creationId xmlns:a16="http://schemas.microsoft.com/office/drawing/2014/main" id="{C1195BF9-6655-4340-8FA1-68E4D21D927E}"/>
              </a:ext>
            </a:extLst>
          </p:cNvPr>
          <p:cNvSpPr>
            <a:spLocks xmlns:a="http://schemas.openxmlformats.org/drawingml/2006/main" noGrp="1"/>
          </p:cNvSpPr>
          <p:nvPr/>
        </p:nvSpPr>
        <p:spPr>
          <a:xfrm xmlns:a="http://schemas.openxmlformats.org/drawingml/2006/main">
            <a:off x="819150" y="5429250"/>
            <a:ext cx="102870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BDDE8"/>
            </a:solidFill>
            <a:prstDash val="solid"/>
          </a:ln>
        </p:spPr>
      </p:sp>
      <p:sp>
        <p:nvSpPr>
          <p:cNvPr id="21" name="">
            <a:extLst xmlns:a="http://schemas.openxmlformats.org/drawingml/2006/main">
              <a:ext uri="{FF2B5EF4-FFF2-40B4-BE49-F238E27FC236}">
                <a16:creationId xmlns:a16="http://schemas.microsoft.com/office/drawing/2014/main" id="{FB8A0D8B-907A-4A1A-AF04-78FB8639DF5A}"/>
              </a:ext>
            </a:extLst>
          </p:cNvPr>
          <p:cNvSpPr>
            <a:spLocks xmlns:a="http://schemas.openxmlformats.org/drawingml/2006/main" noGrp="1"/>
          </p:cNvSpPr>
          <p:nvPr/>
        </p:nvSpPr>
        <p:spPr>
          <a:xfrm xmlns:a="http://schemas.openxmlformats.org/drawingml/2006/main">
            <a:off x="952500" y="5543550"/>
            <a:ext cx="288036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Workflow AI</a:t>
            </a:r>
          </a:p>
        </p:txBody>
      </p:sp>
      <p:sp>
        <p:nvSpPr>
          <p:cNvPr id="22" name="">
            <a:extLst xmlns:a="http://schemas.openxmlformats.org/drawingml/2006/main">
              <a:ext uri="{FF2B5EF4-FFF2-40B4-BE49-F238E27FC236}">
                <a16:creationId xmlns:a16="http://schemas.microsoft.com/office/drawing/2014/main" id="{DE3D19FC-EA9A-4BF5-B9B5-00E72EBD9A2F}"/>
              </a:ext>
            </a:extLst>
          </p:cNvPr>
          <p:cNvSpPr>
            <a:spLocks xmlns:a="http://schemas.openxmlformats.org/drawingml/2006/main" noGrp="1"/>
          </p:cNvSpPr>
          <p:nvPr/>
        </p:nvSpPr>
        <p:spPr>
          <a:xfrm xmlns:a="http://schemas.openxmlformats.org/drawingml/2006/main">
            <a:off x="3905250" y="5543550"/>
            <a:ext cx="678942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Use automation maturity. It shows whether campaigns, service, stock alerts or follow-ups can run without manual effort.</a:t>
            </a:r>
          </a:p>
        </p:txBody>
      </p:sp>
    </p:spTree>
    <p:extLst>
      <p:ext uri="{BB962C8B-B14F-4D97-AF65-F5344CB8AC3E}">
        <p14:creationId xmlns:p14="http://schemas.microsoft.com/office/powerpoint/2010/main" val="2016519391"/>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1DE109E-EB90-4E37-945D-687326A0E972}"/>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E9B3AEF6-1287-44AA-AA57-5957FD4F3679}"/>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AEFBA140-C76A-413F-BC74-0D14B4E94AF3}"/>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54453CE3-7615-4765-9BE3-F7C31CA0A269}"/>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How to fill each node configuration field</a:t>
            </a:r>
          </a:p>
        </p:txBody>
      </p:sp>
      <p:sp>
        <p:nvSpPr>
          <p:cNvPr id="5" name="">
            <a:extLst xmlns:a="http://schemas.openxmlformats.org/drawingml/2006/main">
              <a:ext uri="{FF2B5EF4-FFF2-40B4-BE49-F238E27FC236}">
                <a16:creationId xmlns:a16="http://schemas.microsoft.com/office/drawing/2014/main" id="{0F09F97D-9D00-46BE-B77F-B802E4A98B83}"/>
              </a:ext>
            </a:extLst>
          </p:cNvPr>
          <p:cNvSpPr>
            <a:spLocks xmlns:a="http://schemas.openxmlformats.org/drawingml/2006/main" noGrp="1"/>
          </p:cNvSpPr>
          <p:nvPr/>
        </p:nvSpPr>
        <p:spPr>
          <a:xfrm xmlns:a="http://schemas.openxmlformats.org/drawingml/2006/main">
            <a:off x="819150" y="1809750"/>
            <a:ext cx="10287000" cy="552450"/>
          </a:xfrm>
          <a:prstGeom xmlns:a="http://schemas.openxmlformats.org/drawingml/2006/main" prst="roundRect">
            <a:avLst>
              <a:gd name="adj" fmla="val 13793"/>
            </a:avLst>
          </a:prstGeom>
          <a:solidFill xmlns:a="http://schemas.openxmlformats.org/drawingml/2006/main">
            <a:srgbClr val="003B5C"/>
          </a:solidFill>
          <a:ln xmlns:a="http://schemas.openxmlformats.org/drawingml/2006/main" w="9525">
            <a:solidFill>
              <a:srgbClr val="003B5C"/>
            </a:solidFill>
            <a:prstDash val="solid"/>
          </a:ln>
        </p:spPr>
      </p:sp>
      <p:sp>
        <p:nvSpPr>
          <p:cNvPr id="6" name="">
            <a:extLst xmlns:a="http://schemas.openxmlformats.org/drawingml/2006/main">
              <a:ext uri="{FF2B5EF4-FFF2-40B4-BE49-F238E27FC236}">
                <a16:creationId xmlns:a16="http://schemas.microsoft.com/office/drawing/2014/main" id="{B0E64FB0-1B33-49D8-9E38-9AFE91C2D106}"/>
              </a:ext>
            </a:extLst>
          </p:cNvPr>
          <p:cNvSpPr>
            <a:spLocks xmlns:a="http://schemas.openxmlformats.org/drawingml/2006/main" noGrp="1"/>
          </p:cNvSpPr>
          <p:nvPr/>
        </p:nvSpPr>
        <p:spPr>
          <a:xfrm xmlns:a="http://schemas.openxmlformats.org/drawingml/2006/main">
            <a:off x="952500" y="19240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Field</a:t>
            </a:r>
          </a:p>
        </p:txBody>
      </p:sp>
      <p:sp>
        <p:nvSpPr>
          <p:cNvPr id="7" name="">
            <a:extLst xmlns:a="http://schemas.openxmlformats.org/drawingml/2006/main">
              <a:ext uri="{FF2B5EF4-FFF2-40B4-BE49-F238E27FC236}">
                <a16:creationId xmlns:a16="http://schemas.microsoft.com/office/drawing/2014/main" id="{6DD00BA6-BE80-4263-B0D5-2CB6BF215C83}"/>
              </a:ext>
            </a:extLst>
          </p:cNvPr>
          <p:cNvSpPr>
            <a:spLocks xmlns:a="http://schemas.openxmlformats.org/drawingml/2006/main" noGrp="1"/>
          </p:cNvSpPr>
          <p:nvPr/>
        </p:nvSpPr>
        <p:spPr>
          <a:xfrm xmlns:a="http://schemas.openxmlformats.org/drawingml/2006/main">
            <a:off x="3905250" y="19240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Plain instruction</a:t>
            </a:r>
          </a:p>
        </p:txBody>
      </p:sp>
      <p:sp>
        <p:nvSpPr>
          <p:cNvPr id="8" name="">
            <a:extLst xmlns:a="http://schemas.openxmlformats.org/drawingml/2006/main">
              <a:ext uri="{FF2B5EF4-FFF2-40B4-BE49-F238E27FC236}">
                <a16:creationId xmlns:a16="http://schemas.microsoft.com/office/drawing/2014/main" id="{CB32990D-7CC7-451E-B7FE-15300302F751}"/>
              </a:ext>
            </a:extLst>
          </p:cNvPr>
          <p:cNvSpPr>
            <a:spLocks xmlns:a="http://schemas.openxmlformats.org/drawingml/2006/main" noGrp="1"/>
          </p:cNvSpPr>
          <p:nvPr/>
        </p:nvSpPr>
        <p:spPr>
          <a:xfrm xmlns:a="http://schemas.openxmlformats.org/drawingml/2006/main">
            <a:off x="819150" y="243840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9" name="">
            <a:extLst xmlns:a="http://schemas.openxmlformats.org/drawingml/2006/main">
              <a:ext uri="{FF2B5EF4-FFF2-40B4-BE49-F238E27FC236}">
                <a16:creationId xmlns:a16="http://schemas.microsoft.com/office/drawing/2014/main" id="{4292F7C9-0FB5-4C48-B849-EFCFB6E1372D}"/>
              </a:ext>
            </a:extLst>
          </p:cNvPr>
          <p:cNvSpPr>
            <a:spLocks xmlns:a="http://schemas.openxmlformats.org/drawingml/2006/main" noGrp="1"/>
          </p:cNvSpPr>
          <p:nvPr/>
        </p:nvSpPr>
        <p:spPr>
          <a:xfrm xmlns:a="http://schemas.openxmlformats.org/drawingml/2006/main">
            <a:off x="952500" y="255270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Name</a:t>
            </a:r>
          </a:p>
        </p:txBody>
      </p:sp>
      <p:sp>
        <p:nvSpPr>
          <p:cNvPr id="10" name="">
            <a:extLst xmlns:a="http://schemas.openxmlformats.org/drawingml/2006/main">
              <a:ext uri="{FF2B5EF4-FFF2-40B4-BE49-F238E27FC236}">
                <a16:creationId xmlns:a16="http://schemas.microsoft.com/office/drawing/2014/main" id="{8595B224-F013-4151-B874-C782F00132E5}"/>
              </a:ext>
            </a:extLst>
          </p:cNvPr>
          <p:cNvSpPr>
            <a:spLocks xmlns:a="http://schemas.openxmlformats.org/drawingml/2006/main" noGrp="1"/>
          </p:cNvSpPr>
          <p:nvPr/>
        </p:nvSpPr>
        <p:spPr>
          <a:xfrm xmlns:a="http://schemas.openxmlformats.org/drawingml/2006/main">
            <a:off x="3905250" y="255270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Write the label that should appear on the canvas. Example: CRM.</a:t>
            </a:r>
          </a:p>
        </p:txBody>
      </p:sp>
      <p:sp>
        <p:nvSpPr>
          <p:cNvPr id="11" name="">
            <a:extLst xmlns:a="http://schemas.openxmlformats.org/drawingml/2006/main">
              <a:ext uri="{FF2B5EF4-FFF2-40B4-BE49-F238E27FC236}">
                <a16:creationId xmlns:a16="http://schemas.microsoft.com/office/drawing/2014/main" id="{AB2762D7-8311-47BD-8BB6-0FF7A082F2F8}"/>
              </a:ext>
            </a:extLst>
          </p:cNvPr>
          <p:cNvSpPr>
            <a:spLocks xmlns:a="http://schemas.openxmlformats.org/drawingml/2006/main" noGrp="1"/>
          </p:cNvSpPr>
          <p:nvPr/>
        </p:nvSpPr>
        <p:spPr>
          <a:xfrm xmlns:a="http://schemas.openxmlformats.org/drawingml/2006/main">
            <a:off x="819150" y="306705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12" name="">
            <a:extLst xmlns:a="http://schemas.openxmlformats.org/drawingml/2006/main">
              <a:ext uri="{FF2B5EF4-FFF2-40B4-BE49-F238E27FC236}">
                <a16:creationId xmlns:a16="http://schemas.microsoft.com/office/drawing/2014/main" id="{4C421657-06B9-4846-AD4A-495CA4E18A29}"/>
              </a:ext>
            </a:extLst>
          </p:cNvPr>
          <p:cNvSpPr>
            <a:spLocks xmlns:a="http://schemas.openxmlformats.org/drawingml/2006/main" noGrp="1"/>
          </p:cNvSpPr>
          <p:nvPr/>
        </p:nvSpPr>
        <p:spPr>
          <a:xfrm xmlns:a="http://schemas.openxmlformats.org/drawingml/2006/main">
            <a:off x="952500" y="31813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Measure</a:t>
            </a:r>
          </a:p>
        </p:txBody>
      </p:sp>
      <p:sp>
        <p:nvSpPr>
          <p:cNvPr id="13" name="">
            <a:extLst xmlns:a="http://schemas.openxmlformats.org/drawingml/2006/main">
              <a:ext uri="{FF2B5EF4-FFF2-40B4-BE49-F238E27FC236}">
                <a16:creationId xmlns:a16="http://schemas.microsoft.com/office/drawing/2014/main" id="{F149F7E1-E593-40CC-94AA-4402F668453E}"/>
              </a:ext>
            </a:extLst>
          </p:cNvPr>
          <p:cNvSpPr>
            <a:spLocks xmlns:a="http://schemas.openxmlformats.org/drawingml/2006/main" noGrp="1"/>
          </p:cNvSpPr>
          <p:nvPr/>
        </p:nvSpPr>
        <p:spPr>
          <a:xfrm xmlns:a="http://schemas.openxmlformats.org/drawingml/2006/main">
            <a:off x="3905250" y="31813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Choose what the number represents. Example: customer records or active contacts.</a:t>
            </a:r>
          </a:p>
        </p:txBody>
      </p:sp>
      <p:sp>
        <p:nvSpPr>
          <p:cNvPr id="14" name="">
            <a:extLst xmlns:a="http://schemas.openxmlformats.org/drawingml/2006/main">
              <a:ext uri="{FF2B5EF4-FFF2-40B4-BE49-F238E27FC236}">
                <a16:creationId xmlns:a16="http://schemas.microsoft.com/office/drawing/2014/main" id="{C0D0FFC1-5E20-4E0F-A1AE-8F88AAF9DA41}"/>
              </a:ext>
            </a:extLst>
          </p:cNvPr>
          <p:cNvSpPr>
            <a:spLocks xmlns:a="http://schemas.openxmlformats.org/drawingml/2006/main" noGrp="1"/>
          </p:cNvSpPr>
          <p:nvPr/>
        </p:nvSpPr>
        <p:spPr>
          <a:xfrm xmlns:a="http://schemas.openxmlformats.org/drawingml/2006/main">
            <a:off x="819150" y="369570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15" name="">
            <a:extLst xmlns:a="http://schemas.openxmlformats.org/drawingml/2006/main">
              <a:ext uri="{FF2B5EF4-FFF2-40B4-BE49-F238E27FC236}">
                <a16:creationId xmlns:a16="http://schemas.microsoft.com/office/drawing/2014/main" id="{08493E78-4F0C-4B07-863C-7DD67394C051}"/>
              </a:ext>
            </a:extLst>
          </p:cNvPr>
          <p:cNvSpPr>
            <a:spLocks xmlns:a="http://schemas.openxmlformats.org/drawingml/2006/main" noGrp="1"/>
          </p:cNvSpPr>
          <p:nvPr/>
        </p:nvSpPr>
        <p:spPr>
          <a:xfrm xmlns:a="http://schemas.openxmlformats.org/drawingml/2006/main">
            <a:off x="952500" y="381000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Observed quantity</a:t>
            </a:r>
          </a:p>
        </p:txBody>
      </p:sp>
      <p:sp>
        <p:nvSpPr>
          <p:cNvPr id="16" name="">
            <a:extLst xmlns:a="http://schemas.openxmlformats.org/drawingml/2006/main">
              <a:ext uri="{FF2B5EF4-FFF2-40B4-BE49-F238E27FC236}">
                <a16:creationId xmlns:a16="http://schemas.microsoft.com/office/drawing/2014/main" id="{66264F22-3CC7-4510-94CE-392FFDB1992E}"/>
              </a:ext>
            </a:extLst>
          </p:cNvPr>
          <p:cNvSpPr>
            <a:spLocks xmlns:a="http://schemas.openxmlformats.org/drawingml/2006/main" noGrp="1"/>
          </p:cNvSpPr>
          <p:nvPr/>
        </p:nvSpPr>
        <p:spPr>
          <a:xfrm xmlns:a="http://schemas.openxmlformats.org/drawingml/2006/main">
            <a:off x="3905250" y="381000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Enter the current value you can defend. Example: 18,000 CRM contacts.</a:t>
            </a:r>
          </a:p>
        </p:txBody>
      </p:sp>
      <p:sp>
        <p:nvSpPr>
          <p:cNvPr id="17" name="">
            <a:extLst xmlns:a="http://schemas.openxmlformats.org/drawingml/2006/main">
              <a:ext uri="{FF2B5EF4-FFF2-40B4-BE49-F238E27FC236}">
                <a16:creationId xmlns:a16="http://schemas.microsoft.com/office/drawing/2014/main" id="{A896D324-BBC2-4AE4-ADBA-33DBD1158A67}"/>
              </a:ext>
            </a:extLst>
          </p:cNvPr>
          <p:cNvSpPr>
            <a:spLocks xmlns:a="http://schemas.openxmlformats.org/drawingml/2006/main" noGrp="1"/>
          </p:cNvSpPr>
          <p:nvPr/>
        </p:nvSpPr>
        <p:spPr>
          <a:xfrm xmlns:a="http://schemas.openxmlformats.org/drawingml/2006/main">
            <a:off x="819150" y="432435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18" name="">
            <a:extLst xmlns:a="http://schemas.openxmlformats.org/drawingml/2006/main">
              <a:ext uri="{FF2B5EF4-FFF2-40B4-BE49-F238E27FC236}">
                <a16:creationId xmlns:a16="http://schemas.microsoft.com/office/drawing/2014/main" id="{5BE1530F-115D-4A79-8611-9B482ACC8338}"/>
              </a:ext>
            </a:extLst>
          </p:cNvPr>
          <p:cNvSpPr>
            <a:spLocks xmlns:a="http://schemas.openxmlformats.org/drawingml/2006/main" noGrp="1"/>
          </p:cNvSpPr>
          <p:nvPr/>
        </p:nvSpPr>
        <p:spPr>
          <a:xfrm xmlns:a="http://schemas.openxmlformats.org/drawingml/2006/main">
            <a:off x="952500" y="44386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Arrival maximum</a:t>
            </a:r>
          </a:p>
        </p:txBody>
      </p:sp>
      <p:sp>
        <p:nvSpPr>
          <p:cNvPr id="19" name="">
            <a:extLst xmlns:a="http://schemas.openxmlformats.org/drawingml/2006/main">
              <a:ext uri="{FF2B5EF4-FFF2-40B4-BE49-F238E27FC236}">
                <a16:creationId xmlns:a16="http://schemas.microsoft.com/office/drawing/2014/main" id="{FCADC102-8271-496A-8A65-95ECDDF6EC8D}"/>
              </a:ext>
            </a:extLst>
          </p:cNvPr>
          <p:cNvSpPr>
            <a:spLocks xmlns:a="http://schemas.openxmlformats.org/drawingml/2006/main" noGrp="1"/>
          </p:cNvSpPr>
          <p:nvPr/>
        </p:nvSpPr>
        <p:spPr>
          <a:xfrm xmlns:a="http://schemas.openxmlformats.org/drawingml/2006/main">
            <a:off x="3905250" y="44386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Enter the realistic target. Example: 60,000 useful CRM contacts.</a:t>
            </a:r>
          </a:p>
        </p:txBody>
      </p:sp>
      <p:sp>
        <p:nvSpPr>
          <p:cNvPr id="20" name="">
            <a:extLst xmlns:a="http://schemas.openxmlformats.org/drawingml/2006/main">
              <a:ext uri="{FF2B5EF4-FFF2-40B4-BE49-F238E27FC236}">
                <a16:creationId xmlns:a16="http://schemas.microsoft.com/office/drawing/2014/main" id="{65D361FA-DE39-44EC-8FC1-157607921B70}"/>
              </a:ext>
            </a:extLst>
          </p:cNvPr>
          <p:cNvSpPr>
            <a:spLocks xmlns:a="http://schemas.openxmlformats.org/drawingml/2006/main" noGrp="1"/>
          </p:cNvSpPr>
          <p:nvPr/>
        </p:nvSpPr>
        <p:spPr>
          <a:xfrm xmlns:a="http://schemas.openxmlformats.org/drawingml/2006/main">
            <a:off x="819150" y="495300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21" name="">
            <a:extLst xmlns:a="http://schemas.openxmlformats.org/drawingml/2006/main">
              <a:ext uri="{FF2B5EF4-FFF2-40B4-BE49-F238E27FC236}">
                <a16:creationId xmlns:a16="http://schemas.microsoft.com/office/drawing/2014/main" id="{D1946DCD-C92B-498D-A554-EC19F5AF045E}"/>
              </a:ext>
            </a:extLst>
          </p:cNvPr>
          <p:cNvSpPr>
            <a:spLocks xmlns:a="http://schemas.openxmlformats.org/drawingml/2006/main" noGrp="1"/>
          </p:cNvSpPr>
          <p:nvPr/>
        </p:nvSpPr>
        <p:spPr>
          <a:xfrm xmlns:a="http://schemas.openxmlformats.org/drawingml/2006/main">
            <a:off x="952500" y="506730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Weight</a:t>
            </a:r>
          </a:p>
        </p:txBody>
      </p:sp>
      <p:sp>
        <p:nvSpPr>
          <p:cNvPr id="22" name="">
            <a:extLst xmlns:a="http://schemas.openxmlformats.org/drawingml/2006/main">
              <a:ext uri="{FF2B5EF4-FFF2-40B4-BE49-F238E27FC236}">
                <a16:creationId xmlns:a16="http://schemas.microsoft.com/office/drawing/2014/main" id="{4136D812-FB2A-41DA-8BE4-F7072FBA90A9}"/>
              </a:ext>
            </a:extLst>
          </p:cNvPr>
          <p:cNvSpPr>
            <a:spLocks xmlns:a="http://schemas.openxmlformats.org/drawingml/2006/main" noGrp="1"/>
          </p:cNvSpPr>
          <p:nvPr/>
        </p:nvSpPr>
        <p:spPr>
          <a:xfrm xmlns:a="http://schemas.openxmlformats.org/drawingml/2006/main">
            <a:off x="3905250" y="506730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Set importance. CRM might be 1.30 because personalization depends on it.</a:t>
            </a:r>
          </a:p>
        </p:txBody>
      </p:sp>
      <p:sp>
        <p:nvSpPr>
          <p:cNvPr id="23" name="">
            <a:extLst xmlns:a="http://schemas.openxmlformats.org/drawingml/2006/main">
              <a:ext uri="{FF2B5EF4-FFF2-40B4-BE49-F238E27FC236}">
                <a16:creationId xmlns:a16="http://schemas.microsoft.com/office/drawing/2014/main" id="{213C0F12-7B24-4B77-B3C6-819067531F8A}"/>
              </a:ext>
            </a:extLst>
          </p:cNvPr>
          <p:cNvSpPr>
            <a:spLocks xmlns:a="http://schemas.openxmlformats.org/drawingml/2006/main" noGrp="1"/>
          </p:cNvSpPr>
          <p:nvPr/>
        </p:nvSpPr>
        <p:spPr>
          <a:xfrm xmlns:a="http://schemas.openxmlformats.org/drawingml/2006/main">
            <a:off x="819150" y="558165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24" name="">
            <a:extLst xmlns:a="http://schemas.openxmlformats.org/drawingml/2006/main">
              <a:ext uri="{FF2B5EF4-FFF2-40B4-BE49-F238E27FC236}">
                <a16:creationId xmlns:a16="http://schemas.microsoft.com/office/drawing/2014/main" id="{74F96E06-DEDA-4418-A16E-74E12C278D56}"/>
              </a:ext>
            </a:extLst>
          </p:cNvPr>
          <p:cNvSpPr>
            <a:spLocks xmlns:a="http://schemas.openxmlformats.org/drawingml/2006/main" noGrp="1"/>
          </p:cNvSpPr>
          <p:nvPr/>
        </p:nvSpPr>
        <p:spPr>
          <a:xfrm xmlns:a="http://schemas.openxmlformats.org/drawingml/2006/main">
            <a:off x="952500" y="56959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AI enablement</a:t>
            </a:r>
          </a:p>
        </p:txBody>
      </p:sp>
      <p:sp>
        <p:nvSpPr>
          <p:cNvPr id="25" name="">
            <a:extLst xmlns:a="http://schemas.openxmlformats.org/drawingml/2006/main">
              <a:ext uri="{FF2B5EF4-FFF2-40B4-BE49-F238E27FC236}">
                <a16:creationId xmlns:a16="http://schemas.microsoft.com/office/drawing/2014/main" id="{E526EF12-EE1F-45C9-BBD6-0343A588F18B}"/>
              </a:ext>
            </a:extLst>
          </p:cNvPr>
          <p:cNvSpPr>
            <a:spLocks xmlns:a="http://schemas.openxmlformats.org/drawingml/2006/main" noGrp="1"/>
          </p:cNvSpPr>
          <p:nvPr/>
        </p:nvSpPr>
        <p:spPr>
          <a:xfrm xmlns:a="http://schemas.openxmlformats.org/drawingml/2006/main">
            <a:off x="3905250" y="56959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Set AI maturity from 0 to 100. Example: 45 if there is basic automation but no full agent.</a:t>
            </a:r>
          </a:p>
        </p:txBody>
      </p:sp>
    </p:spTree>
    <p:extLst>
      <p:ext uri="{BB962C8B-B14F-4D97-AF65-F5344CB8AC3E}">
        <p14:creationId xmlns:p14="http://schemas.microsoft.com/office/powerpoint/2010/main" val="1905220611"/>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B3E59D0-8AE8-406F-870A-C3004F3C0258}"/>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85C35AF4-7FCB-4606-85CC-E66A0D4037DC}"/>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5FF837F1-FCAC-479B-BA51-0DD91ED37EEA}"/>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BB7892DB-03CB-4153-93FE-2BB3EEAA6AD6}"/>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B2C</a:t>
            </a:r>
          </a:p>
        </p:txBody>
      </p:sp>
      <p:sp>
        <p:nvSpPr>
          <p:cNvPr id="5" name="">
            <a:extLst xmlns:a="http://schemas.openxmlformats.org/drawingml/2006/main">
              <a:ext uri="{FF2B5EF4-FFF2-40B4-BE49-F238E27FC236}">
                <a16:creationId xmlns:a16="http://schemas.microsoft.com/office/drawing/2014/main" id="{3122A5EC-6876-4FCC-85F0-1F6EBD3930FE}"/>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Users</a:t>
            </a:r>
          </a:p>
        </p:txBody>
      </p:sp>
      <p:sp>
        <p:nvSpPr>
          <p:cNvPr id="6" name="">
            <a:extLst xmlns:a="http://schemas.openxmlformats.org/drawingml/2006/main">
              <a:ext uri="{FF2B5EF4-FFF2-40B4-BE49-F238E27FC236}">
                <a16:creationId xmlns:a16="http://schemas.microsoft.com/office/drawing/2014/main" id="{799CC032-7D64-4DB2-9539-FBEF981A996C}"/>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87E9A255-917B-4EE6-BCE6-CD26E0830F13}"/>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9D61F4B7-C1D2-43EE-BBE6-1F8586D527B7}"/>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85,000 reachable consumers</a:t>
            </a:r>
          </a:p>
        </p:txBody>
      </p:sp>
      <p:sp>
        <p:nvSpPr>
          <p:cNvPr id="9" name="">
            <a:extLst xmlns:a="http://schemas.openxmlformats.org/drawingml/2006/main">
              <a:ext uri="{FF2B5EF4-FFF2-40B4-BE49-F238E27FC236}">
                <a16:creationId xmlns:a16="http://schemas.microsoft.com/office/drawing/2014/main" id="{439CCE8E-41C5-41F2-970E-D4794A5C3A44}"/>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250,000 potential consumers</a:t>
            </a:r>
          </a:p>
        </p:txBody>
      </p:sp>
      <p:sp>
        <p:nvSpPr>
          <p:cNvPr id="10" name="">
            <a:extLst xmlns:a="http://schemas.openxmlformats.org/drawingml/2006/main">
              <a:ext uri="{FF2B5EF4-FFF2-40B4-BE49-F238E27FC236}">
                <a16:creationId xmlns:a16="http://schemas.microsoft.com/office/drawing/2014/main" id="{E36D0A93-E90D-4B02-B932-EE1D59380211}"/>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1.10</a:t>
            </a:r>
          </a:p>
        </p:txBody>
      </p:sp>
      <p:sp>
        <p:nvSpPr>
          <p:cNvPr id="11" name="">
            <a:extLst xmlns:a="http://schemas.openxmlformats.org/drawingml/2006/main">
              <a:ext uri="{FF2B5EF4-FFF2-40B4-BE49-F238E27FC236}">
                <a16:creationId xmlns:a16="http://schemas.microsoft.com/office/drawing/2014/main" id="{A505CC71-9298-4764-954A-AD43676E4188}"/>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25</a:t>
            </a:r>
          </a:p>
        </p:txBody>
      </p:sp>
      <p:sp>
        <p:nvSpPr>
          <p:cNvPr id="12" name="">
            <a:extLst xmlns:a="http://schemas.openxmlformats.org/drawingml/2006/main">
              <a:ext uri="{FF2B5EF4-FFF2-40B4-BE49-F238E27FC236}">
                <a16:creationId xmlns:a16="http://schemas.microsoft.com/office/drawing/2014/main" id="{C90F927E-1D12-4763-89D4-E43BDF567481}"/>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2B3FF62C-7B42-4E41-AE5C-4EA873370247}"/>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B1C03766-80B4-4F07-AF2A-D51630CC4A0F}"/>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This node represents people who could buy official merchandise: local fans, tourists, casual supporters and online shoppers.</a:t>
            </a:r>
          </a:p>
        </p:txBody>
      </p:sp>
      <p:sp>
        <p:nvSpPr>
          <p:cNvPr id="15" name="">
            <a:extLst xmlns:a="http://schemas.openxmlformats.org/drawingml/2006/main">
              <a:ext uri="{FF2B5EF4-FFF2-40B4-BE49-F238E27FC236}">
                <a16:creationId xmlns:a16="http://schemas.microsoft.com/office/drawing/2014/main" id="{B4F29EF9-36E3-4DA5-94FA-E1790F252428}"/>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web analytics, social reach, store traffic, ticketing audiences and market estimates</a:t>
            </a:r>
          </a:p>
        </p:txBody>
      </p:sp>
      <p:sp>
        <p:nvSpPr>
          <p:cNvPr id="16" name="">
            <a:extLst xmlns:a="http://schemas.openxmlformats.org/drawingml/2006/main">
              <a:ext uri="{FF2B5EF4-FFF2-40B4-BE49-F238E27FC236}">
                <a16:creationId xmlns:a16="http://schemas.microsoft.com/office/drawing/2014/main" id="{465F1F9E-5A4E-4154-A562-EF072329D627}"/>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BEC460D2-47F7-4289-917B-DD64760550B5}"/>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82A23450-FD18-4064-AD2F-1581B3EDC452}"/>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increases the Users variable. If the reachable market is low compared with the arrival maximum, the system has demand potential but still needs better reach.</a:t>
            </a:r>
          </a:p>
        </p:txBody>
      </p:sp>
      <p:sp>
        <p:nvSpPr>
          <p:cNvPr id="19" name="">
            <a:extLst xmlns:a="http://schemas.openxmlformats.org/drawingml/2006/main">
              <a:ext uri="{FF2B5EF4-FFF2-40B4-BE49-F238E27FC236}">
                <a16:creationId xmlns:a16="http://schemas.microsoft.com/office/drawing/2014/main" id="{266AA46B-75B1-4C94-A882-C0311DCCE748}"/>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826639217"/>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53AD4B2-FD61-48FA-B61D-DA9A4B91B1D8}"/>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288D57DC-F388-45DC-BA11-AAF5A842B11B}"/>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3E3ED6E1-6FFE-4BE8-946E-D374E9ADD2FF}"/>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83AB476F-617A-4C2E-9A4E-EDA29534E912}"/>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Fans</a:t>
            </a:r>
          </a:p>
        </p:txBody>
      </p:sp>
      <p:sp>
        <p:nvSpPr>
          <p:cNvPr id="5" name="">
            <a:extLst xmlns:a="http://schemas.openxmlformats.org/drawingml/2006/main">
              <a:ext uri="{FF2B5EF4-FFF2-40B4-BE49-F238E27FC236}">
                <a16:creationId xmlns:a16="http://schemas.microsoft.com/office/drawing/2014/main" id="{5A3BF6DD-3699-4F38-838F-766388C43E58}"/>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Users</a:t>
            </a:r>
          </a:p>
        </p:txBody>
      </p:sp>
      <p:sp>
        <p:nvSpPr>
          <p:cNvPr id="6" name="">
            <a:extLst xmlns:a="http://schemas.openxmlformats.org/drawingml/2006/main">
              <a:ext uri="{FF2B5EF4-FFF2-40B4-BE49-F238E27FC236}">
                <a16:creationId xmlns:a16="http://schemas.microsoft.com/office/drawing/2014/main" id="{225E7A4D-5F4B-430D-8FCE-B995E21B514D}"/>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5455604F-F109-4173-8E50-67E05A91FD7B}"/>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5BD23B7E-1ECA-4A41-BC60-A436C4FDEE42}"/>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120,000 social followers</a:t>
            </a:r>
          </a:p>
        </p:txBody>
      </p:sp>
      <p:sp>
        <p:nvSpPr>
          <p:cNvPr id="9" name="">
            <a:extLst xmlns:a="http://schemas.openxmlformats.org/drawingml/2006/main">
              <a:ext uri="{FF2B5EF4-FFF2-40B4-BE49-F238E27FC236}">
                <a16:creationId xmlns:a16="http://schemas.microsoft.com/office/drawing/2014/main" id="{B534A62A-4CEA-4D50-9C5A-9150A753D8D0}"/>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300,000 target fan audience</a:t>
            </a:r>
          </a:p>
        </p:txBody>
      </p:sp>
      <p:sp>
        <p:nvSpPr>
          <p:cNvPr id="10" name="">
            <a:extLst xmlns:a="http://schemas.openxmlformats.org/drawingml/2006/main">
              <a:ext uri="{FF2B5EF4-FFF2-40B4-BE49-F238E27FC236}">
                <a16:creationId xmlns:a16="http://schemas.microsoft.com/office/drawing/2014/main" id="{593AC345-2D41-4907-AA8B-FBDC349779FB}"/>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1.20</a:t>
            </a:r>
          </a:p>
        </p:txBody>
      </p:sp>
      <p:sp>
        <p:nvSpPr>
          <p:cNvPr id="11" name="">
            <a:extLst xmlns:a="http://schemas.openxmlformats.org/drawingml/2006/main">
              <a:ext uri="{FF2B5EF4-FFF2-40B4-BE49-F238E27FC236}">
                <a16:creationId xmlns:a16="http://schemas.microsoft.com/office/drawing/2014/main" id="{5A38A467-8F1F-45B7-8EA1-48A1D28E9B1F}"/>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30</a:t>
            </a:r>
          </a:p>
        </p:txBody>
      </p:sp>
      <p:sp>
        <p:nvSpPr>
          <p:cNvPr id="12" name="">
            <a:extLst xmlns:a="http://schemas.openxmlformats.org/drawingml/2006/main">
              <a:ext uri="{FF2B5EF4-FFF2-40B4-BE49-F238E27FC236}">
                <a16:creationId xmlns:a16="http://schemas.microsoft.com/office/drawing/2014/main" id="{40706CE9-66BA-49DF-A50E-073C3FDBC553}"/>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17FA1A86-AAF2-4A73-85CE-AFC8A790CAB3}"/>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FD1F0B66-C5A0-4557-80D3-E6A080A865F1}"/>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Fans are not all buyers, but they are the relationship base. They receive launches, posts, shirt drops and emotional brand messages.</a:t>
            </a:r>
          </a:p>
        </p:txBody>
      </p:sp>
      <p:sp>
        <p:nvSpPr>
          <p:cNvPr id="15" name="">
            <a:extLst xmlns:a="http://schemas.openxmlformats.org/drawingml/2006/main">
              <a:ext uri="{FF2B5EF4-FFF2-40B4-BE49-F238E27FC236}">
                <a16:creationId xmlns:a16="http://schemas.microsoft.com/office/drawing/2014/main" id="{F881C76C-3232-48B5-A213-727476BEA4DF}"/>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Instagram, TikTok, YouTube, X, email community and CRM audience exports</a:t>
            </a:r>
          </a:p>
        </p:txBody>
      </p:sp>
      <p:sp>
        <p:nvSpPr>
          <p:cNvPr id="16" name="">
            <a:extLst xmlns:a="http://schemas.openxmlformats.org/drawingml/2006/main">
              <a:ext uri="{FF2B5EF4-FFF2-40B4-BE49-F238E27FC236}">
                <a16:creationId xmlns:a16="http://schemas.microsoft.com/office/drawing/2014/main" id="{96137576-D98F-4E11-9973-654F7E74A7B5}"/>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B4A6D8EF-C80C-4FBF-A7E7-4512619DB5CA}"/>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F9043126-795C-4DD0-BC43-DFB4532683C8}"/>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strengthens Users because fans amplify attention. The score improves when the fan base is measurable and can be activated.</a:t>
            </a:r>
          </a:p>
        </p:txBody>
      </p:sp>
      <p:sp>
        <p:nvSpPr>
          <p:cNvPr id="19" name="">
            <a:extLst xmlns:a="http://schemas.openxmlformats.org/drawingml/2006/main">
              <a:ext uri="{FF2B5EF4-FFF2-40B4-BE49-F238E27FC236}">
                <a16:creationId xmlns:a16="http://schemas.microsoft.com/office/drawing/2014/main" id="{4217F688-C159-4A72-AF8A-F8B4D90824F2}"/>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381517740"/>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CCA4D1B-CBD6-412D-BEFE-4712508CF2B7}"/>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C38B30D3-10E8-421F-BD2E-E199FE8E1611}"/>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77DF3CDE-82EA-4D20-96F0-D582B3B51856}"/>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E69ED572-FE52-4E19-9371-8D3D0D16A20C}"/>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Leads</a:t>
            </a:r>
          </a:p>
        </p:txBody>
      </p:sp>
      <p:sp>
        <p:nvSpPr>
          <p:cNvPr id="5" name="">
            <a:extLst xmlns:a="http://schemas.openxmlformats.org/drawingml/2006/main">
              <a:ext uri="{FF2B5EF4-FFF2-40B4-BE49-F238E27FC236}">
                <a16:creationId xmlns:a16="http://schemas.microsoft.com/office/drawing/2014/main" id="{BCAF94B2-7FE0-45BF-B94A-F24CC1EC8E07}"/>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Users</a:t>
            </a:r>
          </a:p>
        </p:txBody>
      </p:sp>
      <p:sp>
        <p:nvSpPr>
          <p:cNvPr id="6" name="">
            <a:extLst xmlns:a="http://schemas.openxmlformats.org/drawingml/2006/main">
              <a:ext uri="{FF2B5EF4-FFF2-40B4-BE49-F238E27FC236}">
                <a16:creationId xmlns:a16="http://schemas.microsoft.com/office/drawing/2014/main" id="{C6BC62B0-42FA-437E-813D-E4F7381F7DE8}"/>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60111666-4070-4F92-B362-8707B79D8928}"/>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B221DCA7-71F2-451F-9251-F024EAF9C3FC}"/>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7,500 identified prospects</a:t>
            </a:r>
          </a:p>
        </p:txBody>
      </p:sp>
      <p:sp>
        <p:nvSpPr>
          <p:cNvPr id="9" name="">
            <a:extLst xmlns:a="http://schemas.openxmlformats.org/drawingml/2006/main">
              <a:ext uri="{FF2B5EF4-FFF2-40B4-BE49-F238E27FC236}">
                <a16:creationId xmlns:a16="http://schemas.microsoft.com/office/drawing/2014/main" id="{8A7931D3-456E-42C7-BDBE-1AFFFD0C22A4}"/>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30,000 target prospects</a:t>
            </a:r>
          </a:p>
        </p:txBody>
      </p:sp>
      <p:sp>
        <p:nvSpPr>
          <p:cNvPr id="10" name="">
            <a:extLst xmlns:a="http://schemas.openxmlformats.org/drawingml/2006/main">
              <a:ext uri="{FF2B5EF4-FFF2-40B4-BE49-F238E27FC236}">
                <a16:creationId xmlns:a16="http://schemas.microsoft.com/office/drawing/2014/main" id="{742EC3A7-387C-44BF-A204-0EB0D69EE4AE}"/>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1.25</a:t>
            </a:r>
          </a:p>
        </p:txBody>
      </p:sp>
      <p:sp>
        <p:nvSpPr>
          <p:cNvPr id="11" name="">
            <a:extLst xmlns:a="http://schemas.openxmlformats.org/drawingml/2006/main">
              <a:ext uri="{FF2B5EF4-FFF2-40B4-BE49-F238E27FC236}">
                <a16:creationId xmlns:a16="http://schemas.microsoft.com/office/drawing/2014/main" id="{C58FE07B-4BD6-4DAB-90AF-1B16C4564A31}"/>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35</a:t>
            </a:r>
          </a:p>
        </p:txBody>
      </p:sp>
      <p:sp>
        <p:nvSpPr>
          <p:cNvPr id="12" name="">
            <a:extLst xmlns:a="http://schemas.openxmlformats.org/drawingml/2006/main">
              <a:ext uri="{FF2B5EF4-FFF2-40B4-BE49-F238E27FC236}">
                <a16:creationId xmlns:a16="http://schemas.microsoft.com/office/drawing/2014/main" id="{1FEF862E-4137-4C49-8D9E-8A0F5FEBA538}"/>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23A06645-CD09-45B4-9D1A-15596A3C130E}"/>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57F1AA50-BC3D-4F65-849C-474F772A148E}"/>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Leads are people the club can identify and contact: newsletter users, abandoned carts, registered accounts and campaign signups.</a:t>
            </a:r>
          </a:p>
        </p:txBody>
      </p:sp>
      <p:sp>
        <p:nvSpPr>
          <p:cNvPr id="15" name="">
            <a:extLst xmlns:a="http://schemas.openxmlformats.org/drawingml/2006/main">
              <a:ext uri="{FF2B5EF4-FFF2-40B4-BE49-F238E27FC236}">
                <a16:creationId xmlns:a16="http://schemas.microsoft.com/office/drawing/2014/main" id="{EA4C8EA5-C1E6-4FB3-BAA4-E64A49101A85}"/>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newsletter platform, ecommerce accounts, forms, lead ads and abandoned cart lists</a:t>
            </a:r>
          </a:p>
        </p:txBody>
      </p:sp>
      <p:sp>
        <p:nvSpPr>
          <p:cNvPr id="16" name="">
            <a:extLst xmlns:a="http://schemas.openxmlformats.org/drawingml/2006/main">
              <a:ext uri="{FF2B5EF4-FFF2-40B4-BE49-F238E27FC236}">
                <a16:creationId xmlns:a16="http://schemas.microsoft.com/office/drawing/2014/main" id="{2DC2F350-D9C8-475D-A387-B6C2E3921B80}"/>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641059C8-D0F9-4023-AAD1-5935FF539922}"/>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8F4C9996-8216-45F6-836C-121E087F3B97}"/>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improves the relationship side because identified users are easier to personalize than anonymous traffic.</a:t>
            </a:r>
          </a:p>
        </p:txBody>
      </p:sp>
      <p:sp>
        <p:nvSpPr>
          <p:cNvPr id="19" name="">
            <a:extLst xmlns:a="http://schemas.openxmlformats.org/drawingml/2006/main">
              <a:ext uri="{FF2B5EF4-FFF2-40B4-BE49-F238E27FC236}">
                <a16:creationId xmlns:a16="http://schemas.microsoft.com/office/drawing/2014/main" id="{C7B5CBB6-F214-47AD-8D82-8D9B54FABD4C}"/>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604272135"/>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2C09D4E-118C-4068-813F-DA0BC92B9A3C}"/>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2EA89FB8-2B21-4456-8CBC-9C4A9A992519}"/>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9DA19339-BCF8-48B2-B708-4D5FA3B46F5D}"/>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0232E680-E8E4-45C8-B574-9C67D924C2F4}"/>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Clients</a:t>
            </a:r>
          </a:p>
        </p:txBody>
      </p:sp>
      <p:sp>
        <p:nvSpPr>
          <p:cNvPr id="5" name="">
            <a:extLst xmlns:a="http://schemas.openxmlformats.org/drawingml/2006/main">
              <a:ext uri="{FF2B5EF4-FFF2-40B4-BE49-F238E27FC236}">
                <a16:creationId xmlns:a16="http://schemas.microsoft.com/office/drawing/2014/main" id="{C8A6EF1E-B02D-4311-8391-659A27724B38}"/>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Users</a:t>
            </a:r>
          </a:p>
        </p:txBody>
      </p:sp>
      <p:sp>
        <p:nvSpPr>
          <p:cNvPr id="6" name="">
            <a:extLst xmlns:a="http://schemas.openxmlformats.org/drawingml/2006/main">
              <a:ext uri="{FF2B5EF4-FFF2-40B4-BE49-F238E27FC236}">
                <a16:creationId xmlns:a16="http://schemas.microsoft.com/office/drawing/2014/main" id="{CF6B12A8-8554-4A85-927E-35B0C787F891}"/>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5BF10CA1-4178-417F-AC8E-91D85AD83CB2}"/>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4E9985B6-6CC7-42C0-9496-76FDB4536045}"/>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12,000 previous buyers</a:t>
            </a:r>
          </a:p>
        </p:txBody>
      </p:sp>
      <p:sp>
        <p:nvSpPr>
          <p:cNvPr id="9" name="">
            <a:extLst xmlns:a="http://schemas.openxmlformats.org/drawingml/2006/main">
              <a:ext uri="{FF2B5EF4-FFF2-40B4-BE49-F238E27FC236}">
                <a16:creationId xmlns:a16="http://schemas.microsoft.com/office/drawing/2014/main" id="{BC85EF0B-FD59-4852-9829-681FEA93B9C3}"/>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40,000 target buyers</a:t>
            </a:r>
          </a:p>
        </p:txBody>
      </p:sp>
      <p:sp>
        <p:nvSpPr>
          <p:cNvPr id="10" name="">
            <a:extLst xmlns:a="http://schemas.openxmlformats.org/drawingml/2006/main">
              <a:ext uri="{FF2B5EF4-FFF2-40B4-BE49-F238E27FC236}">
                <a16:creationId xmlns:a16="http://schemas.microsoft.com/office/drawing/2014/main" id="{8F585F3F-EA93-4E98-B6CE-2A78E9BF8B08}"/>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1.35</a:t>
            </a:r>
          </a:p>
        </p:txBody>
      </p:sp>
      <p:sp>
        <p:nvSpPr>
          <p:cNvPr id="11" name="">
            <a:extLst xmlns:a="http://schemas.openxmlformats.org/drawingml/2006/main">
              <a:ext uri="{FF2B5EF4-FFF2-40B4-BE49-F238E27FC236}">
                <a16:creationId xmlns:a16="http://schemas.microsoft.com/office/drawing/2014/main" id="{27C6ABE9-6A89-4C02-934F-8FFB314BF964}"/>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38</a:t>
            </a:r>
          </a:p>
        </p:txBody>
      </p:sp>
      <p:sp>
        <p:nvSpPr>
          <p:cNvPr id="12" name="">
            <a:extLst xmlns:a="http://schemas.openxmlformats.org/drawingml/2006/main">
              <a:ext uri="{FF2B5EF4-FFF2-40B4-BE49-F238E27FC236}">
                <a16:creationId xmlns:a16="http://schemas.microsoft.com/office/drawing/2014/main" id="{F6157107-A6BF-4988-96D8-792B510B8F80}"/>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3DA7C8BF-17DA-4DEF-877E-090A69096331}"/>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AAC087DA-9B2B-465E-8CF3-CF6E54098A9C}"/>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Clients prove that the system already converts communication into purchases. They also create repeat purchase and loyalty potential.</a:t>
            </a:r>
          </a:p>
        </p:txBody>
      </p:sp>
      <p:sp>
        <p:nvSpPr>
          <p:cNvPr id="15" name="">
            <a:extLst xmlns:a="http://schemas.openxmlformats.org/drawingml/2006/main">
              <a:ext uri="{FF2B5EF4-FFF2-40B4-BE49-F238E27FC236}">
                <a16:creationId xmlns:a16="http://schemas.microsoft.com/office/drawing/2014/main" id="{2E9183D5-207A-4802-8FBB-C3AEDD2F0976}"/>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ecommerce orders, customer database, payment records and loyalty platform</a:t>
            </a:r>
          </a:p>
        </p:txBody>
      </p:sp>
      <p:sp>
        <p:nvSpPr>
          <p:cNvPr id="16" name="">
            <a:extLst xmlns:a="http://schemas.openxmlformats.org/drawingml/2006/main">
              <a:ext uri="{FF2B5EF4-FFF2-40B4-BE49-F238E27FC236}">
                <a16:creationId xmlns:a16="http://schemas.microsoft.com/office/drawing/2014/main" id="{02E2D395-8F5E-4584-8C29-3F96FA55EB19}"/>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BD7E9967-7FCF-4213-B5ED-98B60656FDF0}"/>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20F3D6FA-0628-455C-98BC-8D7491DDA451}"/>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increases economic capture because customers are closer to recurrence, upsell and personalized offers.</a:t>
            </a:r>
          </a:p>
        </p:txBody>
      </p:sp>
      <p:sp>
        <p:nvSpPr>
          <p:cNvPr id="19" name="">
            <a:extLst xmlns:a="http://schemas.openxmlformats.org/drawingml/2006/main">
              <a:ext uri="{FF2B5EF4-FFF2-40B4-BE49-F238E27FC236}">
                <a16:creationId xmlns:a16="http://schemas.microsoft.com/office/drawing/2014/main" id="{AF8A58BE-50B2-4AF2-A4FF-F5F236B434CC}"/>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933517321"/>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E53AE61-7D6A-4F25-8166-D8600381B18E}"/>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1540A7FD-5077-4D1C-B9A2-6D7226B3AEF3}"/>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1EF7BB3D-69FD-44F6-8280-D817720E15FE}"/>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8951EAA0-437F-4292-8FA3-F015BD19EDE7}"/>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SEO</a:t>
            </a:r>
          </a:p>
        </p:txBody>
      </p:sp>
      <p:sp>
        <p:nvSpPr>
          <p:cNvPr id="5" name="">
            <a:extLst xmlns:a="http://schemas.openxmlformats.org/drawingml/2006/main">
              <a:ext uri="{FF2B5EF4-FFF2-40B4-BE49-F238E27FC236}">
                <a16:creationId xmlns:a16="http://schemas.microsoft.com/office/drawing/2014/main" id="{7BAC82FD-7E89-4D64-901D-90E1A3DB2F8C}"/>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Content</a:t>
            </a:r>
          </a:p>
        </p:txBody>
      </p:sp>
      <p:sp>
        <p:nvSpPr>
          <p:cNvPr id="6" name="">
            <a:extLst xmlns:a="http://schemas.openxmlformats.org/drawingml/2006/main">
              <a:ext uri="{FF2B5EF4-FFF2-40B4-BE49-F238E27FC236}">
                <a16:creationId xmlns:a16="http://schemas.microsoft.com/office/drawing/2014/main" id="{EA3854C6-FB92-4B54-A62D-A37291C9C9F6}"/>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E57251C7-A39E-44A3-98CA-D6A0458FB025}"/>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4B0EAEDB-E9EB-4E6F-BF62-73E136723591}"/>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420 relevant search terms</a:t>
            </a:r>
          </a:p>
        </p:txBody>
      </p:sp>
      <p:sp>
        <p:nvSpPr>
          <p:cNvPr id="9" name="">
            <a:extLst xmlns:a="http://schemas.openxmlformats.org/drawingml/2006/main">
              <a:ext uri="{FF2B5EF4-FFF2-40B4-BE49-F238E27FC236}">
                <a16:creationId xmlns:a16="http://schemas.microsoft.com/office/drawing/2014/main" id="{76C3FB4E-8754-4F3F-A6AE-EB6B4FCF49B8}"/>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1,200 search opportunities</a:t>
            </a:r>
          </a:p>
        </p:txBody>
      </p:sp>
      <p:sp>
        <p:nvSpPr>
          <p:cNvPr id="10" name="">
            <a:extLst xmlns:a="http://schemas.openxmlformats.org/drawingml/2006/main">
              <a:ext uri="{FF2B5EF4-FFF2-40B4-BE49-F238E27FC236}">
                <a16:creationId xmlns:a16="http://schemas.microsoft.com/office/drawing/2014/main" id="{A8F01474-0BD1-4324-91BD-C1387F6FA4BA}"/>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1.05</a:t>
            </a:r>
          </a:p>
        </p:txBody>
      </p:sp>
      <p:sp>
        <p:nvSpPr>
          <p:cNvPr id="11" name="">
            <a:extLst xmlns:a="http://schemas.openxmlformats.org/drawingml/2006/main">
              <a:ext uri="{FF2B5EF4-FFF2-40B4-BE49-F238E27FC236}">
                <a16:creationId xmlns:a16="http://schemas.microsoft.com/office/drawing/2014/main" id="{8A8A14F1-0AFB-40B6-9C90-C79DA956AC02}"/>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30</a:t>
            </a:r>
          </a:p>
        </p:txBody>
      </p:sp>
      <p:sp>
        <p:nvSpPr>
          <p:cNvPr id="12" name="">
            <a:extLst xmlns:a="http://schemas.openxmlformats.org/drawingml/2006/main">
              <a:ext uri="{FF2B5EF4-FFF2-40B4-BE49-F238E27FC236}">
                <a16:creationId xmlns:a16="http://schemas.microsoft.com/office/drawing/2014/main" id="{2386E715-A635-44BA-AB54-DC1FE27A91C1}"/>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39BDBBC0-150A-4E62-9320-03E4F96E90B5}"/>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5461CAA0-339F-4B7D-9F88-22808BEF4B14}"/>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SEO captures organic intent: users searching for shirts, official store, club merchandise or matchday products.</a:t>
            </a:r>
          </a:p>
        </p:txBody>
      </p:sp>
      <p:sp>
        <p:nvSpPr>
          <p:cNvPr id="15" name="">
            <a:extLst xmlns:a="http://schemas.openxmlformats.org/drawingml/2006/main">
              <a:ext uri="{FF2B5EF4-FFF2-40B4-BE49-F238E27FC236}">
                <a16:creationId xmlns:a16="http://schemas.microsoft.com/office/drawing/2014/main" id="{9C9F20B4-47AC-4E90-93A1-5C81C4208F88}"/>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Search Console, keyword tools, ecommerce landing pages and organic traffic reports</a:t>
            </a:r>
          </a:p>
        </p:txBody>
      </p:sp>
      <p:sp>
        <p:nvSpPr>
          <p:cNvPr id="16" name="">
            <a:extLst xmlns:a="http://schemas.openxmlformats.org/drawingml/2006/main">
              <a:ext uri="{FF2B5EF4-FFF2-40B4-BE49-F238E27FC236}">
                <a16:creationId xmlns:a16="http://schemas.microsoft.com/office/drawing/2014/main" id="{1AF5B2FA-E22A-4486-9863-A995AA6B567D}"/>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FA29E152-1ED9-4474-B162-06ECAAA4BD86}"/>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77848645-91AC-4987-A1BE-C08A50ECA715}"/>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improves Content because it shows whether the offer can be found without paying for every click.</a:t>
            </a:r>
          </a:p>
        </p:txBody>
      </p:sp>
      <p:sp>
        <p:nvSpPr>
          <p:cNvPr id="19" name="">
            <a:extLst xmlns:a="http://schemas.openxmlformats.org/drawingml/2006/main">
              <a:ext uri="{FF2B5EF4-FFF2-40B4-BE49-F238E27FC236}">
                <a16:creationId xmlns:a16="http://schemas.microsoft.com/office/drawing/2014/main" id="{E23E1DC5-D04E-4EE5-928A-A99EB9B60D07}"/>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402286856"/>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B07AE13-4902-4393-99B6-44C9269FEDA5}"/>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284C3CA9-03B8-435B-82AC-8E4133624865}"/>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F45E1F5D-E34B-404C-8A8D-3090C3C5A8E1}"/>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8D64AC88-9CF4-4D90-A0E2-F0606E9717AF}"/>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Paid media</a:t>
            </a:r>
          </a:p>
        </p:txBody>
      </p:sp>
      <p:sp>
        <p:nvSpPr>
          <p:cNvPr id="5" name="">
            <a:extLst xmlns:a="http://schemas.openxmlformats.org/drawingml/2006/main">
              <a:ext uri="{FF2B5EF4-FFF2-40B4-BE49-F238E27FC236}">
                <a16:creationId xmlns:a16="http://schemas.microsoft.com/office/drawing/2014/main" id="{2CAF9F64-5A84-43F5-8086-E08FAC2F5CD6}"/>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Content</a:t>
            </a:r>
          </a:p>
        </p:txBody>
      </p:sp>
      <p:sp>
        <p:nvSpPr>
          <p:cNvPr id="6" name="">
            <a:extLst xmlns:a="http://schemas.openxmlformats.org/drawingml/2006/main">
              <a:ext uri="{FF2B5EF4-FFF2-40B4-BE49-F238E27FC236}">
                <a16:creationId xmlns:a16="http://schemas.microsoft.com/office/drawing/2014/main" id="{6873DBD2-8E18-4405-9034-C31BB1B391FC}"/>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ED05CCAF-1D7E-47BB-8EEE-824CEA598BAD}"/>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B88A03D7-3573-479F-8D58-72F8B01B5813}"/>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65 active campaign units</a:t>
            </a:r>
          </a:p>
        </p:txBody>
      </p:sp>
      <p:sp>
        <p:nvSpPr>
          <p:cNvPr id="9" name="">
            <a:extLst xmlns:a="http://schemas.openxmlformats.org/drawingml/2006/main">
              <a:ext uri="{FF2B5EF4-FFF2-40B4-BE49-F238E27FC236}">
                <a16:creationId xmlns:a16="http://schemas.microsoft.com/office/drawing/2014/main" id="{1DA262E7-35CE-4761-9F76-3C898707BC04}"/>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150 campaign opportunities</a:t>
            </a:r>
          </a:p>
        </p:txBody>
      </p:sp>
      <p:sp>
        <p:nvSpPr>
          <p:cNvPr id="10" name="">
            <a:extLst xmlns:a="http://schemas.openxmlformats.org/drawingml/2006/main">
              <a:ext uri="{FF2B5EF4-FFF2-40B4-BE49-F238E27FC236}">
                <a16:creationId xmlns:a16="http://schemas.microsoft.com/office/drawing/2014/main" id="{AF96BEBF-511E-4A6A-AEBE-BD9AF38103D5}"/>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0.85</a:t>
            </a:r>
          </a:p>
        </p:txBody>
      </p:sp>
      <p:sp>
        <p:nvSpPr>
          <p:cNvPr id="11" name="">
            <a:extLst xmlns:a="http://schemas.openxmlformats.org/drawingml/2006/main">
              <a:ext uri="{FF2B5EF4-FFF2-40B4-BE49-F238E27FC236}">
                <a16:creationId xmlns:a16="http://schemas.microsoft.com/office/drawing/2014/main" id="{D41C4753-A230-443A-811D-FCEDDE1AEE4A}"/>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35</a:t>
            </a:r>
          </a:p>
        </p:txBody>
      </p:sp>
      <p:sp>
        <p:nvSpPr>
          <p:cNvPr id="12" name="">
            <a:extLst xmlns:a="http://schemas.openxmlformats.org/drawingml/2006/main">
              <a:ext uri="{FF2B5EF4-FFF2-40B4-BE49-F238E27FC236}">
                <a16:creationId xmlns:a16="http://schemas.microsoft.com/office/drawing/2014/main" id="{D2F48EEC-FDB3-4F9B-922C-E82306922241}"/>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B0151ECF-50AC-46CB-9002-18733EDD56AC}"/>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6614A8E6-BA33-44AC-BE0D-8CFE7C8654CD}"/>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Paid media is useful for launches and promotions, but it also adds cost. That is why the weight is lower than CRM or Clients.</a:t>
            </a:r>
          </a:p>
        </p:txBody>
      </p:sp>
      <p:sp>
        <p:nvSpPr>
          <p:cNvPr id="15" name="">
            <a:extLst xmlns:a="http://schemas.openxmlformats.org/drawingml/2006/main">
              <a:ext uri="{FF2B5EF4-FFF2-40B4-BE49-F238E27FC236}">
                <a16:creationId xmlns:a16="http://schemas.microsoft.com/office/drawing/2014/main" id="{273235A8-E730-4550-AA5C-CF12E962971C}"/>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ad accounts, campaign calendar, creative variants, spend reports and conversion reports</a:t>
            </a:r>
          </a:p>
        </p:txBody>
      </p:sp>
      <p:sp>
        <p:nvSpPr>
          <p:cNvPr id="16" name="">
            <a:extLst xmlns:a="http://schemas.openxmlformats.org/drawingml/2006/main">
              <a:ext uri="{FF2B5EF4-FFF2-40B4-BE49-F238E27FC236}">
                <a16:creationId xmlns:a16="http://schemas.microsoft.com/office/drawing/2014/main" id="{8F91AF96-3B5A-4426-A1CD-4E75C3465C19}"/>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530675F2-5495-4701-9752-9E03CCE4DEC8}"/>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68EE29DA-8443-4C77-A546-45FD1922F79F}"/>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can accelerate Content visibility, but the economic role is cost-related. More spend is not automatically better communication.</a:t>
            </a:r>
          </a:p>
        </p:txBody>
      </p:sp>
      <p:sp>
        <p:nvSpPr>
          <p:cNvPr id="19" name="">
            <a:extLst xmlns:a="http://schemas.openxmlformats.org/drawingml/2006/main">
              <a:ext uri="{FF2B5EF4-FFF2-40B4-BE49-F238E27FC236}">
                <a16:creationId xmlns:a16="http://schemas.microsoft.com/office/drawing/2014/main" id="{896FA025-4C5B-4BF9-B387-1DC86A9E79EF}"/>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1055989820"/>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EEAB40B-B952-4E4C-B5EF-06D7A8B1907E}"/>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768CB57A-2510-48F8-9ED2-D146804C5F70}"/>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1B141525-839F-4FDC-B523-95ECB75873E2}"/>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13439003-0A88-43D1-ACBB-CCA560D22273}"/>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Email</a:t>
            </a:r>
          </a:p>
        </p:txBody>
      </p:sp>
      <p:sp>
        <p:nvSpPr>
          <p:cNvPr id="5" name="">
            <a:extLst xmlns:a="http://schemas.openxmlformats.org/drawingml/2006/main">
              <a:ext uri="{FF2B5EF4-FFF2-40B4-BE49-F238E27FC236}">
                <a16:creationId xmlns:a16="http://schemas.microsoft.com/office/drawing/2014/main" id="{5A043779-805E-481E-AED9-BD280187E01F}"/>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Content</a:t>
            </a:r>
          </a:p>
        </p:txBody>
      </p:sp>
      <p:sp>
        <p:nvSpPr>
          <p:cNvPr id="6" name="">
            <a:extLst xmlns:a="http://schemas.openxmlformats.org/drawingml/2006/main">
              <a:ext uri="{FF2B5EF4-FFF2-40B4-BE49-F238E27FC236}">
                <a16:creationId xmlns:a16="http://schemas.microsoft.com/office/drawing/2014/main" id="{DBB4DE2C-6CAA-4005-80BB-897ED63934F9}"/>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A658F44D-6CE5-437E-8091-60991E618595}"/>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D6B559FA-B8FD-4231-A3AF-A1D5ABD2836A}"/>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36 active email flows or campaigns</a:t>
            </a:r>
          </a:p>
        </p:txBody>
      </p:sp>
      <p:sp>
        <p:nvSpPr>
          <p:cNvPr id="9" name="">
            <a:extLst xmlns:a="http://schemas.openxmlformats.org/drawingml/2006/main">
              <a:ext uri="{FF2B5EF4-FFF2-40B4-BE49-F238E27FC236}">
                <a16:creationId xmlns:a16="http://schemas.microsoft.com/office/drawing/2014/main" id="{B0B0731B-589C-49F1-B20D-496697782DCD}"/>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120 possible campaigns or flows</a:t>
            </a:r>
          </a:p>
        </p:txBody>
      </p:sp>
      <p:sp>
        <p:nvSpPr>
          <p:cNvPr id="10" name="">
            <a:extLst xmlns:a="http://schemas.openxmlformats.org/drawingml/2006/main">
              <a:ext uri="{FF2B5EF4-FFF2-40B4-BE49-F238E27FC236}">
                <a16:creationId xmlns:a16="http://schemas.microsoft.com/office/drawing/2014/main" id="{757D4A45-6644-4734-BFC5-0CA96F82B73C}"/>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1.10</a:t>
            </a:r>
          </a:p>
        </p:txBody>
      </p:sp>
      <p:sp>
        <p:nvSpPr>
          <p:cNvPr id="11" name="">
            <a:extLst xmlns:a="http://schemas.openxmlformats.org/drawingml/2006/main">
              <a:ext uri="{FF2B5EF4-FFF2-40B4-BE49-F238E27FC236}">
                <a16:creationId xmlns:a16="http://schemas.microsoft.com/office/drawing/2014/main" id="{2FA5582B-5121-495E-9532-3FFEE68ACA4A}"/>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40</a:t>
            </a:r>
          </a:p>
        </p:txBody>
      </p:sp>
      <p:sp>
        <p:nvSpPr>
          <p:cNvPr id="12" name="">
            <a:extLst xmlns:a="http://schemas.openxmlformats.org/drawingml/2006/main">
              <a:ext uri="{FF2B5EF4-FFF2-40B4-BE49-F238E27FC236}">
                <a16:creationId xmlns:a16="http://schemas.microsoft.com/office/drawing/2014/main" id="{6A46AE11-AC70-4446-8A86-E49396F9372E}"/>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A62C6306-83F3-44A4-9BBB-B6DF237CEE6E}"/>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05CB51EE-2B83-4E1F-B3C0-371EEAAC6DDB}"/>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Email is owned communication. It can send product drops, cart recovery, member offers and post-purchase messages.</a:t>
            </a:r>
          </a:p>
        </p:txBody>
      </p:sp>
      <p:sp>
        <p:nvSpPr>
          <p:cNvPr id="15" name="">
            <a:extLst xmlns:a="http://schemas.openxmlformats.org/drawingml/2006/main">
              <a:ext uri="{FF2B5EF4-FFF2-40B4-BE49-F238E27FC236}">
                <a16:creationId xmlns:a16="http://schemas.microsoft.com/office/drawing/2014/main" id="{13B23585-B54B-4DA0-B54C-4316EE29BF3C}"/>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email marketing tool, automation platform, CRM lists and campaign archive</a:t>
            </a:r>
          </a:p>
        </p:txBody>
      </p:sp>
      <p:sp>
        <p:nvSpPr>
          <p:cNvPr id="16" name="">
            <a:extLst xmlns:a="http://schemas.openxmlformats.org/drawingml/2006/main">
              <a:ext uri="{FF2B5EF4-FFF2-40B4-BE49-F238E27FC236}">
                <a16:creationId xmlns:a16="http://schemas.microsoft.com/office/drawing/2014/main" id="{5FF15106-0925-47AD-8EF9-E0AB7AE27EFB}"/>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A4AE7944-E3F2-43B5-B7D0-6504B6BD5CDA}"/>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0EC3A158-A54C-4678-9839-BECE4BBFCB0A}"/>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strengthens Content and personalization because the club can speak directly to known users.</a:t>
            </a:r>
          </a:p>
        </p:txBody>
      </p:sp>
      <p:sp>
        <p:nvSpPr>
          <p:cNvPr id="19" name="">
            <a:extLst xmlns:a="http://schemas.openxmlformats.org/drawingml/2006/main">
              <a:ext uri="{FF2B5EF4-FFF2-40B4-BE49-F238E27FC236}">
                <a16:creationId xmlns:a16="http://schemas.microsoft.com/office/drawing/2014/main" id="{6C1B739A-1F3F-4D12-97C9-471846AC7C5B}"/>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1828346251"/>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6BE8D5-EFD5-4247-AFB4-1EAC07EAF6CC}"/>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27B6D833-8520-4E51-84E7-DD95AE2A305C}"/>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F246F648-5294-479E-9E2E-C83A9A88B956}"/>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4BE73795-7DA3-4E4B-839D-6FF048FBD30E}"/>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Brand</a:t>
            </a:r>
          </a:p>
        </p:txBody>
      </p:sp>
      <p:sp>
        <p:nvSpPr>
          <p:cNvPr id="5" name="">
            <a:extLst xmlns:a="http://schemas.openxmlformats.org/drawingml/2006/main">
              <a:ext uri="{FF2B5EF4-FFF2-40B4-BE49-F238E27FC236}">
                <a16:creationId xmlns:a16="http://schemas.microsoft.com/office/drawing/2014/main" id="{AE5E70FA-028D-4859-BB51-3CA08A6497D1}"/>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Content</a:t>
            </a:r>
          </a:p>
        </p:txBody>
      </p:sp>
      <p:sp>
        <p:nvSpPr>
          <p:cNvPr id="6" name="">
            <a:extLst xmlns:a="http://schemas.openxmlformats.org/drawingml/2006/main">
              <a:ext uri="{FF2B5EF4-FFF2-40B4-BE49-F238E27FC236}">
                <a16:creationId xmlns:a16="http://schemas.microsoft.com/office/drawing/2014/main" id="{BD7CBC6C-7092-431A-9BC0-4C0B662F70AA}"/>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2931070C-3A31-402A-A6E6-E7167223BAE8}"/>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E478D70B-1637-4130-823A-8087F4AADA84}"/>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62 brand strength score</a:t>
            </a:r>
          </a:p>
        </p:txBody>
      </p:sp>
      <p:sp>
        <p:nvSpPr>
          <p:cNvPr id="9" name="">
            <a:extLst xmlns:a="http://schemas.openxmlformats.org/drawingml/2006/main">
              <a:ext uri="{FF2B5EF4-FFF2-40B4-BE49-F238E27FC236}">
                <a16:creationId xmlns:a16="http://schemas.microsoft.com/office/drawing/2014/main" id="{FF91C93D-1115-4C9E-B8D7-99ABA160F2AB}"/>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100 arrival score</a:t>
            </a:r>
          </a:p>
        </p:txBody>
      </p:sp>
      <p:sp>
        <p:nvSpPr>
          <p:cNvPr id="10" name="">
            <a:extLst xmlns:a="http://schemas.openxmlformats.org/drawingml/2006/main">
              <a:ext uri="{FF2B5EF4-FFF2-40B4-BE49-F238E27FC236}">
                <a16:creationId xmlns:a16="http://schemas.microsoft.com/office/drawing/2014/main" id="{0A0BA753-F595-4FD6-A772-BD4EF87FF724}"/>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1.25</a:t>
            </a:r>
          </a:p>
        </p:txBody>
      </p:sp>
      <p:sp>
        <p:nvSpPr>
          <p:cNvPr id="11" name="">
            <a:extLst xmlns:a="http://schemas.openxmlformats.org/drawingml/2006/main">
              <a:ext uri="{FF2B5EF4-FFF2-40B4-BE49-F238E27FC236}">
                <a16:creationId xmlns:a16="http://schemas.microsoft.com/office/drawing/2014/main" id="{BAC9CD16-AF83-48B9-A5DA-7A5670563407}"/>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20</a:t>
            </a:r>
          </a:p>
        </p:txBody>
      </p:sp>
      <p:sp>
        <p:nvSpPr>
          <p:cNvPr id="12" name="">
            <a:extLst xmlns:a="http://schemas.openxmlformats.org/drawingml/2006/main">
              <a:ext uri="{FF2B5EF4-FFF2-40B4-BE49-F238E27FC236}">
                <a16:creationId xmlns:a16="http://schemas.microsoft.com/office/drawing/2014/main" id="{6430C6D1-BCBE-4F9D-BDBC-748C14FAEA9D}"/>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FD565F35-3519-4B26-8D19-78B75AE32DED}"/>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6BB744D5-DD80-4500-8FA5-FF1899D69B72}"/>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Brand translates emotional club identity into trust and desire. It matters when fans buy because the product represents belonging.</a:t>
            </a:r>
          </a:p>
        </p:txBody>
      </p:sp>
      <p:sp>
        <p:nvSpPr>
          <p:cNvPr id="15" name="">
            <a:extLst xmlns:a="http://schemas.openxmlformats.org/drawingml/2006/main">
              <a:ext uri="{FF2B5EF4-FFF2-40B4-BE49-F238E27FC236}">
                <a16:creationId xmlns:a16="http://schemas.microsoft.com/office/drawing/2014/main" id="{9CA38153-E90A-4392-BC9D-70C7E086D67A}"/>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brand tracking, social sentiment, reviews, community response and campaign engagement</a:t>
            </a:r>
          </a:p>
        </p:txBody>
      </p:sp>
      <p:sp>
        <p:nvSpPr>
          <p:cNvPr id="16" name="">
            <a:extLst xmlns:a="http://schemas.openxmlformats.org/drawingml/2006/main">
              <a:ext uri="{FF2B5EF4-FFF2-40B4-BE49-F238E27FC236}">
                <a16:creationId xmlns:a16="http://schemas.microsoft.com/office/drawing/2014/main" id="{15827737-8D5A-44D7-A6D8-DA72844AB2BB}"/>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198D614E-94C4-4770-AE45-D62DCD90D9D2}"/>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BE332BF5-1051-4ACD-9F94-1A2123E5BCD1}"/>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improves Content quality. Strong brand makes the same product message more persuasive.</a:t>
            </a:r>
          </a:p>
        </p:txBody>
      </p:sp>
      <p:sp>
        <p:nvSpPr>
          <p:cNvPr id="19" name="">
            <a:extLst xmlns:a="http://schemas.openxmlformats.org/drawingml/2006/main">
              <a:ext uri="{FF2B5EF4-FFF2-40B4-BE49-F238E27FC236}">
                <a16:creationId xmlns:a16="http://schemas.microsoft.com/office/drawing/2014/main" id="{9814D82F-F610-467E-839A-A8C5B6BD77DD}"/>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1414411972"/>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930FBB-9EAA-4F6F-B4BD-212EBE09CE67}"/>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799E72DC-4DCE-4D77-AF92-19704AFDBF7F}"/>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273A832B-3C3C-4C7C-9282-B7A37EC19AAC}"/>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A499F43A-A2E9-4D1C-A125-6BBD261C80D8}"/>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Mobile</a:t>
            </a:r>
          </a:p>
        </p:txBody>
      </p:sp>
      <p:sp>
        <p:nvSpPr>
          <p:cNvPr id="5" name="">
            <a:extLst xmlns:a="http://schemas.openxmlformats.org/drawingml/2006/main">
              <a:ext uri="{FF2B5EF4-FFF2-40B4-BE49-F238E27FC236}">
                <a16:creationId xmlns:a16="http://schemas.microsoft.com/office/drawing/2014/main" id="{28C28C24-55B3-4F44-AF45-4D70C08B29DC}"/>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Infrastructure</a:t>
            </a:r>
          </a:p>
        </p:txBody>
      </p:sp>
      <p:sp>
        <p:nvSpPr>
          <p:cNvPr id="6" name="">
            <a:extLst xmlns:a="http://schemas.openxmlformats.org/drawingml/2006/main">
              <a:ext uri="{FF2B5EF4-FFF2-40B4-BE49-F238E27FC236}">
                <a16:creationId xmlns:a16="http://schemas.microsoft.com/office/drawing/2014/main" id="{843BDE76-8021-45E8-AEEB-7666942D2094}"/>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128AFCDE-B42C-4199-9445-38DD1528CCF3}"/>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84FD61B0-E2C3-4B79-B8C5-5CBDE85688A8}"/>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78 mobile readiness score</a:t>
            </a:r>
          </a:p>
        </p:txBody>
      </p:sp>
      <p:sp>
        <p:nvSpPr>
          <p:cNvPr id="9" name="">
            <a:extLst xmlns:a="http://schemas.openxmlformats.org/drawingml/2006/main">
              <a:ext uri="{FF2B5EF4-FFF2-40B4-BE49-F238E27FC236}">
                <a16:creationId xmlns:a16="http://schemas.microsoft.com/office/drawing/2014/main" id="{6B792A4B-8E73-4BEF-8D71-C7510968EDB5}"/>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100 arrival score</a:t>
            </a:r>
          </a:p>
        </p:txBody>
      </p:sp>
      <p:sp>
        <p:nvSpPr>
          <p:cNvPr id="10" name="">
            <a:extLst xmlns:a="http://schemas.openxmlformats.org/drawingml/2006/main">
              <a:ext uri="{FF2B5EF4-FFF2-40B4-BE49-F238E27FC236}">
                <a16:creationId xmlns:a16="http://schemas.microsoft.com/office/drawing/2014/main" id="{32611C7E-F069-43E2-AC44-3427CC0796AE}"/>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1.20</a:t>
            </a:r>
          </a:p>
        </p:txBody>
      </p:sp>
      <p:sp>
        <p:nvSpPr>
          <p:cNvPr id="11" name="">
            <a:extLst xmlns:a="http://schemas.openxmlformats.org/drawingml/2006/main">
              <a:ext uri="{FF2B5EF4-FFF2-40B4-BE49-F238E27FC236}">
                <a16:creationId xmlns:a16="http://schemas.microsoft.com/office/drawing/2014/main" id="{BAD08700-F883-4551-8E42-1BC92E89C91D}"/>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25</a:t>
            </a:r>
          </a:p>
        </p:txBody>
      </p:sp>
      <p:sp>
        <p:nvSpPr>
          <p:cNvPr id="12" name="">
            <a:extLst xmlns:a="http://schemas.openxmlformats.org/drawingml/2006/main">
              <a:ext uri="{FF2B5EF4-FFF2-40B4-BE49-F238E27FC236}">
                <a16:creationId xmlns:a16="http://schemas.microsoft.com/office/drawing/2014/main" id="{EC98FDFB-2A6D-42BE-93DE-53C2AAEC7A52}"/>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D87CDFDF-47EF-4065-98AF-0E8AC8A0654F}"/>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26D7C6E2-8E5E-442E-AA36-99E228F43915}"/>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Mobile matters because fans discover products through social posts and often buy from the phone.</a:t>
            </a:r>
          </a:p>
        </p:txBody>
      </p:sp>
      <p:sp>
        <p:nvSpPr>
          <p:cNvPr id="15" name="">
            <a:extLst xmlns:a="http://schemas.openxmlformats.org/drawingml/2006/main">
              <a:ext uri="{FF2B5EF4-FFF2-40B4-BE49-F238E27FC236}">
                <a16:creationId xmlns:a16="http://schemas.microsoft.com/office/drawing/2014/main" id="{CD768FE6-336D-42D9-8A87-9FE9C63CBC71}"/>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mobile traffic share, conversion by device, Core Web Vitals and app or mobile checkout reports</a:t>
            </a:r>
          </a:p>
        </p:txBody>
      </p:sp>
      <p:sp>
        <p:nvSpPr>
          <p:cNvPr id="16" name="">
            <a:extLst xmlns:a="http://schemas.openxmlformats.org/drawingml/2006/main">
              <a:ext uri="{FF2B5EF4-FFF2-40B4-BE49-F238E27FC236}">
                <a16:creationId xmlns:a16="http://schemas.microsoft.com/office/drawing/2014/main" id="{16A989F0-67CF-4739-BA05-4323962EACF6}"/>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0EAEAD83-9F38-4B1E-BE6E-B7B0F691A9A9}"/>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DAAD4169-2635-43D9-9F17-067E30CE8400}"/>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improves Infrastructure because the channel fits the real behaviour of the buyer persona.</a:t>
            </a:r>
          </a:p>
        </p:txBody>
      </p:sp>
      <p:sp>
        <p:nvSpPr>
          <p:cNvPr id="19" name="">
            <a:extLst xmlns:a="http://schemas.openxmlformats.org/drawingml/2006/main">
              <a:ext uri="{FF2B5EF4-FFF2-40B4-BE49-F238E27FC236}">
                <a16:creationId xmlns:a16="http://schemas.microsoft.com/office/drawing/2014/main" id="{1D9E1F98-A7B9-49CD-815B-30A7CF5A1C74}"/>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1430704212"/>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217167C-90CE-4FE7-B761-E3F3D23C150A}"/>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EAB805FE-7DEE-4678-B74A-BD1E28B43459}"/>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412BFFD7-0B67-4563-850B-E9DDDAD8FC0F}"/>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40A889A9-A8ED-4695-8CA2-FF165059F00D}"/>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Ecommerce</a:t>
            </a:r>
          </a:p>
        </p:txBody>
      </p:sp>
      <p:sp>
        <p:nvSpPr>
          <p:cNvPr id="5" name="">
            <a:extLst xmlns:a="http://schemas.openxmlformats.org/drawingml/2006/main">
              <a:ext uri="{FF2B5EF4-FFF2-40B4-BE49-F238E27FC236}">
                <a16:creationId xmlns:a16="http://schemas.microsoft.com/office/drawing/2014/main" id="{641190D1-69F9-4991-A82C-E77106893EA3}"/>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Infrastructure</a:t>
            </a:r>
          </a:p>
        </p:txBody>
      </p:sp>
      <p:sp>
        <p:nvSpPr>
          <p:cNvPr id="6" name="">
            <a:extLst xmlns:a="http://schemas.openxmlformats.org/drawingml/2006/main">
              <a:ext uri="{FF2B5EF4-FFF2-40B4-BE49-F238E27FC236}">
                <a16:creationId xmlns:a16="http://schemas.microsoft.com/office/drawing/2014/main" id="{478C0CA6-BECB-494E-83FA-4235CEA2EB82}"/>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ED3B383A-ADCC-4A9A-BA1D-1A8B8B7F3D11}"/>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99E04BA4-29C6-4627-BF78-F3AEAEF5982C}"/>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58 ecommerce capability score</a:t>
            </a:r>
          </a:p>
        </p:txBody>
      </p:sp>
      <p:sp>
        <p:nvSpPr>
          <p:cNvPr id="9" name="">
            <a:extLst xmlns:a="http://schemas.openxmlformats.org/drawingml/2006/main">
              <a:ext uri="{FF2B5EF4-FFF2-40B4-BE49-F238E27FC236}">
                <a16:creationId xmlns:a16="http://schemas.microsoft.com/office/drawing/2014/main" id="{D3F1FC37-F7E3-4FA2-A56E-D7443E40B7DB}"/>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100 arrival score</a:t>
            </a:r>
          </a:p>
        </p:txBody>
      </p:sp>
      <p:sp>
        <p:nvSpPr>
          <p:cNvPr id="10" name="">
            <a:extLst xmlns:a="http://schemas.openxmlformats.org/drawingml/2006/main">
              <a:ext uri="{FF2B5EF4-FFF2-40B4-BE49-F238E27FC236}">
                <a16:creationId xmlns:a16="http://schemas.microsoft.com/office/drawing/2014/main" id="{38E120D8-5B4B-4578-BE40-68141A072936}"/>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1.35</a:t>
            </a:r>
          </a:p>
        </p:txBody>
      </p:sp>
      <p:sp>
        <p:nvSpPr>
          <p:cNvPr id="11" name="">
            <a:extLst xmlns:a="http://schemas.openxmlformats.org/drawingml/2006/main">
              <a:ext uri="{FF2B5EF4-FFF2-40B4-BE49-F238E27FC236}">
                <a16:creationId xmlns:a16="http://schemas.microsoft.com/office/drawing/2014/main" id="{B4357E88-4120-4CCD-B783-96E2E4993EB1}"/>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35</a:t>
            </a:r>
          </a:p>
        </p:txBody>
      </p:sp>
      <p:sp>
        <p:nvSpPr>
          <p:cNvPr id="12" name="">
            <a:extLst xmlns:a="http://schemas.openxmlformats.org/drawingml/2006/main">
              <a:ext uri="{FF2B5EF4-FFF2-40B4-BE49-F238E27FC236}">
                <a16:creationId xmlns:a16="http://schemas.microsoft.com/office/drawing/2014/main" id="{414FA9B2-630A-4410-BD11-3F0B352A8FD5}"/>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CED7B009-84CC-4F66-8041-E7EAFF82CA9F}"/>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224D627E-B75D-43F7-814D-2EAC6E5C194D}"/>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Ecommerce is where communication becomes transaction: catalogue, product page, cart, checkout, payment and delivery promise.</a:t>
            </a:r>
          </a:p>
        </p:txBody>
      </p:sp>
      <p:sp>
        <p:nvSpPr>
          <p:cNvPr id="15" name="">
            <a:extLst xmlns:a="http://schemas.openxmlformats.org/drawingml/2006/main">
              <a:ext uri="{FF2B5EF4-FFF2-40B4-BE49-F238E27FC236}">
                <a16:creationId xmlns:a16="http://schemas.microsoft.com/office/drawing/2014/main" id="{3FA7732D-9715-496F-A4F4-416DFF100C4F}"/>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platform analytics, checkout funnel, payment reports, stock availability and conversion rate</a:t>
            </a:r>
          </a:p>
        </p:txBody>
      </p:sp>
      <p:sp>
        <p:nvSpPr>
          <p:cNvPr id="16" name="">
            <a:extLst xmlns:a="http://schemas.openxmlformats.org/drawingml/2006/main">
              <a:ext uri="{FF2B5EF4-FFF2-40B4-BE49-F238E27FC236}">
                <a16:creationId xmlns:a16="http://schemas.microsoft.com/office/drawing/2014/main" id="{C8F6F7D1-5C00-4CAB-B420-5F2592E9523C}"/>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6D487B97-9D5C-4457-89FA-EA56B37EB226}"/>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5D8C23A4-3733-4A43-B2DF-7695580A8483}"/>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is a critical Infrastructure node because poor transaction flow breaks the communication loop at the moment of value capture.</a:t>
            </a:r>
          </a:p>
        </p:txBody>
      </p:sp>
      <p:sp>
        <p:nvSpPr>
          <p:cNvPr id="19" name="">
            <a:extLst xmlns:a="http://schemas.openxmlformats.org/drawingml/2006/main">
              <a:ext uri="{FF2B5EF4-FFF2-40B4-BE49-F238E27FC236}">
                <a16:creationId xmlns:a16="http://schemas.microsoft.com/office/drawing/2014/main" id="{1EF7489E-3E62-4E8C-A6A2-56A4B6F6B638}"/>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633095241"/>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9DF1C6C-B35D-499F-9180-BDC0B9F83F83}"/>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26162E1C-27FE-4EF5-AE2A-AB7C1304FA01}"/>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7A79AFBC-1178-4CCF-A5D8-430D848AF31D}"/>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DA7C32F7-3C97-433B-A993-5B54BCED1C88}"/>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CRM</a:t>
            </a:r>
          </a:p>
        </p:txBody>
      </p:sp>
      <p:sp>
        <p:nvSpPr>
          <p:cNvPr id="5" name="">
            <a:extLst xmlns:a="http://schemas.openxmlformats.org/drawingml/2006/main">
              <a:ext uri="{FF2B5EF4-FFF2-40B4-BE49-F238E27FC236}">
                <a16:creationId xmlns:a16="http://schemas.microsoft.com/office/drawing/2014/main" id="{FA7E5C64-5191-45AA-A996-87EDCE8E6987}"/>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Infrastructure</a:t>
            </a:r>
          </a:p>
        </p:txBody>
      </p:sp>
      <p:sp>
        <p:nvSpPr>
          <p:cNvPr id="6" name="">
            <a:extLst xmlns:a="http://schemas.openxmlformats.org/drawingml/2006/main">
              <a:ext uri="{FF2B5EF4-FFF2-40B4-BE49-F238E27FC236}">
                <a16:creationId xmlns:a16="http://schemas.microsoft.com/office/drawing/2014/main" id="{F49BB00E-8599-4CD5-ADD6-16FFAA081D2B}"/>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301C3D84-DBF7-4D15-81C7-605B9B5279F0}"/>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9F7B54E0-F7B1-4790-BE23-3595D8C3AC6D}"/>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18,000 active contacts</a:t>
            </a:r>
          </a:p>
        </p:txBody>
      </p:sp>
      <p:sp>
        <p:nvSpPr>
          <p:cNvPr id="9" name="">
            <a:extLst xmlns:a="http://schemas.openxmlformats.org/drawingml/2006/main">
              <a:ext uri="{FF2B5EF4-FFF2-40B4-BE49-F238E27FC236}">
                <a16:creationId xmlns:a16="http://schemas.microsoft.com/office/drawing/2014/main" id="{C8D58C0D-D01C-4CCB-80F8-D65715667B07}"/>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60,000 useful contacts</a:t>
            </a:r>
          </a:p>
        </p:txBody>
      </p:sp>
      <p:sp>
        <p:nvSpPr>
          <p:cNvPr id="10" name="">
            <a:extLst xmlns:a="http://schemas.openxmlformats.org/drawingml/2006/main">
              <a:ext uri="{FF2B5EF4-FFF2-40B4-BE49-F238E27FC236}">
                <a16:creationId xmlns:a16="http://schemas.microsoft.com/office/drawing/2014/main" id="{3A8F7F0B-1107-4CAE-92D2-A744576942BB}"/>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1.30</a:t>
            </a:r>
          </a:p>
        </p:txBody>
      </p:sp>
      <p:sp>
        <p:nvSpPr>
          <p:cNvPr id="11" name="">
            <a:extLst xmlns:a="http://schemas.openxmlformats.org/drawingml/2006/main">
              <a:ext uri="{FF2B5EF4-FFF2-40B4-BE49-F238E27FC236}">
                <a16:creationId xmlns:a16="http://schemas.microsoft.com/office/drawing/2014/main" id="{E8D2C1BD-BE8C-4479-B2FB-1852533606FD}"/>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45</a:t>
            </a:r>
          </a:p>
        </p:txBody>
      </p:sp>
      <p:sp>
        <p:nvSpPr>
          <p:cNvPr id="12" name="">
            <a:extLst xmlns:a="http://schemas.openxmlformats.org/drawingml/2006/main">
              <a:ext uri="{FF2B5EF4-FFF2-40B4-BE49-F238E27FC236}">
                <a16:creationId xmlns:a16="http://schemas.microsoft.com/office/drawing/2014/main" id="{BF030235-3C84-459A-B558-53DF8FA14619}"/>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44643D89-0DD8-4222-97FD-881C8719B168}"/>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B88EB993-7A43-40A2-9B84-069B2EC7241C}"/>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CRM is the memory of the relationship. It connects fans, buyers, preferences, purchase history and campaigns.</a:t>
            </a:r>
          </a:p>
        </p:txBody>
      </p:sp>
      <p:sp>
        <p:nvSpPr>
          <p:cNvPr id="15" name="">
            <a:extLst xmlns:a="http://schemas.openxmlformats.org/drawingml/2006/main">
              <a:ext uri="{FF2B5EF4-FFF2-40B4-BE49-F238E27FC236}">
                <a16:creationId xmlns:a16="http://schemas.microsoft.com/office/drawing/2014/main" id="{393CC579-BEEF-48DB-ADAC-7CC17C62BCA2}"/>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CRM records, ecommerce customer exports, email subscribers and consented first-party data</a:t>
            </a:r>
          </a:p>
        </p:txBody>
      </p:sp>
      <p:sp>
        <p:nvSpPr>
          <p:cNvPr id="16" name="">
            <a:extLst xmlns:a="http://schemas.openxmlformats.org/drawingml/2006/main">
              <a:ext uri="{FF2B5EF4-FFF2-40B4-BE49-F238E27FC236}">
                <a16:creationId xmlns:a16="http://schemas.microsoft.com/office/drawing/2014/main" id="{E997224A-9D15-455A-9957-DA6D1B33C971}"/>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4D795A21-9423-499C-932D-8A79022A0C2C}"/>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62319146-894B-4BDF-A2F3-2256E56C33EF}"/>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improves Infrastructure and AI readiness. Without CRM, personalization is weak because the club cannot remember who needs which message.</a:t>
            </a:r>
          </a:p>
        </p:txBody>
      </p:sp>
      <p:sp>
        <p:nvSpPr>
          <p:cNvPr id="19" name="">
            <a:extLst xmlns:a="http://schemas.openxmlformats.org/drawingml/2006/main">
              <a:ext uri="{FF2B5EF4-FFF2-40B4-BE49-F238E27FC236}">
                <a16:creationId xmlns:a16="http://schemas.microsoft.com/office/drawing/2014/main" id="{72BC7916-4F0C-4544-9B21-ADD29AF6EB55}"/>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988828819"/>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353C03D-0168-4FD7-AECB-F98DA91716BC}"/>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4040C773-CB2E-4A6F-9AEC-B350CEA3FD52}"/>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C99CE74A-1898-4E97-B8F2-2BE2F7E6EB95}"/>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D8172AAE-5327-4169-8302-DF2F1817C659}"/>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Analytics</a:t>
            </a:r>
          </a:p>
        </p:txBody>
      </p:sp>
      <p:sp>
        <p:nvSpPr>
          <p:cNvPr id="5" name="">
            <a:extLst xmlns:a="http://schemas.openxmlformats.org/drawingml/2006/main">
              <a:ext uri="{FF2B5EF4-FFF2-40B4-BE49-F238E27FC236}">
                <a16:creationId xmlns:a16="http://schemas.microsoft.com/office/drawing/2014/main" id="{685AA4E7-3007-47BF-9B52-841DAD17A918}"/>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Infrastructure</a:t>
            </a:r>
          </a:p>
        </p:txBody>
      </p:sp>
      <p:sp>
        <p:nvSpPr>
          <p:cNvPr id="6" name="">
            <a:extLst xmlns:a="http://schemas.openxmlformats.org/drawingml/2006/main">
              <a:ext uri="{FF2B5EF4-FFF2-40B4-BE49-F238E27FC236}">
                <a16:creationId xmlns:a16="http://schemas.microsoft.com/office/drawing/2014/main" id="{05EECC89-E2BD-4765-AD26-EA77D3CADD0F}"/>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B494E8EF-4C3E-4EC8-9CF8-D0A42A3FFFAF}"/>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4C563AF0-0EDA-4860-A038-44DCAA35344F}"/>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70 measurement coverage score</a:t>
            </a:r>
          </a:p>
        </p:txBody>
      </p:sp>
      <p:sp>
        <p:nvSpPr>
          <p:cNvPr id="9" name="">
            <a:extLst xmlns:a="http://schemas.openxmlformats.org/drawingml/2006/main">
              <a:ext uri="{FF2B5EF4-FFF2-40B4-BE49-F238E27FC236}">
                <a16:creationId xmlns:a16="http://schemas.microsoft.com/office/drawing/2014/main" id="{E5493DC2-38E6-4086-87E8-8073F9F42B7E}"/>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100 arrival score</a:t>
            </a:r>
          </a:p>
        </p:txBody>
      </p:sp>
      <p:sp>
        <p:nvSpPr>
          <p:cNvPr id="10" name="">
            <a:extLst xmlns:a="http://schemas.openxmlformats.org/drawingml/2006/main">
              <a:ext uri="{FF2B5EF4-FFF2-40B4-BE49-F238E27FC236}">
                <a16:creationId xmlns:a16="http://schemas.microsoft.com/office/drawing/2014/main" id="{E3B359A4-3D5A-42F5-A31A-1E2C7E128FC9}"/>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1.15</a:t>
            </a:r>
          </a:p>
        </p:txBody>
      </p:sp>
      <p:sp>
        <p:nvSpPr>
          <p:cNvPr id="11" name="">
            <a:extLst xmlns:a="http://schemas.openxmlformats.org/drawingml/2006/main">
              <a:ext uri="{FF2B5EF4-FFF2-40B4-BE49-F238E27FC236}">
                <a16:creationId xmlns:a16="http://schemas.microsoft.com/office/drawing/2014/main" id="{9BD159E4-2F3E-4ACD-B401-A5CEB6D278D1}"/>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42</a:t>
            </a:r>
          </a:p>
        </p:txBody>
      </p:sp>
      <p:sp>
        <p:nvSpPr>
          <p:cNvPr id="12" name="">
            <a:extLst xmlns:a="http://schemas.openxmlformats.org/drawingml/2006/main">
              <a:ext uri="{FF2B5EF4-FFF2-40B4-BE49-F238E27FC236}">
                <a16:creationId xmlns:a16="http://schemas.microsoft.com/office/drawing/2014/main" id="{E64ABF8F-7F54-4F7A-8BD5-0C43C59DCA7B}"/>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59BA99BB-3A6D-408F-9344-6E7E5B835AE0}"/>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4BDACB73-8EEB-43EE-A9DC-05788E6ADBBF}"/>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Analytics tells the club what happened: clicks, product views, carts, purchases, campaign sources and return behaviour.</a:t>
            </a:r>
          </a:p>
        </p:txBody>
      </p:sp>
      <p:sp>
        <p:nvSpPr>
          <p:cNvPr id="15" name="">
            <a:extLst xmlns:a="http://schemas.openxmlformats.org/drawingml/2006/main">
              <a:ext uri="{FF2B5EF4-FFF2-40B4-BE49-F238E27FC236}">
                <a16:creationId xmlns:a16="http://schemas.microsoft.com/office/drawing/2014/main" id="{097C6C6D-C513-48C9-8183-A35D0FE2161C}"/>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GA4, ecommerce analytics, tag manager, campaign dashboards and CRM reports</a:t>
            </a:r>
          </a:p>
        </p:txBody>
      </p:sp>
      <p:sp>
        <p:nvSpPr>
          <p:cNvPr id="16" name="">
            <a:extLst xmlns:a="http://schemas.openxmlformats.org/drawingml/2006/main">
              <a:ext uri="{FF2B5EF4-FFF2-40B4-BE49-F238E27FC236}">
                <a16:creationId xmlns:a16="http://schemas.microsoft.com/office/drawing/2014/main" id="{B780928F-BAA7-4966-B609-1D646E349D0D}"/>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CC944450-2E4B-4E43-B8CA-76C9F5B33845}"/>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5123012A-3DE0-489C-A0F0-CFC44C32FDDE}"/>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improves feedback. If analytics is weak, the system cannot learn from the buyer persona.</a:t>
            </a:r>
          </a:p>
        </p:txBody>
      </p:sp>
      <p:sp>
        <p:nvSpPr>
          <p:cNvPr id="19" name="">
            <a:extLst xmlns:a="http://schemas.openxmlformats.org/drawingml/2006/main">
              <a:ext uri="{FF2B5EF4-FFF2-40B4-BE49-F238E27FC236}">
                <a16:creationId xmlns:a16="http://schemas.microsoft.com/office/drawing/2014/main" id="{EB0EB099-3C8B-4C55-B24F-24BA90183737}"/>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267457057"/>
      </p:ext>
    </p:extLst>
  </p:cSld>
</p:sld>
</file>

<file path=ppt/slides/slide2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E147A48-7A99-401B-A1BF-CF4827B08EF7}"/>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6BFC2D4D-DAB6-446F-980C-41363FE82EBB}"/>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03678EAE-9BCB-4B37-9052-760865C90FB1}"/>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Node-by-node filling guide</a:t>
            </a:r>
          </a:p>
        </p:txBody>
      </p:sp>
      <p:sp>
        <p:nvSpPr>
          <p:cNvPr id="4" name="">
            <a:extLst xmlns:a="http://schemas.openxmlformats.org/drawingml/2006/main">
              <a:ext uri="{FF2B5EF4-FFF2-40B4-BE49-F238E27FC236}">
                <a16:creationId xmlns:a16="http://schemas.microsoft.com/office/drawing/2014/main" id="{E1CE5891-1370-46B3-8FF8-933A7824436F}"/>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Example node: Workflow AI</a:t>
            </a:r>
          </a:p>
        </p:txBody>
      </p:sp>
      <p:sp>
        <p:nvSpPr>
          <p:cNvPr id="5" name="">
            <a:extLst xmlns:a="http://schemas.openxmlformats.org/drawingml/2006/main">
              <a:ext uri="{FF2B5EF4-FFF2-40B4-BE49-F238E27FC236}">
                <a16:creationId xmlns:a16="http://schemas.microsoft.com/office/drawing/2014/main" id="{2250957B-7191-4C8B-A646-6E49B7E1087A}"/>
              </a:ext>
            </a:extLst>
          </p:cNvPr>
          <p:cNvSpPr>
            <a:spLocks xmlns:a="http://schemas.openxmlformats.org/drawingml/2006/main" noGrp="1"/>
          </p:cNvSpPr>
          <p:nvPr/>
        </p:nvSpPr>
        <p:spPr>
          <a:xfrm xmlns:a="http://schemas.openxmlformats.org/drawingml/2006/main">
            <a:off x="685800" y="2019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Infrastructure</a:t>
            </a:r>
          </a:p>
        </p:txBody>
      </p:sp>
      <p:sp>
        <p:nvSpPr>
          <p:cNvPr id="6" name="">
            <a:extLst xmlns:a="http://schemas.openxmlformats.org/drawingml/2006/main">
              <a:ext uri="{FF2B5EF4-FFF2-40B4-BE49-F238E27FC236}">
                <a16:creationId xmlns:a16="http://schemas.microsoft.com/office/drawing/2014/main" id="{FC802280-54AE-49E3-B3B6-1F348EBBDF35}"/>
              </a:ext>
            </a:extLst>
          </p:cNvPr>
          <p:cNvSpPr>
            <a:spLocks xmlns:a="http://schemas.openxmlformats.org/drawingml/2006/main" noGrp="1"/>
          </p:cNvSpPr>
          <p:nvPr/>
        </p:nvSpPr>
        <p:spPr>
          <a:xfrm xmlns:a="http://schemas.openxmlformats.org/drawingml/2006/main">
            <a:off x="685800" y="2476500"/>
            <a:ext cx="2952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E536B378-B66E-4406-8C09-E9A651C5D15F}"/>
              </a:ext>
            </a:extLst>
          </p:cNvPr>
          <p:cNvSpPr>
            <a:spLocks xmlns:a="http://schemas.openxmlformats.org/drawingml/2006/main" noGrp="1"/>
          </p:cNvSpPr>
          <p:nvPr/>
        </p:nvSpPr>
        <p:spPr>
          <a:xfrm xmlns:a="http://schemas.openxmlformats.org/drawingml/2006/main">
            <a:off x="9715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5070B"/>
                </a:solidFill>
              </a:defRPr>
            </a:pPr>
            <a:r>
              <a:rPr sz="1950" b="1">
                <a:solidFill>
                  <a:srgbClr val="05070B"/>
                </a:solidFill>
              </a:rPr>
              <a:t>Values to enter</a:t>
            </a:r>
          </a:p>
        </p:txBody>
      </p:sp>
      <p:sp>
        <p:nvSpPr>
          <p:cNvPr id="8" name="">
            <a:extLst xmlns:a="http://schemas.openxmlformats.org/drawingml/2006/main">
              <a:ext uri="{FF2B5EF4-FFF2-40B4-BE49-F238E27FC236}">
                <a16:creationId xmlns:a16="http://schemas.microsoft.com/office/drawing/2014/main" id="{83C6C0B3-7093-448A-B9BF-C2658E25FBFD}"/>
              </a:ext>
            </a:extLst>
          </p:cNvPr>
          <p:cNvSpPr>
            <a:spLocks xmlns:a="http://schemas.openxmlformats.org/drawingml/2006/main" noGrp="1"/>
          </p:cNvSpPr>
          <p:nvPr/>
        </p:nvSpPr>
        <p:spPr>
          <a:xfrm xmlns:a="http://schemas.openxmlformats.org/drawingml/2006/main">
            <a:off x="971550" y="33337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Observed quantity</a:t>
            </a:r>
          </a:p>
          <a:p xmlns:a="http://schemas.openxmlformats.org/drawingml/2006/main">
            <a:pPr algn="l">
              <a:defRPr sz="1575" b="1">
                <a:solidFill>
                  <a:srgbClr val="003B5C"/>
                </a:solidFill>
              </a:defRPr>
            </a:pPr>
            <a:r>
              <a:rPr sz="1575" b="1">
                <a:solidFill>
                  <a:srgbClr val="003B5C"/>
                </a:solidFill>
              </a:rPr>
              <a:t>42 automation maturity score</a:t>
            </a:r>
          </a:p>
        </p:txBody>
      </p:sp>
      <p:sp>
        <p:nvSpPr>
          <p:cNvPr id="9" name="">
            <a:extLst xmlns:a="http://schemas.openxmlformats.org/drawingml/2006/main">
              <a:ext uri="{FF2B5EF4-FFF2-40B4-BE49-F238E27FC236}">
                <a16:creationId xmlns:a16="http://schemas.microsoft.com/office/drawing/2014/main" id="{15B112B4-F0F4-4563-8302-F3B7A0FB4A76}"/>
              </a:ext>
            </a:extLst>
          </p:cNvPr>
          <p:cNvSpPr>
            <a:spLocks xmlns:a="http://schemas.openxmlformats.org/drawingml/2006/main" noGrp="1"/>
          </p:cNvSpPr>
          <p:nvPr/>
        </p:nvSpPr>
        <p:spPr>
          <a:xfrm xmlns:a="http://schemas.openxmlformats.org/drawingml/2006/main">
            <a:off x="971550" y="3981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Arrival maximum</a:t>
            </a:r>
          </a:p>
          <a:p xmlns:a="http://schemas.openxmlformats.org/drawingml/2006/main">
            <a:pPr algn="l">
              <a:defRPr sz="1575" b="1">
                <a:solidFill>
                  <a:srgbClr val="003B5C"/>
                </a:solidFill>
              </a:defRPr>
            </a:pPr>
            <a:r>
              <a:rPr sz="1575" b="1">
                <a:solidFill>
                  <a:srgbClr val="003B5C"/>
                </a:solidFill>
              </a:rPr>
              <a:t>100 arrival score</a:t>
            </a:r>
          </a:p>
        </p:txBody>
      </p:sp>
      <p:sp>
        <p:nvSpPr>
          <p:cNvPr id="10" name="">
            <a:extLst xmlns:a="http://schemas.openxmlformats.org/drawingml/2006/main">
              <a:ext uri="{FF2B5EF4-FFF2-40B4-BE49-F238E27FC236}">
                <a16:creationId xmlns:a16="http://schemas.microsoft.com/office/drawing/2014/main" id="{157AC120-DB6D-491D-8B68-DF3EF933AEA1}"/>
              </a:ext>
            </a:extLst>
          </p:cNvPr>
          <p:cNvSpPr>
            <a:spLocks xmlns:a="http://schemas.openxmlformats.org/drawingml/2006/main" noGrp="1"/>
          </p:cNvSpPr>
          <p:nvPr/>
        </p:nvSpPr>
        <p:spPr>
          <a:xfrm xmlns:a="http://schemas.openxmlformats.org/drawingml/2006/main">
            <a:off x="971550" y="46291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Communication weight</a:t>
            </a:r>
          </a:p>
          <a:p xmlns:a="http://schemas.openxmlformats.org/drawingml/2006/main">
            <a:pPr algn="l">
              <a:defRPr sz="1575" b="1">
                <a:solidFill>
                  <a:srgbClr val="003B5C"/>
                </a:solidFill>
              </a:defRPr>
            </a:pPr>
            <a:r>
              <a:rPr sz="1575" b="1">
                <a:solidFill>
                  <a:srgbClr val="003B5C"/>
                </a:solidFill>
              </a:rPr>
              <a:t>1.45</a:t>
            </a:r>
          </a:p>
        </p:txBody>
      </p:sp>
      <p:sp>
        <p:nvSpPr>
          <p:cNvPr id="11" name="">
            <a:extLst xmlns:a="http://schemas.openxmlformats.org/drawingml/2006/main">
              <a:ext uri="{FF2B5EF4-FFF2-40B4-BE49-F238E27FC236}">
                <a16:creationId xmlns:a16="http://schemas.microsoft.com/office/drawing/2014/main" id="{35BFE98B-FEA5-4C9B-B70D-A3706A3C6C19}"/>
              </a:ext>
            </a:extLst>
          </p:cNvPr>
          <p:cNvSpPr>
            <a:spLocks xmlns:a="http://schemas.openxmlformats.org/drawingml/2006/main" noGrp="1"/>
          </p:cNvSpPr>
          <p:nvPr/>
        </p:nvSpPr>
        <p:spPr>
          <a:xfrm xmlns:a="http://schemas.openxmlformats.org/drawingml/2006/main">
            <a:off x="971550" y="52768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AI enablement</a:t>
            </a:r>
          </a:p>
          <a:p xmlns:a="http://schemas.openxmlformats.org/drawingml/2006/main">
            <a:pPr algn="l">
              <a:defRPr sz="1575" b="1">
                <a:solidFill>
                  <a:srgbClr val="003B5C"/>
                </a:solidFill>
              </a:defRPr>
            </a:pPr>
            <a:r>
              <a:rPr sz="1575" b="1">
                <a:solidFill>
                  <a:srgbClr val="003B5C"/>
                </a:solidFill>
              </a:rPr>
              <a:t>65</a:t>
            </a:r>
          </a:p>
        </p:txBody>
      </p:sp>
      <p:sp>
        <p:nvSpPr>
          <p:cNvPr id="12" name="">
            <a:extLst xmlns:a="http://schemas.openxmlformats.org/drawingml/2006/main">
              <a:ext uri="{FF2B5EF4-FFF2-40B4-BE49-F238E27FC236}">
                <a16:creationId xmlns:a16="http://schemas.microsoft.com/office/drawing/2014/main" id="{860D949F-DE2A-490C-9CD0-A7F00A48F266}"/>
              </a:ext>
            </a:extLst>
          </p:cNvPr>
          <p:cNvSpPr>
            <a:spLocks xmlns:a="http://schemas.openxmlformats.org/drawingml/2006/main" noGrp="1"/>
          </p:cNvSpPr>
          <p:nvPr/>
        </p:nvSpPr>
        <p:spPr>
          <a:xfrm xmlns:a="http://schemas.openxmlformats.org/drawingml/2006/main">
            <a:off x="4095750" y="2381250"/>
            <a:ext cx="3238500" cy="3143250"/>
          </a:xfrm>
          <a:prstGeom xmlns:a="http://schemas.openxmlformats.org/drawingml/2006/main" prst="roundRect">
            <a:avLst>
              <a:gd name="adj" fmla="val 2424"/>
            </a:avLst>
          </a:prstGeom>
          <a:solidFill xmlns:a="http://schemas.openxmlformats.org/drawingml/2006/main">
            <a:srgbClr val="D8ECF8"/>
          </a:solidFill>
          <a:ln xmlns:a="http://schemas.openxmlformats.org/drawingml/2006/main" w="9525">
            <a:solidFill>
              <a:srgbClr val="003B5C"/>
            </a:solidFill>
            <a:prstDash val="solid"/>
          </a:ln>
        </p:spPr>
      </p:sp>
      <p:sp>
        <p:nvSpPr>
          <p:cNvPr id="13" name="">
            <a:extLst xmlns:a="http://schemas.openxmlformats.org/drawingml/2006/main">
              <a:ext uri="{FF2B5EF4-FFF2-40B4-BE49-F238E27FC236}">
                <a16:creationId xmlns:a16="http://schemas.microsoft.com/office/drawing/2014/main" id="{BB6745C7-11AF-4DEA-A4BB-0003B2598030}"/>
              </a:ext>
            </a:extLst>
          </p:cNvPr>
          <p:cNvSpPr>
            <a:spLocks xmlns:a="http://schemas.openxmlformats.org/drawingml/2006/main" noGrp="1"/>
          </p:cNvSpPr>
          <p:nvPr/>
        </p:nvSpPr>
        <p:spPr>
          <a:xfrm xmlns:a="http://schemas.openxmlformats.org/drawingml/2006/main">
            <a:off x="4400550" y="2724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Why this value is used</a:t>
            </a:r>
          </a:p>
        </p:txBody>
      </p:sp>
      <p:sp>
        <p:nvSpPr>
          <p:cNvPr id="14" name="">
            <a:extLst xmlns:a="http://schemas.openxmlformats.org/drawingml/2006/main">
              <a:ext uri="{FF2B5EF4-FFF2-40B4-BE49-F238E27FC236}">
                <a16:creationId xmlns:a16="http://schemas.microsoft.com/office/drawing/2014/main" id="{A8D8E609-9AED-4E74-AAA4-54719B88A16C}"/>
              </a:ext>
            </a:extLst>
          </p:cNvPr>
          <p:cNvSpPr>
            <a:spLocks xmlns:a="http://schemas.openxmlformats.org/drawingml/2006/main" noGrp="1"/>
          </p:cNvSpPr>
          <p:nvPr/>
        </p:nvSpPr>
        <p:spPr>
          <a:xfrm xmlns:a="http://schemas.openxmlformats.org/drawingml/2006/main">
            <a:off x="4400550" y="32385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5070B"/>
                </a:solidFill>
              </a:defRPr>
            </a:pPr>
            <a:r>
              <a:rPr sz="1500" b="0">
                <a:solidFill>
                  <a:srgbClr val="05070B"/>
                </a:solidFill>
              </a:rPr>
              <a:t>Workflow AI connects events with action: abandoned cart follow-up, stock alert, service reply, campaign trigger or personalized offer.</a:t>
            </a:r>
          </a:p>
        </p:txBody>
      </p:sp>
      <p:sp>
        <p:nvSpPr>
          <p:cNvPr id="15" name="">
            <a:extLst xmlns:a="http://schemas.openxmlformats.org/drawingml/2006/main">
              <a:ext uri="{FF2B5EF4-FFF2-40B4-BE49-F238E27FC236}">
                <a16:creationId xmlns:a16="http://schemas.microsoft.com/office/drawing/2014/main" id="{763AFF79-A820-46F1-AE56-140303BED34B}"/>
              </a:ext>
            </a:extLst>
          </p:cNvPr>
          <p:cNvSpPr>
            <a:spLocks xmlns:a="http://schemas.openxmlformats.org/drawingml/2006/main" noGrp="1"/>
          </p:cNvSpPr>
          <p:nvPr/>
        </p:nvSpPr>
        <p:spPr>
          <a:xfrm xmlns:a="http://schemas.openxmlformats.org/drawingml/2006/main">
            <a:off x="4400550" y="48577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334155"/>
                </a:solidFill>
              </a:defRPr>
            </a:pPr>
            <a:r>
              <a:rPr sz="1275" b="0">
                <a:solidFill>
                  <a:srgbClr val="334155"/>
                </a:solidFill>
              </a:rPr>
              <a:t>Where to get it: workflow tools, AI automations, service triggers, ecommerce events and campaign orchestration logs</a:t>
            </a:r>
          </a:p>
        </p:txBody>
      </p:sp>
      <p:sp>
        <p:nvSpPr>
          <p:cNvPr id="16" name="">
            <a:extLst xmlns:a="http://schemas.openxmlformats.org/drawingml/2006/main">
              <a:ext uri="{FF2B5EF4-FFF2-40B4-BE49-F238E27FC236}">
                <a16:creationId xmlns:a16="http://schemas.microsoft.com/office/drawing/2014/main" id="{E9189D74-DEFA-4CB0-914F-0DF04E56C297}"/>
              </a:ext>
            </a:extLst>
          </p:cNvPr>
          <p:cNvSpPr>
            <a:spLocks xmlns:a="http://schemas.openxmlformats.org/drawingml/2006/main" noGrp="1"/>
          </p:cNvSpPr>
          <p:nvPr/>
        </p:nvSpPr>
        <p:spPr>
          <a:xfrm xmlns:a="http://schemas.openxmlformats.org/drawingml/2006/main">
            <a:off x="7810500" y="2381250"/>
            <a:ext cx="3143250" cy="3143250"/>
          </a:xfrm>
          <a:prstGeom xmlns:a="http://schemas.openxmlformats.org/drawingml/2006/main" prst="roundRect">
            <a:avLst>
              <a:gd name="adj" fmla="val 2424"/>
            </a:avLst>
          </a:prstGeom>
          <a:solidFill xmlns:a="http://schemas.openxmlformats.org/drawingml/2006/main">
            <a:srgbClr val="071D33"/>
          </a:solidFill>
          <a:ln xmlns:a="http://schemas.openxmlformats.org/drawingml/2006/main" w="9525">
            <a:solidFill>
              <a:srgbClr val="071D33"/>
            </a:solidFill>
            <a:prstDash val="solid"/>
          </a:ln>
        </p:spPr>
      </p:sp>
      <p:sp>
        <p:nvSpPr>
          <p:cNvPr id="17" name="">
            <a:extLst xmlns:a="http://schemas.openxmlformats.org/drawingml/2006/main">
              <a:ext uri="{FF2B5EF4-FFF2-40B4-BE49-F238E27FC236}">
                <a16:creationId xmlns:a16="http://schemas.microsoft.com/office/drawing/2014/main" id="{41D1D442-9C4A-494A-9665-FFD26E29A6B7}"/>
              </a:ext>
            </a:extLst>
          </p:cNvPr>
          <p:cNvSpPr>
            <a:spLocks xmlns:a="http://schemas.openxmlformats.org/drawingml/2006/main" noGrp="1"/>
          </p:cNvSpPr>
          <p:nvPr/>
        </p:nvSpPr>
        <p:spPr>
          <a:xfrm xmlns:a="http://schemas.openxmlformats.org/drawingml/2006/main">
            <a:off x="809625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How it moves the model</a:t>
            </a:r>
          </a:p>
        </p:txBody>
      </p:sp>
      <p:sp>
        <p:nvSpPr>
          <p:cNvPr id="18" name="">
            <a:extLst xmlns:a="http://schemas.openxmlformats.org/drawingml/2006/main">
              <a:ext uri="{FF2B5EF4-FFF2-40B4-BE49-F238E27FC236}">
                <a16:creationId xmlns:a16="http://schemas.microsoft.com/office/drawing/2014/main" id="{822C38FE-8CF8-4311-B086-F4FEF97BCF38}"/>
              </a:ext>
            </a:extLst>
          </p:cNvPr>
          <p:cNvSpPr>
            <a:spLocks xmlns:a="http://schemas.openxmlformats.org/drawingml/2006/main" noGrp="1"/>
          </p:cNvSpPr>
          <p:nvPr/>
        </p:nvSpPr>
        <p:spPr>
          <a:xfrm xmlns:a="http://schemas.openxmlformats.org/drawingml/2006/main">
            <a:off x="8096250" y="32766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AF6FB"/>
                </a:solidFill>
              </a:defRPr>
            </a:pPr>
            <a:r>
              <a:rPr sz="1500" b="0">
                <a:solidFill>
                  <a:srgbClr val="EAF6FB"/>
                </a:solidFill>
              </a:rPr>
              <a:t>It strongly accelerates the model when data and systems are ready, because feedback can become action without waiting for manual work.</a:t>
            </a:r>
          </a:p>
        </p:txBody>
      </p:sp>
      <p:sp>
        <p:nvSpPr>
          <p:cNvPr id="19" name="">
            <a:extLst xmlns:a="http://schemas.openxmlformats.org/drawingml/2006/main">
              <a:ext uri="{FF2B5EF4-FFF2-40B4-BE49-F238E27FC236}">
                <a16:creationId xmlns:a16="http://schemas.microsoft.com/office/drawing/2014/main" id="{2A428107-049B-499B-89DE-53445406FDFF}"/>
              </a:ext>
            </a:extLst>
          </p:cNvPr>
          <p:cNvSpPr>
            <a:spLocks xmlns:a="http://schemas.openxmlformats.org/drawingml/2006/main" noGrp="1"/>
          </p:cNvSpPr>
          <p:nvPr/>
        </p:nvSpPr>
        <p:spPr>
          <a:xfrm xmlns:a="http://schemas.openxmlformats.org/drawingml/2006/main">
            <a:off x="8096250" y="4953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ECF8"/>
                </a:solidFill>
              </a:defRPr>
            </a:pPr>
            <a:r>
              <a:rPr sz="1200" b="0">
                <a:solidFill>
                  <a:srgbClr val="D8ECF8"/>
                </a:solidFill>
              </a:rPr>
              <a:t>Use the same logic with real data: defend the observed value, set a realistic arrival maximum, and explain the weight.</a:t>
            </a:r>
          </a:p>
        </p:txBody>
      </p:sp>
    </p:spTree>
    <p:extLst>
      <p:ext uri="{BB962C8B-B14F-4D97-AF65-F5344CB8AC3E}">
        <p14:creationId xmlns:p14="http://schemas.microsoft.com/office/powerpoint/2010/main" val="535586389"/>
      </p:ext>
    </p:extLst>
  </p:cSld>
</p:sld>
</file>

<file path=ppt/slides/slide2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F15172-6D23-4B08-8C7A-D322A266F9F1}"/>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51B4249B-D3AE-42E3-B473-0A907F8BB31D}"/>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B053AFFF-D99A-4FA6-A60C-8DB46906DEE0}"/>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EC1711A9-7DAF-40B8-B50B-C2F4F3CB0310}"/>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Why CRM deserves attention in this model</a:t>
            </a:r>
          </a:p>
        </p:txBody>
      </p:sp>
      <p:sp>
        <p:nvSpPr>
          <p:cNvPr id="5" name="">
            <a:extLst xmlns:a="http://schemas.openxmlformats.org/drawingml/2006/main">
              <a:ext uri="{FF2B5EF4-FFF2-40B4-BE49-F238E27FC236}">
                <a16:creationId xmlns:a16="http://schemas.microsoft.com/office/drawing/2014/main" id="{38B9FEF8-86E9-4EEB-89AA-73F486DB966B}"/>
              </a:ext>
            </a:extLst>
          </p:cNvPr>
          <p:cNvSpPr>
            <a:spLocks xmlns:a="http://schemas.openxmlformats.org/drawingml/2006/main" noGrp="1"/>
          </p:cNvSpPr>
          <p:nvPr/>
        </p:nvSpPr>
        <p:spPr>
          <a:xfrm xmlns:a="http://schemas.openxmlformats.org/drawingml/2006/main">
            <a:off x="857250" y="20955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0E942EBC-41CE-4C5B-B034-849520ACB8B5}"/>
              </a:ext>
            </a:extLst>
          </p:cNvPr>
          <p:cNvSpPr>
            <a:spLocks xmlns:a="http://schemas.openxmlformats.org/drawingml/2006/main" noGrp="1"/>
          </p:cNvSpPr>
          <p:nvPr/>
        </p:nvSpPr>
        <p:spPr>
          <a:xfrm xmlns:a="http://schemas.openxmlformats.org/drawingml/2006/main">
            <a:off x="1123950" y="2095500"/>
            <a:ext cx="592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CRM is not just a database. It is the memory of the relationship.</a:t>
            </a:r>
          </a:p>
        </p:txBody>
      </p:sp>
      <p:sp>
        <p:nvSpPr>
          <p:cNvPr id="7" name="">
            <a:extLst xmlns:a="http://schemas.openxmlformats.org/drawingml/2006/main">
              <a:ext uri="{FF2B5EF4-FFF2-40B4-BE49-F238E27FC236}">
                <a16:creationId xmlns:a16="http://schemas.microsoft.com/office/drawing/2014/main" id="{72169E2F-0EB8-4D10-B81F-93906639C1A3}"/>
              </a:ext>
            </a:extLst>
          </p:cNvPr>
          <p:cNvSpPr>
            <a:spLocks xmlns:a="http://schemas.openxmlformats.org/drawingml/2006/main" noGrp="1"/>
          </p:cNvSpPr>
          <p:nvPr/>
        </p:nvSpPr>
        <p:spPr>
          <a:xfrm xmlns:a="http://schemas.openxmlformats.org/drawingml/2006/main">
            <a:off x="857250" y="26860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05672A92-76EA-45FB-B317-5A15572CA2DD}"/>
              </a:ext>
            </a:extLst>
          </p:cNvPr>
          <p:cNvSpPr>
            <a:spLocks xmlns:a="http://schemas.openxmlformats.org/drawingml/2006/main" noGrp="1"/>
          </p:cNvSpPr>
          <p:nvPr/>
        </p:nvSpPr>
        <p:spPr>
          <a:xfrm xmlns:a="http://schemas.openxmlformats.org/drawingml/2006/main">
            <a:off x="1123950" y="2686050"/>
            <a:ext cx="592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For the Ibiza ecommerce case, CRM connects fans, buyers, purchase history, preferences and campaigns.</a:t>
            </a:r>
          </a:p>
        </p:txBody>
      </p:sp>
      <p:sp>
        <p:nvSpPr>
          <p:cNvPr id="9" name="">
            <a:extLst xmlns:a="http://schemas.openxmlformats.org/drawingml/2006/main">
              <a:ext uri="{FF2B5EF4-FFF2-40B4-BE49-F238E27FC236}">
                <a16:creationId xmlns:a16="http://schemas.microsoft.com/office/drawing/2014/main" id="{8CF7FC85-147D-4415-944E-44AE1D713213}"/>
              </a:ext>
            </a:extLst>
          </p:cNvPr>
          <p:cNvSpPr>
            <a:spLocks xmlns:a="http://schemas.openxmlformats.org/drawingml/2006/main" noGrp="1"/>
          </p:cNvSpPr>
          <p:nvPr/>
        </p:nvSpPr>
        <p:spPr>
          <a:xfrm xmlns:a="http://schemas.openxmlformats.org/drawingml/2006/main">
            <a:off x="857250" y="3276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BEA035FF-D818-4ADA-8E2E-1EFA45EBACBB}"/>
              </a:ext>
            </a:extLst>
          </p:cNvPr>
          <p:cNvSpPr>
            <a:spLocks xmlns:a="http://schemas.openxmlformats.org/drawingml/2006/main" noGrp="1"/>
          </p:cNvSpPr>
          <p:nvPr/>
        </p:nvSpPr>
        <p:spPr>
          <a:xfrm xmlns:a="http://schemas.openxmlformats.org/drawingml/2006/main">
            <a:off x="1123950" y="3276600"/>
            <a:ext cx="592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A weak CRM means poor personalization: the same message goes to everyone.</a:t>
            </a:r>
          </a:p>
        </p:txBody>
      </p:sp>
      <p:sp>
        <p:nvSpPr>
          <p:cNvPr id="11" name="">
            <a:extLst xmlns:a="http://schemas.openxmlformats.org/drawingml/2006/main">
              <a:ext uri="{FF2B5EF4-FFF2-40B4-BE49-F238E27FC236}">
                <a16:creationId xmlns:a16="http://schemas.microsoft.com/office/drawing/2014/main" id="{B6231641-5440-4B2D-A778-8ADA484F90F9}"/>
              </a:ext>
            </a:extLst>
          </p:cNvPr>
          <p:cNvSpPr>
            <a:spLocks xmlns:a="http://schemas.openxmlformats.org/drawingml/2006/main" noGrp="1"/>
          </p:cNvSpPr>
          <p:nvPr/>
        </p:nvSpPr>
        <p:spPr>
          <a:xfrm xmlns:a="http://schemas.openxmlformats.org/drawingml/2006/main">
            <a:off x="857250" y="38671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A3F21758-1DF4-4F43-A60E-0F502A115CD1}"/>
              </a:ext>
            </a:extLst>
          </p:cNvPr>
          <p:cNvSpPr>
            <a:spLocks xmlns:a="http://schemas.openxmlformats.org/drawingml/2006/main" noGrp="1"/>
          </p:cNvSpPr>
          <p:nvPr/>
        </p:nvSpPr>
        <p:spPr>
          <a:xfrm xmlns:a="http://schemas.openxmlformats.org/drawingml/2006/main">
            <a:off x="1123950" y="3867150"/>
            <a:ext cx="592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A strong CRM lets AI decide who should receive which offer, when, and through which channel.</a:t>
            </a:r>
          </a:p>
        </p:txBody>
      </p:sp>
      <p:sp>
        <p:nvSpPr>
          <p:cNvPr id="13" name="">
            <a:extLst xmlns:a="http://schemas.openxmlformats.org/drawingml/2006/main">
              <a:ext uri="{FF2B5EF4-FFF2-40B4-BE49-F238E27FC236}">
                <a16:creationId xmlns:a16="http://schemas.microsoft.com/office/drawing/2014/main" id="{C295E733-5750-4009-820B-8B54ED34EDA3}"/>
              </a:ext>
            </a:extLst>
          </p:cNvPr>
          <p:cNvSpPr>
            <a:spLocks xmlns:a="http://schemas.openxmlformats.org/drawingml/2006/main" noGrp="1"/>
          </p:cNvSpPr>
          <p:nvPr/>
        </p:nvSpPr>
        <p:spPr>
          <a:xfrm xmlns:a="http://schemas.openxmlformats.org/drawingml/2006/main">
            <a:off x="7810500" y="2095500"/>
            <a:ext cx="3143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CBDDE8"/>
            </a:solidFill>
            <a:prstDash val="solid"/>
          </a:ln>
        </p:spPr>
      </p:sp>
      <p:sp>
        <p:nvSpPr>
          <p:cNvPr id="14" name="">
            <a:extLst xmlns:a="http://schemas.openxmlformats.org/drawingml/2006/main">
              <a:ext uri="{FF2B5EF4-FFF2-40B4-BE49-F238E27FC236}">
                <a16:creationId xmlns:a16="http://schemas.microsoft.com/office/drawing/2014/main" id="{441C414E-52EC-4B64-A6D8-8D16F9B02B50}"/>
              </a:ext>
            </a:extLst>
          </p:cNvPr>
          <p:cNvSpPr>
            <a:spLocks xmlns:a="http://schemas.openxmlformats.org/drawingml/2006/main" noGrp="1"/>
          </p:cNvSpPr>
          <p:nvPr/>
        </p:nvSpPr>
        <p:spPr>
          <a:xfrm xmlns:a="http://schemas.openxmlformats.org/drawingml/2006/main">
            <a:off x="8096250" y="24288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Example CRM values</a:t>
            </a:r>
          </a:p>
        </p:txBody>
      </p:sp>
      <p:sp>
        <p:nvSpPr>
          <p:cNvPr id="15" name="">
            <a:extLst xmlns:a="http://schemas.openxmlformats.org/drawingml/2006/main">
              <a:ext uri="{FF2B5EF4-FFF2-40B4-BE49-F238E27FC236}">
                <a16:creationId xmlns:a16="http://schemas.microsoft.com/office/drawing/2014/main" id="{8C38590F-A60D-45BD-8033-B4ED83B2FE1A}"/>
              </a:ext>
            </a:extLst>
          </p:cNvPr>
          <p:cNvSpPr>
            <a:spLocks xmlns:a="http://schemas.openxmlformats.org/drawingml/2006/main" noGrp="1"/>
          </p:cNvSpPr>
          <p:nvPr/>
        </p:nvSpPr>
        <p:spPr>
          <a:xfrm xmlns:a="http://schemas.openxmlformats.org/drawingml/2006/main">
            <a:off x="8096250" y="3000375"/>
            <a:ext cx="2476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5070B"/>
                </a:solidFill>
              </a:defRPr>
            </a:pPr>
            <a:r>
              <a:rPr sz="1575" b="0">
                <a:solidFill>
                  <a:srgbClr val="05070B"/>
                </a:solidFill>
              </a:rPr>
              <a:t>Observed: 18,000 active contacts</a:t>
            </a:r>
          </a:p>
          <a:p xmlns:a="http://schemas.openxmlformats.org/drawingml/2006/main">
            <a:pPr algn="l">
              <a:defRPr sz="1575" b="0">
                <a:solidFill>
                  <a:srgbClr val="05070B"/>
                </a:solidFill>
              </a:defRPr>
            </a:pPr>
            <a:r>
              <a:rPr sz="1575" b="0">
                <a:solidFill>
                  <a:srgbClr val="05070B"/>
                </a:solidFill>
              </a:rPr>
              <a:t>Arrival max: 60,000 useful contacts</a:t>
            </a:r>
          </a:p>
          <a:p xmlns:a="http://schemas.openxmlformats.org/drawingml/2006/main">
            <a:pPr algn="l">
              <a:defRPr sz="1575" b="0">
                <a:solidFill>
                  <a:srgbClr val="05070B"/>
                </a:solidFill>
              </a:defRPr>
            </a:pPr>
            <a:r>
              <a:rPr sz="1575" b="0">
                <a:solidFill>
                  <a:srgbClr val="05070B"/>
                </a:solidFill>
              </a:rPr>
              <a:t>Weight: 1.30</a:t>
            </a:r>
          </a:p>
          <a:p xmlns:a="http://schemas.openxmlformats.org/drawingml/2006/main">
            <a:pPr algn="l">
              <a:defRPr sz="1575" b="0">
                <a:solidFill>
                  <a:srgbClr val="05070B"/>
                </a:solidFill>
              </a:defRPr>
            </a:pPr>
            <a:r>
              <a:rPr sz="1575" b="0">
                <a:solidFill>
                  <a:srgbClr val="05070B"/>
                </a:solidFill>
              </a:rPr>
              <a:t>AI enablement: 45</a:t>
            </a:r>
          </a:p>
        </p:txBody>
      </p:sp>
    </p:spTree>
    <p:extLst>
      <p:ext uri="{BB962C8B-B14F-4D97-AF65-F5344CB8AC3E}">
        <p14:creationId xmlns:p14="http://schemas.microsoft.com/office/powerpoint/2010/main" val="1823619320"/>
      </p:ext>
    </p:extLst>
  </p:cSld>
</p:sld>
</file>

<file path=ppt/slides/slide2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1DD0A2C-10F6-4BD3-A918-F7978E951D26}"/>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69964C56-A755-492B-9C55-E762B7EFD21E}"/>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0D2B9AAC-488D-4080-8624-5A040C2F43D2}"/>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253D990D-4663-47D8-AA36-0514F989A546}"/>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External variables explain acceleration or friction</a:t>
            </a:r>
          </a:p>
        </p:txBody>
      </p:sp>
      <p:sp>
        <p:nvSpPr>
          <p:cNvPr id="5" name="">
            <a:extLst xmlns:a="http://schemas.openxmlformats.org/drawingml/2006/main">
              <a:ext uri="{FF2B5EF4-FFF2-40B4-BE49-F238E27FC236}">
                <a16:creationId xmlns:a16="http://schemas.microsoft.com/office/drawing/2014/main" id="{D140C514-8948-4DE0-A7DD-678805CC15C3}"/>
              </a:ext>
            </a:extLst>
          </p:cNvPr>
          <p:cNvSpPr>
            <a:spLocks xmlns:a="http://schemas.openxmlformats.org/drawingml/2006/main" noGrp="1"/>
          </p:cNvSpPr>
          <p:nvPr/>
        </p:nvSpPr>
        <p:spPr>
          <a:xfrm xmlns:a="http://schemas.openxmlformats.org/drawingml/2006/main">
            <a:off x="819150" y="1809750"/>
            <a:ext cx="10287000" cy="552450"/>
          </a:xfrm>
          <a:prstGeom xmlns:a="http://schemas.openxmlformats.org/drawingml/2006/main" prst="roundRect">
            <a:avLst>
              <a:gd name="adj" fmla="val 13793"/>
            </a:avLst>
          </a:prstGeom>
          <a:solidFill xmlns:a="http://schemas.openxmlformats.org/drawingml/2006/main">
            <a:srgbClr val="003B5C"/>
          </a:solidFill>
          <a:ln xmlns:a="http://schemas.openxmlformats.org/drawingml/2006/main" w="9525">
            <a:solidFill>
              <a:srgbClr val="003B5C"/>
            </a:solidFill>
            <a:prstDash val="solid"/>
          </a:ln>
        </p:spPr>
      </p:sp>
      <p:sp>
        <p:nvSpPr>
          <p:cNvPr id="6" name="">
            <a:extLst xmlns:a="http://schemas.openxmlformats.org/drawingml/2006/main">
              <a:ext uri="{FF2B5EF4-FFF2-40B4-BE49-F238E27FC236}">
                <a16:creationId xmlns:a16="http://schemas.microsoft.com/office/drawing/2014/main" id="{1AEFEFBD-B4B8-49B8-BCA2-EF03DE750016}"/>
              </a:ext>
            </a:extLst>
          </p:cNvPr>
          <p:cNvSpPr>
            <a:spLocks xmlns:a="http://schemas.openxmlformats.org/drawingml/2006/main" noGrp="1"/>
          </p:cNvSpPr>
          <p:nvPr/>
        </p:nvSpPr>
        <p:spPr>
          <a:xfrm xmlns:a="http://schemas.openxmlformats.org/drawingml/2006/main">
            <a:off x="952500" y="19240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Slider</a:t>
            </a:r>
          </a:p>
        </p:txBody>
      </p:sp>
      <p:sp>
        <p:nvSpPr>
          <p:cNvPr id="7" name="">
            <a:extLst xmlns:a="http://schemas.openxmlformats.org/drawingml/2006/main">
              <a:ext uri="{FF2B5EF4-FFF2-40B4-BE49-F238E27FC236}">
                <a16:creationId xmlns:a16="http://schemas.microsoft.com/office/drawing/2014/main" id="{37DAAF86-92FD-4A8D-8D3D-81F8B40DB994}"/>
              </a:ext>
            </a:extLst>
          </p:cNvPr>
          <p:cNvSpPr>
            <a:spLocks xmlns:a="http://schemas.openxmlformats.org/drawingml/2006/main" noGrp="1"/>
          </p:cNvSpPr>
          <p:nvPr/>
        </p:nvSpPr>
        <p:spPr>
          <a:xfrm xmlns:a="http://schemas.openxmlformats.org/drawingml/2006/main">
            <a:off x="3905250" y="19240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How to think about it</a:t>
            </a:r>
          </a:p>
        </p:txBody>
      </p:sp>
      <p:sp>
        <p:nvSpPr>
          <p:cNvPr id="8" name="">
            <a:extLst xmlns:a="http://schemas.openxmlformats.org/drawingml/2006/main">
              <a:ext uri="{FF2B5EF4-FFF2-40B4-BE49-F238E27FC236}">
                <a16:creationId xmlns:a16="http://schemas.microsoft.com/office/drawing/2014/main" id="{9B128EFB-80F6-4444-8412-9048B8D428A8}"/>
              </a:ext>
            </a:extLst>
          </p:cNvPr>
          <p:cNvSpPr>
            <a:spLocks xmlns:a="http://schemas.openxmlformats.org/drawingml/2006/main" noGrp="1"/>
          </p:cNvSpPr>
          <p:nvPr/>
        </p:nvSpPr>
        <p:spPr>
          <a:xfrm xmlns:a="http://schemas.openxmlformats.org/drawingml/2006/main">
            <a:off x="819150" y="243840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9" name="">
            <a:extLst xmlns:a="http://schemas.openxmlformats.org/drawingml/2006/main">
              <a:ext uri="{FF2B5EF4-FFF2-40B4-BE49-F238E27FC236}">
                <a16:creationId xmlns:a16="http://schemas.microsoft.com/office/drawing/2014/main" id="{3FEF39DD-AEFD-48BC-9D5F-668F535D00B2}"/>
              </a:ext>
            </a:extLst>
          </p:cNvPr>
          <p:cNvSpPr>
            <a:spLocks xmlns:a="http://schemas.openxmlformats.org/drawingml/2006/main" noGrp="1"/>
          </p:cNvSpPr>
          <p:nvPr/>
        </p:nvSpPr>
        <p:spPr>
          <a:xfrm xmlns:a="http://schemas.openxmlformats.org/drawingml/2006/main">
            <a:off x="952500" y="255270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Processes</a:t>
            </a:r>
          </a:p>
        </p:txBody>
      </p:sp>
      <p:sp>
        <p:nvSpPr>
          <p:cNvPr id="10" name="">
            <a:extLst xmlns:a="http://schemas.openxmlformats.org/drawingml/2006/main">
              <a:ext uri="{FF2B5EF4-FFF2-40B4-BE49-F238E27FC236}">
                <a16:creationId xmlns:a16="http://schemas.microsoft.com/office/drawing/2014/main" id="{BCA4AAC5-076B-4CBC-8EB0-472DDC446A8C}"/>
              </a:ext>
            </a:extLst>
          </p:cNvPr>
          <p:cNvSpPr>
            <a:spLocks xmlns:a="http://schemas.openxmlformats.org/drawingml/2006/main" noGrp="1"/>
          </p:cNvSpPr>
          <p:nvPr/>
        </p:nvSpPr>
        <p:spPr>
          <a:xfrm xmlns:a="http://schemas.openxmlformats.org/drawingml/2006/main">
            <a:off x="3905250" y="255270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Can the club repeat campaigns, launches and service flows without improvising?</a:t>
            </a:r>
          </a:p>
        </p:txBody>
      </p:sp>
      <p:sp>
        <p:nvSpPr>
          <p:cNvPr id="11" name="">
            <a:extLst xmlns:a="http://schemas.openxmlformats.org/drawingml/2006/main">
              <a:ext uri="{FF2B5EF4-FFF2-40B4-BE49-F238E27FC236}">
                <a16:creationId xmlns:a16="http://schemas.microsoft.com/office/drawing/2014/main" id="{0C1A75F6-3D26-475C-86CA-5AB5D1960A72}"/>
              </a:ext>
            </a:extLst>
          </p:cNvPr>
          <p:cNvSpPr>
            <a:spLocks xmlns:a="http://schemas.openxmlformats.org/drawingml/2006/main" noGrp="1"/>
          </p:cNvSpPr>
          <p:nvPr/>
        </p:nvSpPr>
        <p:spPr>
          <a:xfrm xmlns:a="http://schemas.openxmlformats.org/drawingml/2006/main">
            <a:off x="819150" y="306705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12" name="">
            <a:extLst xmlns:a="http://schemas.openxmlformats.org/drawingml/2006/main">
              <a:ext uri="{FF2B5EF4-FFF2-40B4-BE49-F238E27FC236}">
                <a16:creationId xmlns:a16="http://schemas.microsoft.com/office/drawing/2014/main" id="{D64CF7B0-C3D1-47E8-975E-9D6AF6C9ECFC}"/>
              </a:ext>
            </a:extLst>
          </p:cNvPr>
          <p:cNvSpPr>
            <a:spLocks xmlns:a="http://schemas.openxmlformats.org/drawingml/2006/main" noGrp="1"/>
          </p:cNvSpPr>
          <p:nvPr/>
        </p:nvSpPr>
        <p:spPr>
          <a:xfrm xmlns:a="http://schemas.openxmlformats.org/drawingml/2006/main">
            <a:off x="952500" y="31813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Systems</a:t>
            </a:r>
          </a:p>
        </p:txBody>
      </p:sp>
      <p:sp>
        <p:nvSpPr>
          <p:cNvPr id="13" name="">
            <a:extLst xmlns:a="http://schemas.openxmlformats.org/drawingml/2006/main">
              <a:ext uri="{FF2B5EF4-FFF2-40B4-BE49-F238E27FC236}">
                <a16:creationId xmlns:a16="http://schemas.microsoft.com/office/drawing/2014/main" id="{6A25B6E9-DCEA-4DC9-BF2D-D5B712C0ECAE}"/>
              </a:ext>
            </a:extLst>
          </p:cNvPr>
          <p:cNvSpPr>
            <a:spLocks xmlns:a="http://schemas.openxmlformats.org/drawingml/2006/main" noGrp="1"/>
          </p:cNvSpPr>
          <p:nvPr/>
        </p:nvSpPr>
        <p:spPr>
          <a:xfrm xmlns:a="http://schemas.openxmlformats.org/drawingml/2006/main">
            <a:off x="3905250" y="31813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Are ecommerce, analytics, CRM, payment and stock connected enough?</a:t>
            </a:r>
          </a:p>
        </p:txBody>
      </p:sp>
      <p:sp>
        <p:nvSpPr>
          <p:cNvPr id="14" name="">
            <a:extLst xmlns:a="http://schemas.openxmlformats.org/drawingml/2006/main">
              <a:ext uri="{FF2B5EF4-FFF2-40B4-BE49-F238E27FC236}">
                <a16:creationId xmlns:a16="http://schemas.microsoft.com/office/drawing/2014/main" id="{772D1703-2FC6-41A8-BCD0-DBC9E282909E}"/>
              </a:ext>
            </a:extLst>
          </p:cNvPr>
          <p:cNvSpPr>
            <a:spLocks xmlns:a="http://schemas.openxmlformats.org/drawingml/2006/main" noGrp="1"/>
          </p:cNvSpPr>
          <p:nvPr/>
        </p:nvSpPr>
        <p:spPr>
          <a:xfrm xmlns:a="http://schemas.openxmlformats.org/drawingml/2006/main">
            <a:off x="819150" y="369570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15" name="">
            <a:extLst xmlns:a="http://schemas.openxmlformats.org/drawingml/2006/main">
              <a:ext uri="{FF2B5EF4-FFF2-40B4-BE49-F238E27FC236}">
                <a16:creationId xmlns:a16="http://schemas.microsoft.com/office/drawing/2014/main" id="{CBA1DA8C-7023-4BE3-BD27-1DE384D32B10}"/>
              </a:ext>
            </a:extLst>
          </p:cNvPr>
          <p:cNvSpPr>
            <a:spLocks xmlns:a="http://schemas.openxmlformats.org/drawingml/2006/main" noGrp="1"/>
          </p:cNvSpPr>
          <p:nvPr/>
        </p:nvSpPr>
        <p:spPr>
          <a:xfrm xmlns:a="http://schemas.openxmlformats.org/drawingml/2006/main">
            <a:off x="952500" y="381000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Data / AI</a:t>
            </a:r>
          </a:p>
        </p:txBody>
      </p:sp>
      <p:sp>
        <p:nvSpPr>
          <p:cNvPr id="16" name="">
            <a:extLst xmlns:a="http://schemas.openxmlformats.org/drawingml/2006/main">
              <a:ext uri="{FF2B5EF4-FFF2-40B4-BE49-F238E27FC236}">
                <a16:creationId xmlns:a16="http://schemas.microsoft.com/office/drawing/2014/main" id="{5DCCF254-B940-4313-B38C-DF0AF91AE261}"/>
              </a:ext>
            </a:extLst>
          </p:cNvPr>
          <p:cNvSpPr>
            <a:spLocks xmlns:a="http://schemas.openxmlformats.org/drawingml/2006/main" noGrp="1"/>
          </p:cNvSpPr>
          <p:nvPr/>
        </p:nvSpPr>
        <p:spPr>
          <a:xfrm xmlns:a="http://schemas.openxmlformats.org/drawingml/2006/main">
            <a:off x="3905250" y="381000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Is data activated for decisions, personalization and automation?</a:t>
            </a:r>
          </a:p>
        </p:txBody>
      </p:sp>
      <p:sp>
        <p:nvSpPr>
          <p:cNvPr id="17" name="">
            <a:extLst xmlns:a="http://schemas.openxmlformats.org/drawingml/2006/main">
              <a:ext uri="{FF2B5EF4-FFF2-40B4-BE49-F238E27FC236}">
                <a16:creationId xmlns:a16="http://schemas.microsoft.com/office/drawing/2014/main" id="{40A589E6-D7C4-48F2-B54B-4C96E054E940}"/>
              </a:ext>
            </a:extLst>
          </p:cNvPr>
          <p:cNvSpPr>
            <a:spLocks xmlns:a="http://schemas.openxmlformats.org/drawingml/2006/main" noGrp="1"/>
          </p:cNvSpPr>
          <p:nvPr/>
        </p:nvSpPr>
        <p:spPr>
          <a:xfrm xmlns:a="http://schemas.openxmlformats.org/drawingml/2006/main">
            <a:off x="819150" y="432435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18" name="">
            <a:extLst xmlns:a="http://schemas.openxmlformats.org/drawingml/2006/main">
              <a:ext uri="{FF2B5EF4-FFF2-40B4-BE49-F238E27FC236}">
                <a16:creationId xmlns:a16="http://schemas.microsoft.com/office/drawing/2014/main" id="{63697EA1-76E7-4EFF-A956-C28A06B0F052}"/>
              </a:ext>
            </a:extLst>
          </p:cNvPr>
          <p:cNvSpPr>
            <a:spLocks xmlns:a="http://schemas.openxmlformats.org/drawingml/2006/main" noGrp="1"/>
          </p:cNvSpPr>
          <p:nvPr/>
        </p:nvSpPr>
        <p:spPr>
          <a:xfrm xmlns:a="http://schemas.openxmlformats.org/drawingml/2006/main">
            <a:off x="952500" y="44386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Legal / GDPR</a:t>
            </a:r>
          </a:p>
        </p:txBody>
      </p:sp>
      <p:sp>
        <p:nvSpPr>
          <p:cNvPr id="19" name="">
            <a:extLst xmlns:a="http://schemas.openxmlformats.org/drawingml/2006/main">
              <a:ext uri="{FF2B5EF4-FFF2-40B4-BE49-F238E27FC236}">
                <a16:creationId xmlns:a16="http://schemas.microsoft.com/office/drawing/2014/main" id="{D2BC7C1E-92CA-44D8-80C8-4761C32DA027}"/>
              </a:ext>
            </a:extLst>
          </p:cNvPr>
          <p:cNvSpPr>
            <a:spLocks xmlns:a="http://schemas.openxmlformats.org/drawingml/2006/main" noGrp="1"/>
          </p:cNvSpPr>
          <p:nvPr/>
        </p:nvSpPr>
        <p:spPr>
          <a:xfrm xmlns:a="http://schemas.openxmlformats.org/drawingml/2006/main">
            <a:off x="3905250" y="44386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Can the club use consent, cookies and customer data correctly?</a:t>
            </a:r>
          </a:p>
        </p:txBody>
      </p:sp>
      <p:sp>
        <p:nvSpPr>
          <p:cNvPr id="20" name="">
            <a:extLst xmlns:a="http://schemas.openxmlformats.org/drawingml/2006/main">
              <a:ext uri="{FF2B5EF4-FFF2-40B4-BE49-F238E27FC236}">
                <a16:creationId xmlns:a16="http://schemas.microsoft.com/office/drawing/2014/main" id="{671B3237-CE05-4BCC-BEBB-84C5B16683FA}"/>
              </a:ext>
            </a:extLst>
          </p:cNvPr>
          <p:cNvSpPr>
            <a:spLocks xmlns:a="http://schemas.openxmlformats.org/drawingml/2006/main" noGrp="1"/>
          </p:cNvSpPr>
          <p:nvPr/>
        </p:nvSpPr>
        <p:spPr>
          <a:xfrm xmlns:a="http://schemas.openxmlformats.org/drawingml/2006/main">
            <a:off x="819150" y="495300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21" name="">
            <a:extLst xmlns:a="http://schemas.openxmlformats.org/drawingml/2006/main">
              <a:ext uri="{FF2B5EF4-FFF2-40B4-BE49-F238E27FC236}">
                <a16:creationId xmlns:a16="http://schemas.microsoft.com/office/drawing/2014/main" id="{18AB4EDF-2E39-4BE0-8DB3-8E13DD153FEB}"/>
              </a:ext>
            </a:extLst>
          </p:cNvPr>
          <p:cNvSpPr>
            <a:spLocks xmlns:a="http://schemas.openxmlformats.org/drawingml/2006/main" noGrp="1"/>
          </p:cNvSpPr>
          <p:nvPr/>
        </p:nvSpPr>
        <p:spPr>
          <a:xfrm xmlns:a="http://schemas.openxmlformats.org/drawingml/2006/main">
            <a:off x="952500" y="506730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Competition</a:t>
            </a:r>
          </a:p>
        </p:txBody>
      </p:sp>
      <p:sp>
        <p:nvSpPr>
          <p:cNvPr id="22" name="">
            <a:extLst xmlns:a="http://schemas.openxmlformats.org/drawingml/2006/main">
              <a:ext uri="{FF2B5EF4-FFF2-40B4-BE49-F238E27FC236}">
                <a16:creationId xmlns:a16="http://schemas.microsoft.com/office/drawing/2014/main" id="{F2F1D87D-A159-45E7-8438-445B760B7852}"/>
              </a:ext>
            </a:extLst>
          </p:cNvPr>
          <p:cNvSpPr>
            <a:spLocks xmlns:a="http://schemas.openxmlformats.org/drawingml/2006/main" noGrp="1"/>
          </p:cNvSpPr>
          <p:nvPr/>
        </p:nvSpPr>
        <p:spPr>
          <a:xfrm xmlns:a="http://schemas.openxmlformats.org/drawingml/2006/main">
            <a:off x="3905250" y="506730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high value means market pressure is intense; it can reduce effective capture.</a:t>
            </a:r>
          </a:p>
        </p:txBody>
      </p:sp>
      <p:sp>
        <p:nvSpPr>
          <p:cNvPr id="23" name="">
            <a:extLst xmlns:a="http://schemas.openxmlformats.org/drawingml/2006/main">
              <a:ext uri="{FF2B5EF4-FFF2-40B4-BE49-F238E27FC236}">
                <a16:creationId xmlns:a16="http://schemas.microsoft.com/office/drawing/2014/main" id="{D35CFA7F-C8D1-46CD-852B-74A797064E98}"/>
              </a:ext>
            </a:extLst>
          </p:cNvPr>
          <p:cNvSpPr>
            <a:spLocks xmlns:a="http://schemas.openxmlformats.org/drawingml/2006/main" noGrp="1"/>
          </p:cNvSpPr>
          <p:nvPr/>
        </p:nvSpPr>
        <p:spPr>
          <a:xfrm xmlns:a="http://schemas.openxmlformats.org/drawingml/2006/main">
            <a:off x="819150" y="5581650"/>
            <a:ext cx="10287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BDDE8"/>
            </a:solidFill>
            <a:prstDash val="solid"/>
          </a:ln>
        </p:spPr>
      </p:sp>
      <p:sp>
        <p:nvSpPr>
          <p:cNvPr id="24" name="">
            <a:extLst xmlns:a="http://schemas.openxmlformats.org/drawingml/2006/main">
              <a:ext uri="{FF2B5EF4-FFF2-40B4-BE49-F238E27FC236}">
                <a16:creationId xmlns:a16="http://schemas.microsoft.com/office/drawing/2014/main" id="{147CF09A-6810-4879-806B-BD0A42913EDC}"/>
              </a:ext>
            </a:extLst>
          </p:cNvPr>
          <p:cNvSpPr>
            <a:spLocks xmlns:a="http://schemas.openxmlformats.org/drawingml/2006/main" noGrp="1"/>
          </p:cNvSpPr>
          <p:nvPr/>
        </p:nvSpPr>
        <p:spPr>
          <a:xfrm xmlns:a="http://schemas.openxmlformats.org/drawingml/2006/main">
            <a:off x="952500" y="5695950"/>
            <a:ext cx="28803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Digital culture</a:t>
            </a:r>
          </a:p>
        </p:txBody>
      </p:sp>
      <p:sp>
        <p:nvSpPr>
          <p:cNvPr id="25" name="">
            <a:extLst xmlns:a="http://schemas.openxmlformats.org/drawingml/2006/main">
              <a:ext uri="{FF2B5EF4-FFF2-40B4-BE49-F238E27FC236}">
                <a16:creationId xmlns:a16="http://schemas.microsoft.com/office/drawing/2014/main" id="{17DBA76F-9879-495D-A36F-11D37A37C0D6}"/>
              </a:ext>
            </a:extLst>
          </p:cNvPr>
          <p:cNvSpPr>
            <a:spLocks xmlns:a="http://schemas.openxmlformats.org/drawingml/2006/main" noGrp="1"/>
          </p:cNvSpPr>
          <p:nvPr/>
        </p:nvSpPr>
        <p:spPr>
          <a:xfrm xmlns:a="http://schemas.openxmlformats.org/drawingml/2006/main">
            <a:off x="3905250" y="5695950"/>
            <a:ext cx="678942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Does the audience expect digital buying, service and personalization?</a:t>
            </a:r>
          </a:p>
        </p:txBody>
      </p:sp>
    </p:spTree>
    <p:extLst>
      <p:ext uri="{BB962C8B-B14F-4D97-AF65-F5344CB8AC3E}">
        <p14:creationId xmlns:p14="http://schemas.microsoft.com/office/powerpoint/2010/main" val="274176197"/>
      </p:ext>
    </p:extLst>
  </p:cSld>
</p:sld>
</file>

<file path=ppt/slides/slide2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F1264A2-F6E5-4088-9D40-0E76810E5059}"/>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EA023160-FAC6-467E-A9BB-0D96A9F14080}"/>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A82DC052-07F0-43F4-B6FB-326D3996D6E1}"/>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C9C242C8-C559-4CF1-B603-3BAEFE022D0C}"/>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How the equation turns the example into a diagnosis</a:t>
            </a:r>
          </a:p>
        </p:txBody>
      </p:sp>
      <p:sp>
        <p:nvSpPr>
          <p:cNvPr id="5" name="">
            <a:extLst xmlns:a="http://schemas.openxmlformats.org/drawingml/2006/main">
              <a:ext uri="{FF2B5EF4-FFF2-40B4-BE49-F238E27FC236}">
                <a16:creationId xmlns:a16="http://schemas.microsoft.com/office/drawing/2014/main" id="{FC3E7305-4EA8-494A-91C7-95015F45DF7D}"/>
              </a:ext>
            </a:extLst>
          </p:cNvPr>
          <p:cNvSpPr>
            <a:spLocks xmlns:a="http://schemas.openxmlformats.org/drawingml/2006/main" noGrp="1"/>
          </p:cNvSpPr>
          <p:nvPr/>
        </p:nvSpPr>
        <p:spPr>
          <a:xfrm xmlns:a="http://schemas.openxmlformats.org/drawingml/2006/main">
            <a:off x="857250" y="20955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A03E2747-8E36-4606-978E-B159F4D12A35}"/>
              </a:ext>
            </a:extLst>
          </p:cNvPr>
          <p:cNvSpPr>
            <a:spLocks xmlns:a="http://schemas.openxmlformats.org/drawingml/2006/main" noGrp="1"/>
          </p:cNvSpPr>
          <p:nvPr/>
        </p:nvSpPr>
        <p:spPr>
          <a:xfrm xmlns:a="http://schemas.openxmlformats.org/drawingml/2006/main">
            <a:off x="1123950" y="2095500"/>
            <a:ext cx="601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First, each node is normalized: observed quantity divided by arrival maximum.</a:t>
            </a:r>
          </a:p>
        </p:txBody>
      </p:sp>
      <p:sp>
        <p:nvSpPr>
          <p:cNvPr id="7" name="">
            <a:extLst xmlns:a="http://schemas.openxmlformats.org/drawingml/2006/main">
              <a:ext uri="{FF2B5EF4-FFF2-40B4-BE49-F238E27FC236}">
                <a16:creationId xmlns:a16="http://schemas.microsoft.com/office/drawing/2014/main" id="{3F0D0CB4-837C-4195-AF7F-9A8F73FDCEA7}"/>
              </a:ext>
            </a:extLst>
          </p:cNvPr>
          <p:cNvSpPr>
            <a:spLocks xmlns:a="http://schemas.openxmlformats.org/drawingml/2006/main" noGrp="1"/>
          </p:cNvSpPr>
          <p:nvPr/>
        </p:nvSpPr>
        <p:spPr>
          <a:xfrm xmlns:a="http://schemas.openxmlformats.org/drawingml/2006/main">
            <a:off x="857250" y="26860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89A64DA3-AEA6-45E2-8E02-5E17E7D71C84}"/>
              </a:ext>
            </a:extLst>
          </p:cNvPr>
          <p:cNvSpPr>
            <a:spLocks xmlns:a="http://schemas.openxmlformats.org/drawingml/2006/main" noGrp="1"/>
          </p:cNvSpPr>
          <p:nvPr/>
        </p:nvSpPr>
        <p:spPr>
          <a:xfrm xmlns:a="http://schemas.openxmlformats.org/drawingml/2006/main">
            <a:off x="1123950" y="2686050"/>
            <a:ext cx="601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Then Users, Content and Infrastructure are combined as a reinforcing system.</a:t>
            </a:r>
          </a:p>
        </p:txBody>
      </p:sp>
      <p:sp>
        <p:nvSpPr>
          <p:cNvPr id="9" name="">
            <a:extLst xmlns:a="http://schemas.openxmlformats.org/drawingml/2006/main">
              <a:ext uri="{FF2B5EF4-FFF2-40B4-BE49-F238E27FC236}">
                <a16:creationId xmlns:a16="http://schemas.microsoft.com/office/drawing/2014/main" id="{854B4752-A23C-4FB6-9603-DC188BEB04F5}"/>
              </a:ext>
            </a:extLst>
          </p:cNvPr>
          <p:cNvSpPr>
            <a:spLocks xmlns:a="http://schemas.openxmlformats.org/drawingml/2006/main" noGrp="1"/>
          </p:cNvSpPr>
          <p:nvPr/>
        </p:nvSpPr>
        <p:spPr>
          <a:xfrm xmlns:a="http://schemas.openxmlformats.org/drawingml/2006/main">
            <a:off x="857250" y="3276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DA6AA15E-F949-4C7D-B6D1-9F73C29D9326}"/>
              </a:ext>
            </a:extLst>
          </p:cNvPr>
          <p:cNvSpPr>
            <a:spLocks xmlns:a="http://schemas.openxmlformats.org/drawingml/2006/main" noGrp="1"/>
          </p:cNvSpPr>
          <p:nvPr/>
        </p:nvSpPr>
        <p:spPr>
          <a:xfrm xmlns:a="http://schemas.openxmlformats.org/drawingml/2006/main">
            <a:off x="1123950" y="3276600"/>
            <a:ext cx="601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Management and exogenous variables adjust the score because execution and environment matter.</a:t>
            </a:r>
          </a:p>
        </p:txBody>
      </p:sp>
      <p:sp>
        <p:nvSpPr>
          <p:cNvPr id="11" name="">
            <a:extLst xmlns:a="http://schemas.openxmlformats.org/drawingml/2006/main">
              <a:ext uri="{FF2B5EF4-FFF2-40B4-BE49-F238E27FC236}">
                <a16:creationId xmlns:a16="http://schemas.microsoft.com/office/drawing/2014/main" id="{E9BD326E-CE2C-42B3-9CFC-0B9AC333F7AB}"/>
              </a:ext>
            </a:extLst>
          </p:cNvPr>
          <p:cNvSpPr>
            <a:spLocks xmlns:a="http://schemas.openxmlformats.org/drawingml/2006/main" noGrp="1"/>
          </p:cNvSpPr>
          <p:nvPr/>
        </p:nvSpPr>
        <p:spPr>
          <a:xfrm xmlns:a="http://schemas.openxmlformats.org/drawingml/2006/main">
            <a:off x="857250" y="38671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6D5110D7-007A-4CB3-96FB-22AF40920F8A}"/>
              </a:ext>
            </a:extLst>
          </p:cNvPr>
          <p:cNvSpPr>
            <a:spLocks xmlns:a="http://schemas.openxmlformats.org/drawingml/2006/main" noGrp="1"/>
          </p:cNvSpPr>
          <p:nvPr/>
        </p:nvSpPr>
        <p:spPr>
          <a:xfrm xmlns:a="http://schemas.openxmlformats.org/drawingml/2006/main">
            <a:off x="1123950" y="3867150"/>
            <a:ext cx="601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AI enablement accelerates the model when the organization has enough data, systems and process maturity.</a:t>
            </a:r>
          </a:p>
        </p:txBody>
      </p:sp>
      <p:sp>
        <p:nvSpPr>
          <p:cNvPr id="13" name="">
            <a:extLst xmlns:a="http://schemas.openxmlformats.org/drawingml/2006/main">
              <a:ext uri="{FF2B5EF4-FFF2-40B4-BE49-F238E27FC236}">
                <a16:creationId xmlns:a16="http://schemas.microsoft.com/office/drawing/2014/main" id="{37834AA6-4071-4440-8564-A0234F3BCDC1}"/>
              </a:ext>
            </a:extLst>
          </p:cNvPr>
          <p:cNvSpPr>
            <a:spLocks xmlns:a="http://schemas.openxmlformats.org/drawingml/2006/main" noGrp="1"/>
          </p:cNvSpPr>
          <p:nvPr/>
        </p:nvSpPr>
        <p:spPr>
          <a:xfrm xmlns:a="http://schemas.openxmlformats.org/drawingml/2006/main">
            <a:off x="7667625" y="2266950"/>
            <a:ext cx="3143250" cy="2000250"/>
          </a:xfrm>
          <a:prstGeom xmlns:a="http://schemas.openxmlformats.org/drawingml/2006/main" prst="roundRect">
            <a:avLst>
              <a:gd name="adj" fmla="val 3810"/>
            </a:avLst>
          </a:prstGeom>
          <a:solidFill xmlns:a="http://schemas.openxmlformats.org/drawingml/2006/main">
            <a:srgbClr val="071D33"/>
          </a:solidFill>
          <a:ln xmlns:a="http://schemas.openxmlformats.org/drawingml/2006/main" w="9525">
            <a:solidFill>
              <a:srgbClr val="071D33"/>
            </a:solidFill>
            <a:prstDash val="solid"/>
          </a:ln>
        </p:spPr>
      </p:sp>
      <p:sp>
        <p:nvSpPr>
          <p:cNvPr id="14" name="">
            <a:extLst xmlns:a="http://schemas.openxmlformats.org/drawingml/2006/main">
              <a:ext uri="{FF2B5EF4-FFF2-40B4-BE49-F238E27FC236}">
                <a16:creationId xmlns:a16="http://schemas.microsoft.com/office/drawing/2014/main" id="{167D7C3A-C43A-4CD3-82E8-075D4783FF94}"/>
              </a:ext>
            </a:extLst>
          </p:cNvPr>
          <p:cNvSpPr>
            <a:spLocks xmlns:a="http://schemas.openxmlformats.org/drawingml/2006/main" noGrp="1"/>
          </p:cNvSpPr>
          <p:nvPr/>
        </p:nvSpPr>
        <p:spPr>
          <a:xfrm xmlns:a="http://schemas.openxmlformats.org/drawingml/2006/main">
            <a:off x="7953375" y="27146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defRPr>
            </a:pPr>
            <a:r>
              <a:rPr sz="2100" b="1">
                <a:solidFill>
                  <a:srgbClr val="FFFFFF"/>
                </a:solidFill>
              </a:rPr>
              <a:t>I_net = CEnd x G x E x F_AI</a:t>
            </a:r>
          </a:p>
        </p:txBody>
      </p:sp>
      <p:sp>
        <p:nvSpPr>
          <p:cNvPr id="15" name="">
            <a:extLst xmlns:a="http://schemas.openxmlformats.org/drawingml/2006/main">
              <a:ext uri="{FF2B5EF4-FFF2-40B4-BE49-F238E27FC236}">
                <a16:creationId xmlns:a16="http://schemas.microsoft.com/office/drawing/2014/main" id="{03522A72-6AD1-41AA-9A96-51C431F29AA8}"/>
              </a:ext>
            </a:extLst>
          </p:cNvPr>
          <p:cNvSpPr>
            <a:spLocks xmlns:a="http://schemas.openxmlformats.org/drawingml/2006/main" noGrp="1"/>
          </p:cNvSpPr>
          <p:nvPr/>
        </p:nvSpPr>
        <p:spPr>
          <a:xfrm xmlns:a="http://schemas.openxmlformats.org/drawingml/2006/main">
            <a:off x="7953375" y="3286125"/>
            <a:ext cx="2476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EAF6FB"/>
                </a:solidFill>
              </a:defRPr>
            </a:pPr>
            <a:r>
              <a:rPr sz="1350" b="0">
                <a:solidFill>
                  <a:srgbClr val="EAF6FB"/>
                </a:solidFill>
              </a:rPr>
              <a:t>Read it as: communication strength, adjusted by management, external conditions and AI acceleration.</a:t>
            </a:r>
          </a:p>
        </p:txBody>
      </p:sp>
    </p:spTree>
    <p:extLst>
      <p:ext uri="{BB962C8B-B14F-4D97-AF65-F5344CB8AC3E}">
        <p14:creationId xmlns:p14="http://schemas.microsoft.com/office/powerpoint/2010/main" val="1268778093"/>
      </p:ext>
    </p:extLst>
  </p:cSld>
</p:sld>
</file>

<file path=ppt/slides/slide2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47920B-7BCC-429C-862E-6635C96EDC68}"/>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7904014A-D791-4133-B344-E6C8FE7103DF}"/>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65D43903-4FE9-4E8D-B8F6-13555D92DFE0}"/>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9C723F2B-88C7-4AB0-AAFB-0D4A31CA9AD5}"/>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Manual reading of the Ibiza example</a:t>
            </a:r>
          </a:p>
        </p:txBody>
      </p:sp>
      <p:sp>
        <p:nvSpPr>
          <p:cNvPr id="5" name="">
            <a:extLst xmlns:a="http://schemas.openxmlformats.org/drawingml/2006/main">
              <a:ext uri="{FF2B5EF4-FFF2-40B4-BE49-F238E27FC236}">
                <a16:creationId xmlns:a16="http://schemas.microsoft.com/office/drawing/2014/main" id="{B8375460-D331-4512-8DFC-3B4919CAC2FF}"/>
              </a:ext>
            </a:extLst>
          </p:cNvPr>
          <p:cNvSpPr>
            <a:spLocks xmlns:a="http://schemas.openxmlformats.org/drawingml/2006/main" noGrp="1"/>
          </p:cNvSpPr>
          <p:nvPr/>
        </p:nvSpPr>
        <p:spPr>
          <a:xfrm xmlns:a="http://schemas.openxmlformats.org/drawingml/2006/main">
            <a:off x="857250" y="20955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7931BA29-C834-414F-B7ED-393A6B26479C}"/>
              </a:ext>
            </a:extLst>
          </p:cNvPr>
          <p:cNvSpPr>
            <a:spLocks xmlns:a="http://schemas.openxmlformats.org/drawingml/2006/main" noGrp="1"/>
          </p:cNvSpPr>
          <p:nvPr/>
        </p:nvSpPr>
        <p:spPr>
          <a:xfrm xmlns:a="http://schemas.openxmlformats.org/drawingml/2006/main">
            <a:off x="1123950" y="2095500"/>
            <a:ext cx="697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If the score is low, the ecommerce is visible but not yet a managed communication system.</a:t>
            </a:r>
          </a:p>
        </p:txBody>
      </p:sp>
      <p:sp>
        <p:nvSpPr>
          <p:cNvPr id="7" name="">
            <a:extLst xmlns:a="http://schemas.openxmlformats.org/drawingml/2006/main">
              <a:ext uri="{FF2B5EF4-FFF2-40B4-BE49-F238E27FC236}">
                <a16:creationId xmlns:a16="http://schemas.microsoft.com/office/drawing/2014/main" id="{357B194A-C5A9-4881-9B9A-1BAA499C3CE5}"/>
              </a:ext>
            </a:extLst>
          </p:cNvPr>
          <p:cNvSpPr>
            <a:spLocks xmlns:a="http://schemas.openxmlformats.org/drawingml/2006/main" noGrp="1"/>
          </p:cNvSpPr>
          <p:nvPr/>
        </p:nvSpPr>
        <p:spPr>
          <a:xfrm xmlns:a="http://schemas.openxmlformats.org/drawingml/2006/main">
            <a:off x="857250" y="26860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D4A06D15-CBCB-4AC1-9CD8-700B959184EB}"/>
              </a:ext>
            </a:extLst>
          </p:cNvPr>
          <p:cNvSpPr>
            <a:spLocks xmlns:a="http://schemas.openxmlformats.org/drawingml/2006/main" noGrp="1"/>
          </p:cNvSpPr>
          <p:nvPr/>
        </p:nvSpPr>
        <p:spPr>
          <a:xfrm xmlns:a="http://schemas.openxmlformats.org/drawingml/2006/main">
            <a:off x="1123950" y="2686050"/>
            <a:ext cx="697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If the score is medium, the loop exists but depends on better data activation, CRM, content and workflow maturity.</a:t>
            </a:r>
          </a:p>
        </p:txBody>
      </p:sp>
      <p:sp>
        <p:nvSpPr>
          <p:cNvPr id="9" name="">
            <a:extLst xmlns:a="http://schemas.openxmlformats.org/drawingml/2006/main">
              <a:ext uri="{FF2B5EF4-FFF2-40B4-BE49-F238E27FC236}">
                <a16:creationId xmlns:a16="http://schemas.microsoft.com/office/drawing/2014/main" id="{CE55D640-EAE0-43B9-A0F7-F71511ACBCA6}"/>
              </a:ext>
            </a:extLst>
          </p:cNvPr>
          <p:cNvSpPr>
            <a:spLocks xmlns:a="http://schemas.openxmlformats.org/drawingml/2006/main" noGrp="1"/>
          </p:cNvSpPr>
          <p:nvPr/>
        </p:nvSpPr>
        <p:spPr>
          <a:xfrm xmlns:a="http://schemas.openxmlformats.org/drawingml/2006/main">
            <a:off x="857250" y="3276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F4B32454-564D-4BDE-986A-BB9A6DB14E41}"/>
              </a:ext>
            </a:extLst>
          </p:cNvPr>
          <p:cNvSpPr>
            <a:spLocks xmlns:a="http://schemas.openxmlformats.org/drawingml/2006/main" noGrp="1"/>
          </p:cNvSpPr>
          <p:nvPr/>
        </p:nvSpPr>
        <p:spPr>
          <a:xfrm xmlns:a="http://schemas.openxmlformats.org/drawingml/2006/main">
            <a:off x="1123950" y="3276600"/>
            <a:ext cx="697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If the score is high, the club is close to an AI-enabled relationship engine: signals can trigger personalized action.</a:t>
            </a:r>
          </a:p>
        </p:txBody>
      </p:sp>
      <p:sp>
        <p:nvSpPr>
          <p:cNvPr id="11" name="">
            <a:extLst xmlns:a="http://schemas.openxmlformats.org/drawingml/2006/main">
              <a:ext uri="{FF2B5EF4-FFF2-40B4-BE49-F238E27FC236}">
                <a16:creationId xmlns:a16="http://schemas.microsoft.com/office/drawing/2014/main" id="{A05664B8-BE7D-4B41-91E8-0377F27EDAD7}"/>
              </a:ext>
            </a:extLst>
          </p:cNvPr>
          <p:cNvSpPr>
            <a:spLocks xmlns:a="http://schemas.openxmlformats.org/drawingml/2006/main" noGrp="1"/>
          </p:cNvSpPr>
          <p:nvPr/>
        </p:nvSpPr>
        <p:spPr>
          <a:xfrm xmlns:a="http://schemas.openxmlformats.org/drawingml/2006/main">
            <a:off x="857250" y="38671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F5F881D3-DAA6-4437-802A-08A4154B63A2}"/>
              </a:ext>
            </a:extLst>
          </p:cNvPr>
          <p:cNvSpPr>
            <a:spLocks xmlns:a="http://schemas.openxmlformats.org/drawingml/2006/main" noGrp="1"/>
          </p:cNvSpPr>
          <p:nvPr/>
        </p:nvSpPr>
        <p:spPr>
          <a:xfrm xmlns:a="http://schemas.openxmlformats.org/drawingml/2006/main">
            <a:off x="1123950" y="3867150"/>
            <a:ext cx="697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The goal is not to look digital. The goal is to communicate better, learn faster and convert relationship into value.</a:t>
            </a:r>
          </a:p>
        </p:txBody>
      </p:sp>
      <p:sp>
        <p:nvSpPr>
          <p:cNvPr id="13" name="">
            <a:extLst xmlns:a="http://schemas.openxmlformats.org/drawingml/2006/main">
              <a:ext uri="{FF2B5EF4-FFF2-40B4-BE49-F238E27FC236}">
                <a16:creationId xmlns:a16="http://schemas.microsoft.com/office/drawing/2014/main" id="{C756CC6F-DBDA-46BE-A032-B466BCCB8094}"/>
              </a:ext>
            </a:extLst>
          </p:cNvPr>
          <p:cNvSpPr>
            <a:spLocks xmlns:a="http://schemas.openxmlformats.org/drawingml/2006/main" noGrp="1"/>
          </p:cNvSpPr>
          <p:nvPr/>
        </p:nvSpPr>
        <p:spPr>
          <a:xfrm xmlns:a="http://schemas.openxmlformats.org/drawingml/2006/main">
            <a:off x="8620125" y="2362200"/>
            <a:ext cx="2286000" cy="1714500"/>
          </a:xfrm>
          <a:prstGeom xmlns:a="http://schemas.openxmlformats.org/drawingml/2006/main" prst="roundRect">
            <a:avLst>
              <a:gd name="adj" fmla="val 4444"/>
            </a:avLst>
          </a:prstGeom>
          <a:solidFill xmlns:a="http://schemas.openxmlformats.org/drawingml/2006/main">
            <a:srgbClr val="D8ECF8"/>
          </a:solidFill>
          <a:ln xmlns:a="http://schemas.openxmlformats.org/drawingml/2006/main" w="9525">
            <a:solidFill>
              <a:srgbClr val="003B5C"/>
            </a:solidFill>
            <a:prstDash val="solid"/>
          </a:ln>
        </p:spPr>
      </p:sp>
      <p:sp>
        <p:nvSpPr>
          <p:cNvPr id="14" name="">
            <a:extLst xmlns:a="http://schemas.openxmlformats.org/drawingml/2006/main">
              <a:ext uri="{FF2B5EF4-FFF2-40B4-BE49-F238E27FC236}">
                <a16:creationId xmlns:a16="http://schemas.microsoft.com/office/drawing/2014/main" id="{41415E31-139D-41C2-8697-5EEF7427E5CF}"/>
              </a:ext>
            </a:extLst>
          </p:cNvPr>
          <p:cNvSpPr>
            <a:spLocks xmlns:a="http://schemas.openxmlformats.org/drawingml/2006/main" noGrp="1"/>
          </p:cNvSpPr>
          <p:nvPr/>
        </p:nvSpPr>
        <p:spPr>
          <a:xfrm xmlns:a="http://schemas.openxmlformats.org/drawingml/2006/main">
            <a:off x="8905875" y="27146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3B5C"/>
                </a:solidFill>
              </a:defRPr>
            </a:pPr>
            <a:r>
              <a:rPr sz="1950" b="1">
                <a:solidFill>
                  <a:srgbClr val="003B5C"/>
                </a:solidFill>
              </a:rPr>
              <a:t>Use the JSON</a:t>
            </a:r>
          </a:p>
        </p:txBody>
      </p:sp>
      <p:sp>
        <p:nvSpPr>
          <p:cNvPr id="15" name="">
            <a:extLst xmlns:a="http://schemas.openxmlformats.org/drawingml/2006/main">
              <a:ext uri="{FF2B5EF4-FFF2-40B4-BE49-F238E27FC236}">
                <a16:creationId xmlns:a16="http://schemas.microsoft.com/office/drawing/2014/main" id="{53D50C2E-95F8-4A70-B003-1DC25AA0ECBF}"/>
              </a:ext>
            </a:extLst>
          </p:cNvPr>
          <p:cNvSpPr>
            <a:spLocks xmlns:a="http://schemas.openxmlformats.org/drawingml/2006/main" noGrp="1"/>
          </p:cNvSpPr>
          <p:nvPr/>
        </p:nvSpPr>
        <p:spPr>
          <a:xfrm xmlns:a="http://schemas.openxmlformats.org/drawingml/2006/main">
            <a:off x="8905875" y="3238500"/>
            <a:ext cx="1619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5070B"/>
                </a:solidFill>
              </a:defRPr>
            </a:pPr>
            <a:r>
              <a:rPr sz="1350" b="0">
                <a:solidFill>
                  <a:srgbClr val="05070B"/>
                </a:solidFill>
              </a:rPr>
              <a:t>Open the example file in the laboratory, inspect each node, then replace the illustrative values with real data.</a:t>
            </a:r>
          </a:p>
        </p:txBody>
      </p:sp>
    </p:spTree>
    <p:extLst>
      <p:ext uri="{BB962C8B-B14F-4D97-AF65-F5344CB8AC3E}">
        <p14:creationId xmlns:p14="http://schemas.microsoft.com/office/powerpoint/2010/main" val="1946952799"/>
      </p:ext>
    </p:extLst>
  </p:cSld>
</p:sld>
</file>

<file path=ppt/slides/slide2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9A1972-6930-4674-A826-CA56A66FA6C4}"/>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04F727D0-064A-4369-862B-264267ED1EF4}"/>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2DCB31B3-BECC-414F-AC9E-9FB1971B4780}"/>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76B295DB-F428-405C-B1FA-9EDC9C14616D}"/>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Final summary of the Ibiza values</a:t>
            </a:r>
          </a:p>
        </p:txBody>
      </p:sp>
      <p:sp>
        <p:nvSpPr>
          <p:cNvPr id="5" name="">
            <a:extLst xmlns:a="http://schemas.openxmlformats.org/drawingml/2006/main">
              <a:ext uri="{FF2B5EF4-FFF2-40B4-BE49-F238E27FC236}">
                <a16:creationId xmlns:a16="http://schemas.microsoft.com/office/drawing/2014/main" id="{838062A0-329E-40DB-97E6-87F326B532ED}"/>
              </a:ext>
            </a:extLst>
          </p:cNvPr>
          <p:cNvSpPr>
            <a:spLocks xmlns:a="http://schemas.openxmlformats.org/drawingml/2006/main" noGrp="1"/>
          </p:cNvSpPr>
          <p:nvPr/>
        </p:nvSpPr>
        <p:spPr>
          <a:xfrm xmlns:a="http://schemas.openxmlformats.org/drawingml/2006/main">
            <a:off x="838200" y="12001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The model reads each entry as a signal. The observed value is what exists today. The arrival value is the realistic maximum the organization wants to reach. The ratio between both numbers becomes the first practical score.</a:t>
            </a:r>
          </a:p>
        </p:txBody>
      </p:sp>
      <p:sp>
        <p:nvSpPr>
          <p:cNvPr id="6" name="">
            <a:extLst xmlns:a="http://schemas.openxmlformats.org/drawingml/2006/main">
              <a:ext uri="{FF2B5EF4-FFF2-40B4-BE49-F238E27FC236}">
                <a16:creationId xmlns:a16="http://schemas.microsoft.com/office/drawing/2014/main" id="{97258563-2AA6-46BB-9FE3-61B90B16F918}"/>
              </a:ext>
            </a:extLst>
          </p:cNvPr>
          <p:cNvSpPr>
            <a:spLocks xmlns:a="http://schemas.openxmlformats.org/drawingml/2006/main" noGrp="1"/>
          </p:cNvSpPr>
          <p:nvPr/>
        </p:nvSpPr>
        <p:spPr>
          <a:xfrm xmlns:a="http://schemas.openxmlformats.org/drawingml/2006/main">
            <a:off x="819150" y="2095500"/>
            <a:ext cx="10287000" cy="476250"/>
          </a:xfrm>
          <a:prstGeom xmlns:a="http://schemas.openxmlformats.org/drawingml/2006/main" prst="roundRect">
            <a:avLst>
              <a:gd name="adj" fmla="val 16000"/>
            </a:avLst>
          </a:prstGeom>
          <a:solidFill xmlns:a="http://schemas.openxmlformats.org/drawingml/2006/main">
            <a:srgbClr val="003B5C"/>
          </a:solidFill>
          <a:ln xmlns:a="http://schemas.openxmlformats.org/drawingml/2006/main" w="9525">
            <a:solidFill>
              <a:srgbClr val="003B5C"/>
            </a:solidFill>
            <a:prstDash val="solid"/>
          </a:ln>
        </p:spPr>
      </p:sp>
      <p:sp>
        <p:nvSpPr>
          <p:cNvPr id="7" name="">
            <a:extLst xmlns:a="http://schemas.openxmlformats.org/drawingml/2006/main">
              <a:ext uri="{FF2B5EF4-FFF2-40B4-BE49-F238E27FC236}">
                <a16:creationId xmlns:a16="http://schemas.microsoft.com/office/drawing/2014/main" id="{51B876DA-E726-4B21-9E09-6779EE36775A}"/>
              </a:ext>
            </a:extLst>
          </p:cNvPr>
          <p:cNvSpPr>
            <a:spLocks xmlns:a="http://schemas.openxmlformats.org/drawingml/2006/main" noGrp="1"/>
          </p:cNvSpPr>
          <p:nvPr/>
        </p:nvSpPr>
        <p:spPr>
          <a:xfrm xmlns:a="http://schemas.openxmlformats.org/drawingml/2006/main">
            <a:off x="952500" y="220980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Node</a:t>
            </a:r>
          </a:p>
        </p:txBody>
      </p:sp>
      <p:sp>
        <p:nvSpPr>
          <p:cNvPr id="8" name="">
            <a:extLst xmlns:a="http://schemas.openxmlformats.org/drawingml/2006/main">
              <a:ext uri="{FF2B5EF4-FFF2-40B4-BE49-F238E27FC236}">
                <a16:creationId xmlns:a16="http://schemas.microsoft.com/office/drawing/2014/main" id="{EF1AE117-346A-4DD0-B92E-3DB1DA438D46}"/>
              </a:ext>
            </a:extLst>
          </p:cNvPr>
          <p:cNvSpPr>
            <a:spLocks xmlns:a="http://schemas.openxmlformats.org/drawingml/2006/main" noGrp="1"/>
          </p:cNvSpPr>
          <p:nvPr/>
        </p:nvSpPr>
        <p:spPr>
          <a:xfrm xmlns:a="http://schemas.openxmlformats.org/drawingml/2006/main">
            <a:off x="3905250" y="220980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Observed</a:t>
            </a:r>
          </a:p>
        </p:txBody>
      </p:sp>
      <p:sp>
        <p:nvSpPr>
          <p:cNvPr id="9" name="">
            <a:extLst xmlns:a="http://schemas.openxmlformats.org/drawingml/2006/main">
              <a:ext uri="{FF2B5EF4-FFF2-40B4-BE49-F238E27FC236}">
                <a16:creationId xmlns:a16="http://schemas.microsoft.com/office/drawing/2014/main" id="{45FEEC91-BA1F-4C14-A380-90FD827A9CE4}"/>
              </a:ext>
            </a:extLst>
          </p:cNvPr>
          <p:cNvSpPr>
            <a:spLocks xmlns:a="http://schemas.openxmlformats.org/drawingml/2006/main" noGrp="1"/>
          </p:cNvSpPr>
          <p:nvPr/>
        </p:nvSpPr>
        <p:spPr>
          <a:xfrm xmlns:a="http://schemas.openxmlformats.org/drawingml/2006/main">
            <a:off x="819150" y="264795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0" name="">
            <a:extLst xmlns:a="http://schemas.openxmlformats.org/drawingml/2006/main">
              <a:ext uri="{FF2B5EF4-FFF2-40B4-BE49-F238E27FC236}">
                <a16:creationId xmlns:a16="http://schemas.microsoft.com/office/drawing/2014/main" id="{12A91119-BA4C-48D9-9D8D-9828D86A8B3E}"/>
              </a:ext>
            </a:extLst>
          </p:cNvPr>
          <p:cNvSpPr>
            <a:spLocks xmlns:a="http://schemas.openxmlformats.org/drawingml/2006/main" noGrp="1"/>
          </p:cNvSpPr>
          <p:nvPr/>
        </p:nvSpPr>
        <p:spPr>
          <a:xfrm xmlns:a="http://schemas.openxmlformats.org/drawingml/2006/main">
            <a:off x="952500" y="27622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B2C</a:t>
            </a:r>
          </a:p>
        </p:txBody>
      </p:sp>
      <p:sp>
        <p:nvSpPr>
          <p:cNvPr id="11" name="">
            <a:extLst xmlns:a="http://schemas.openxmlformats.org/drawingml/2006/main">
              <a:ext uri="{FF2B5EF4-FFF2-40B4-BE49-F238E27FC236}">
                <a16:creationId xmlns:a16="http://schemas.microsoft.com/office/drawing/2014/main" id="{E77A5EA8-5C45-4E22-8246-6A40E170492E}"/>
              </a:ext>
            </a:extLst>
          </p:cNvPr>
          <p:cNvSpPr>
            <a:spLocks xmlns:a="http://schemas.openxmlformats.org/drawingml/2006/main" noGrp="1"/>
          </p:cNvSpPr>
          <p:nvPr/>
        </p:nvSpPr>
        <p:spPr>
          <a:xfrm xmlns:a="http://schemas.openxmlformats.org/drawingml/2006/main">
            <a:off x="3905250" y="27622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85,000</a:t>
            </a:r>
          </a:p>
        </p:txBody>
      </p:sp>
      <p:sp>
        <p:nvSpPr>
          <p:cNvPr id="12" name="">
            <a:extLst xmlns:a="http://schemas.openxmlformats.org/drawingml/2006/main">
              <a:ext uri="{FF2B5EF4-FFF2-40B4-BE49-F238E27FC236}">
                <a16:creationId xmlns:a16="http://schemas.microsoft.com/office/drawing/2014/main" id="{A889C151-97C8-4BA0-AA1F-821D8F168BAA}"/>
              </a:ext>
            </a:extLst>
          </p:cNvPr>
          <p:cNvSpPr>
            <a:spLocks xmlns:a="http://schemas.openxmlformats.org/drawingml/2006/main" noGrp="1"/>
          </p:cNvSpPr>
          <p:nvPr/>
        </p:nvSpPr>
        <p:spPr>
          <a:xfrm xmlns:a="http://schemas.openxmlformats.org/drawingml/2006/main">
            <a:off x="819150" y="320040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3" name="">
            <a:extLst xmlns:a="http://schemas.openxmlformats.org/drawingml/2006/main">
              <a:ext uri="{FF2B5EF4-FFF2-40B4-BE49-F238E27FC236}">
                <a16:creationId xmlns:a16="http://schemas.microsoft.com/office/drawing/2014/main" id="{4662AD63-0710-4D89-BEC9-93528E5481F3}"/>
              </a:ext>
            </a:extLst>
          </p:cNvPr>
          <p:cNvSpPr>
            <a:spLocks xmlns:a="http://schemas.openxmlformats.org/drawingml/2006/main" noGrp="1"/>
          </p:cNvSpPr>
          <p:nvPr/>
        </p:nvSpPr>
        <p:spPr>
          <a:xfrm xmlns:a="http://schemas.openxmlformats.org/drawingml/2006/main">
            <a:off x="952500" y="331470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Fans</a:t>
            </a:r>
          </a:p>
        </p:txBody>
      </p:sp>
      <p:sp>
        <p:nvSpPr>
          <p:cNvPr id="14" name="">
            <a:extLst xmlns:a="http://schemas.openxmlformats.org/drawingml/2006/main">
              <a:ext uri="{FF2B5EF4-FFF2-40B4-BE49-F238E27FC236}">
                <a16:creationId xmlns:a16="http://schemas.microsoft.com/office/drawing/2014/main" id="{5D4A0F5C-3713-4E78-9C3F-C47B5330242A}"/>
              </a:ext>
            </a:extLst>
          </p:cNvPr>
          <p:cNvSpPr>
            <a:spLocks xmlns:a="http://schemas.openxmlformats.org/drawingml/2006/main" noGrp="1"/>
          </p:cNvSpPr>
          <p:nvPr/>
        </p:nvSpPr>
        <p:spPr>
          <a:xfrm xmlns:a="http://schemas.openxmlformats.org/drawingml/2006/main">
            <a:off x="3905250" y="331470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120,000</a:t>
            </a:r>
          </a:p>
        </p:txBody>
      </p:sp>
      <p:sp>
        <p:nvSpPr>
          <p:cNvPr id="15" name="">
            <a:extLst xmlns:a="http://schemas.openxmlformats.org/drawingml/2006/main">
              <a:ext uri="{FF2B5EF4-FFF2-40B4-BE49-F238E27FC236}">
                <a16:creationId xmlns:a16="http://schemas.microsoft.com/office/drawing/2014/main" id="{55637734-0C68-4997-A173-8F45AD5D5528}"/>
              </a:ext>
            </a:extLst>
          </p:cNvPr>
          <p:cNvSpPr>
            <a:spLocks xmlns:a="http://schemas.openxmlformats.org/drawingml/2006/main" noGrp="1"/>
          </p:cNvSpPr>
          <p:nvPr/>
        </p:nvSpPr>
        <p:spPr>
          <a:xfrm xmlns:a="http://schemas.openxmlformats.org/drawingml/2006/main">
            <a:off x="819150" y="375285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6" name="">
            <a:extLst xmlns:a="http://schemas.openxmlformats.org/drawingml/2006/main">
              <a:ext uri="{FF2B5EF4-FFF2-40B4-BE49-F238E27FC236}">
                <a16:creationId xmlns:a16="http://schemas.microsoft.com/office/drawing/2014/main" id="{4F63815B-00E7-4ACE-BF87-186A374D6228}"/>
              </a:ext>
            </a:extLst>
          </p:cNvPr>
          <p:cNvSpPr>
            <a:spLocks xmlns:a="http://schemas.openxmlformats.org/drawingml/2006/main" noGrp="1"/>
          </p:cNvSpPr>
          <p:nvPr/>
        </p:nvSpPr>
        <p:spPr>
          <a:xfrm xmlns:a="http://schemas.openxmlformats.org/drawingml/2006/main">
            <a:off x="952500" y="38671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Leads</a:t>
            </a:r>
          </a:p>
        </p:txBody>
      </p:sp>
      <p:sp>
        <p:nvSpPr>
          <p:cNvPr id="17" name="">
            <a:extLst xmlns:a="http://schemas.openxmlformats.org/drawingml/2006/main">
              <a:ext uri="{FF2B5EF4-FFF2-40B4-BE49-F238E27FC236}">
                <a16:creationId xmlns:a16="http://schemas.microsoft.com/office/drawing/2014/main" id="{77591E47-8E4A-4033-BC5D-1E238EAF461B}"/>
              </a:ext>
            </a:extLst>
          </p:cNvPr>
          <p:cNvSpPr>
            <a:spLocks xmlns:a="http://schemas.openxmlformats.org/drawingml/2006/main" noGrp="1"/>
          </p:cNvSpPr>
          <p:nvPr/>
        </p:nvSpPr>
        <p:spPr>
          <a:xfrm xmlns:a="http://schemas.openxmlformats.org/drawingml/2006/main">
            <a:off x="3905250" y="38671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7,500</a:t>
            </a:r>
          </a:p>
        </p:txBody>
      </p:sp>
      <p:sp>
        <p:nvSpPr>
          <p:cNvPr id="18" name="">
            <a:extLst xmlns:a="http://schemas.openxmlformats.org/drawingml/2006/main">
              <a:ext uri="{FF2B5EF4-FFF2-40B4-BE49-F238E27FC236}">
                <a16:creationId xmlns:a16="http://schemas.microsoft.com/office/drawing/2014/main" id="{07F329F0-CDA7-422B-B184-535DDE07B802}"/>
              </a:ext>
            </a:extLst>
          </p:cNvPr>
          <p:cNvSpPr>
            <a:spLocks xmlns:a="http://schemas.openxmlformats.org/drawingml/2006/main" noGrp="1"/>
          </p:cNvSpPr>
          <p:nvPr/>
        </p:nvSpPr>
        <p:spPr>
          <a:xfrm xmlns:a="http://schemas.openxmlformats.org/drawingml/2006/main">
            <a:off x="819150" y="430530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9" name="">
            <a:extLst xmlns:a="http://schemas.openxmlformats.org/drawingml/2006/main">
              <a:ext uri="{FF2B5EF4-FFF2-40B4-BE49-F238E27FC236}">
                <a16:creationId xmlns:a16="http://schemas.microsoft.com/office/drawing/2014/main" id="{0B543236-D4B2-473E-A540-875C99AF37C8}"/>
              </a:ext>
            </a:extLst>
          </p:cNvPr>
          <p:cNvSpPr>
            <a:spLocks xmlns:a="http://schemas.openxmlformats.org/drawingml/2006/main" noGrp="1"/>
          </p:cNvSpPr>
          <p:nvPr/>
        </p:nvSpPr>
        <p:spPr>
          <a:xfrm xmlns:a="http://schemas.openxmlformats.org/drawingml/2006/main">
            <a:off x="952500" y="441960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Clients</a:t>
            </a:r>
          </a:p>
        </p:txBody>
      </p:sp>
      <p:sp>
        <p:nvSpPr>
          <p:cNvPr id="20" name="">
            <a:extLst xmlns:a="http://schemas.openxmlformats.org/drawingml/2006/main">
              <a:ext uri="{FF2B5EF4-FFF2-40B4-BE49-F238E27FC236}">
                <a16:creationId xmlns:a16="http://schemas.microsoft.com/office/drawing/2014/main" id="{3CFB5339-847C-48EB-818F-5C8EA43DB215}"/>
              </a:ext>
            </a:extLst>
          </p:cNvPr>
          <p:cNvSpPr>
            <a:spLocks xmlns:a="http://schemas.openxmlformats.org/drawingml/2006/main" noGrp="1"/>
          </p:cNvSpPr>
          <p:nvPr/>
        </p:nvSpPr>
        <p:spPr>
          <a:xfrm xmlns:a="http://schemas.openxmlformats.org/drawingml/2006/main">
            <a:off x="3905250" y="441960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12,000</a:t>
            </a:r>
          </a:p>
        </p:txBody>
      </p:sp>
      <p:sp>
        <p:nvSpPr>
          <p:cNvPr id="21" name="">
            <a:extLst xmlns:a="http://schemas.openxmlformats.org/drawingml/2006/main">
              <a:ext uri="{FF2B5EF4-FFF2-40B4-BE49-F238E27FC236}">
                <a16:creationId xmlns:a16="http://schemas.microsoft.com/office/drawing/2014/main" id="{4EA5D781-21B7-4A6A-BAFF-72E51ED77282}"/>
              </a:ext>
            </a:extLst>
          </p:cNvPr>
          <p:cNvSpPr>
            <a:spLocks xmlns:a="http://schemas.openxmlformats.org/drawingml/2006/main" noGrp="1"/>
          </p:cNvSpPr>
          <p:nvPr/>
        </p:nvSpPr>
        <p:spPr>
          <a:xfrm xmlns:a="http://schemas.openxmlformats.org/drawingml/2006/main">
            <a:off x="819150" y="485775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22" name="">
            <a:extLst xmlns:a="http://schemas.openxmlformats.org/drawingml/2006/main">
              <a:ext uri="{FF2B5EF4-FFF2-40B4-BE49-F238E27FC236}">
                <a16:creationId xmlns:a16="http://schemas.microsoft.com/office/drawing/2014/main" id="{A261B1B6-E4F6-496C-A2B8-40F0EC700C7E}"/>
              </a:ext>
            </a:extLst>
          </p:cNvPr>
          <p:cNvSpPr>
            <a:spLocks xmlns:a="http://schemas.openxmlformats.org/drawingml/2006/main" noGrp="1"/>
          </p:cNvSpPr>
          <p:nvPr/>
        </p:nvSpPr>
        <p:spPr>
          <a:xfrm xmlns:a="http://schemas.openxmlformats.org/drawingml/2006/main">
            <a:off x="952500" y="49720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CRM</a:t>
            </a:r>
          </a:p>
        </p:txBody>
      </p:sp>
      <p:sp>
        <p:nvSpPr>
          <p:cNvPr id="23" name="">
            <a:extLst xmlns:a="http://schemas.openxmlformats.org/drawingml/2006/main">
              <a:ext uri="{FF2B5EF4-FFF2-40B4-BE49-F238E27FC236}">
                <a16:creationId xmlns:a16="http://schemas.microsoft.com/office/drawing/2014/main" id="{53A4FB2D-95C2-4DBF-B9BC-607ADC29047F}"/>
              </a:ext>
            </a:extLst>
          </p:cNvPr>
          <p:cNvSpPr>
            <a:spLocks xmlns:a="http://schemas.openxmlformats.org/drawingml/2006/main" noGrp="1"/>
          </p:cNvSpPr>
          <p:nvPr/>
        </p:nvSpPr>
        <p:spPr>
          <a:xfrm xmlns:a="http://schemas.openxmlformats.org/drawingml/2006/main">
            <a:off x="3905250" y="49720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18,000</a:t>
            </a:r>
          </a:p>
        </p:txBody>
      </p:sp>
    </p:spTree>
    <p:extLst>
      <p:ext uri="{BB962C8B-B14F-4D97-AF65-F5344CB8AC3E}">
        <p14:creationId xmlns:p14="http://schemas.microsoft.com/office/powerpoint/2010/main" val="1474267856"/>
      </p:ext>
    </p:extLst>
  </p:cSld>
</p:sld>
</file>

<file path=ppt/slides/slide2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F4605A0-F973-4ED4-9E93-BE5CCF9D38B0}"/>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8849B18B-97F3-4FF6-BD16-F8F008B24B6D}"/>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B011B12A-2AB3-4AB0-872A-5DB79C20E0BD}"/>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51D7911D-6002-4EC0-A833-E7FF2F1C6F79}"/>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Step 1: turn every value into a simple score</a:t>
            </a:r>
          </a:p>
        </p:txBody>
      </p:sp>
      <p:sp>
        <p:nvSpPr>
          <p:cNvPr id="5" name="">
            <a:extLst xmlns:a="http://schemas.openxmlformats.org/drawingml/2006/main">
              <a:ext uri="{FF2B5EF4-FFF2-40B4-BE49-F238E27FC236}">
                <a16:creationId xmlns:a16="http://schemas.microsoft.com/office/drawing/2014/main" id="{108FBF54-64F5-45DC-9CC0-82DFAA37E205}"/>
              </a:ext>
            </a:extLst>
          </p:cNvPr>
          <p:cNvSpPr>
            <a:spLocks xmlns:a="http://schemas.openxmlformats.org/drawingml/2006/main" noGrp="1"/>
          </p:cNvSpPr>
          <p:nvPr/>
        </p:nvSpPr>
        <p:spPr>
          <a:xfrm xmlns:a="http://schemas.openxmlformats.org/drawingml/2006/main">
            <a:off x="838200" y="1638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9A7EBFCE-7936-49B6-AE6F-BF65F371758E}"/>
              </a:ext>
            </a:extLst>
          </p:cNvPr>
          <p:cNvSpPr>
            <a:spLocks xmlns:a="http://schemas.openxmlformats.org/drawingml/2006/main" noGrp="1"/>
          </p:cNvSpPr>
          <p:nvPr/>
        </p:nvSpPr>
        <p:spPr>
          <a:xfrm xmlns:a="http://schemas.openxmlformats.org/drawingml/2006/main">
            <a:off x="1104900" y="1638300"/>
            <a:ext cx="630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For each node, divide the observed value by the arrival value.</a:t>
            </a:r>
          </a:p>
        </p:txBody>
      </p:sp>
      <p:sp>
        <p:nvSpPr>
          <p:cNvPr id="7" name="">
            <a:extLst xmlns:a="http://schemas.openxmlformats.org/drawingml/2006/main">
              <a:ext uri="{FF2B5EF4-FFF2-40B4-BE49-F238E27FC236}">
                <a16:creationId xmlns:a16="http://schemas.microsoft.com/office/drawing/2014/main" id="{2EE6BA27-87F6-4CC3-B37A-8513CDC1823B}"/>
              </a:ext>
            </a:extLst>
          </p:cNvPr>
          <p:cNvSpPr>
            <a:spLocks xmlns:a="http://schemas.openxmlformats.org/drawingml/2006/main" noGrp="1"/>
          </p:cNvSpPr>
          <p:nvPr/>
        </p:nvSpPr>
        <p:spPr>
          <a:xfrm xmlns:a="http://schemas.openxmlformats.org/drawingml/2006/main">
            <a:off x="838200" y="21526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2091FC4C-591A-4028-ABAC-978BC9E02027}"/>
              </a:ext>
            </a:extLst>
          </p:cNvPr>
          <p:cNvSpPr>
            <a:spLocks xmlns:a="http://schemas.openxmlformats.org/drawingml/2006/main" noGrp="1"/>
          </p:cNvSpPr>
          <p:nvPr/>
        </p:nvSpPr>
        <p:spPr>
          <a:xfrm xmlns:a="http://schemas.openxmlformats.org/drawingml/2006/main">
            <a:off x="1104900" y="2152650"/>
            <a:ext cx="630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Example B2C: 85,000 / 250,000 = 0.34. In plain language: the club is reaching 34% of the consumer market it wants to manage.</a:t>
            </a:r>
          </a:p>
        </p:txBody>
      </p:sp>
      <p:sp>
        <p:nvSpPr>
          <p:cNvPr id="9" name="">
            <a:extLst xmlns:a="http://schemas.openxmlformats.org/drawingml/2006/main">
              <a:ext uri="{FF2B5EF4-FFF2-40B4-BE49-F238E27FC236}">
                <a16:creationId xmlns:a16="http://schemas.microsoft.com/office/drawing/2014/main" id="{5B2F7961-C8D2-45AD-B673-987A8997184E}"/>
              </a:ext>
            </a:extLst>
          </p:cNvPr>
          <p:cNvSpPr>
            <a:spLocks xmlns:a="http://schemas.openxmlformats.org/drawingml/2006/main" noGrp="1"/>
          </p:cNvSpPr>
          <p:nvPr/>
        </p:nvSpPr>
        <p:spPr>
          <a:xfrm xmlns:a="http://schemas.openxmlformats.org/drawingml/2006/main">
            <a:off x="838200" y="26670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2BC68AC2-34F2-4ABB-A557-945EC71051AD}"/>
              </a:ext>
            </a:extLst>
          </p:cNvPr>
          <p:cNvSpPr>
            <a:spLocks xmlns:a="http://schemas.openxmlformats.org/drawingml/2006/main" noGrp="1"/>
          </p:cNvSpPr>
          <p:nvPr/>
        </p:nvSpPr>
        <p:spPr>
          <a:xfrm xmlns:a="http://schemas.openxmlformats.org/drawingml/2006/main">
            <a:off x="1104900" y="2667000"/>
            <a:ext cx="630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Example CRM: 18,000 / 60,000 = 0.30. In plain language: only 30% of the desired relationship memory is ready.</a:t>
            </a:r>
          </a:p>
        </p:txBody>
      </p:sp>
      <p:sp>
        <p:nvSpPr>
          <p:cNvPr id="11" name="">
            <a:extLst xmlns:a="http://schemas.openxmlformats.org/drawingml/2006/main">
              <a:ext uri="{FF2B5EF4-FFF2-40B4-BE49-F238E27FC236}">
                <a16:creationId xmlns:a16="http://schemas.microsoft.com/office/drawing/2014/main" id="{64D83C9A-BD6A-486F-A1C6-CEAE05ACC7B2}"/>
              </a:ext>
            </a:extLst>
          </p:cNvPr>
          <p:cNvSpPr>
            <a:spLocks xmlns:a="http://schemas.openxmlformats.org/drawingml/2006/main" noGrp="1"/>
          </p:cNvSpPr>
          <p:nvPr/>
        </p:nvSpPr>
        <p:spPr>
          <a:xfrm xmlns:a="http://schemas.openxmlformats.org/drawingml/2006/main">
            <a:off x="838200" y="31813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3483D649-9BBB-4604-8B37-568D635A1EC5}"/>
              </a:ext>
            </a:extLst>
          </p:cNvPr>
          <p:cNvSpPr>
            <a:spLocks xmlns:a="http://schemas.openxmlformats.org/drawingml/2006/main" noGrp="1"/>
          </p:cNvSpPr>
          <p:nvPr/>
        </p:nvSpPr>
        <p:spPr>
          <a:xfrm xmlns:a="http://schemas.openxmlformats.org/drawingml/2006/main">
            <a:off x="1104900" y="3181350"/>
            <a:ext cx="630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The weight tells the model how important that signal is for communication. CRM has more weight than paid media because personalization depends on memory.</a:t>
            </a:r>
          </a:p>
        </p:txBody>
      </p:sp>
      <p:sp>
        <p:nvSpPr>
          <p:cNvPr id="13" name="">
            <a:extLst xmlns:a="http://schemas.openxmlformats.org/drawingml/2006/main">
              <a:ext uri="{FF2B5EF4-FFF2-40B4-BE49-F238E27FC236}">
                <a16:creationId xmlns:a16="http://schemas.microsoft.com/office/drawing/2014/main" id="{67CCA48B-5653-42E7-927C-89584C1FF3CD}"/>
              </a:ext>
            </a:extLst>
          </p:cNvPr>
          <p:cNvSpPr>
            <a:spLocks xmlns:a="http://schemas.openxmlformats.org/drawingml/2006/main" noGrp="1"/>
          </p:cNvSpPr>
          <p:nvPr/>
        </p:nvSpPr>
        <p:spPr>
          <a:xfrm xmlns:a="http://schemas.openxmlformats.org/drawingml/2006/main">
            <a:off x="7953375" y="1695450"/>
            <a:ext cx="2857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003B5C"/>
            </a:solidFill>
            <a:prstDash val="solid"/>
          </a:ln>
        </p:spPr>
      </p:sp>
      <p:sp>
        <p:nvSpPr>
          <p:cNvPr id="14" name="">
            <a:extLst xmlns:a="http://schemas.openxmlformats.org/drawingml/2006/main">
              <a:ext uri="{FF2B5EF4-FFF2-40B4-BE49-F238E27FC236}">
                <a16:creationId xmlns:a16="http://schemas.microsoft.com/office/drawing/2014/main" id="{CD5664FB-D382-4E2B-91D1-D08237163D1B}"/>
              </a:ext>
            </a:extLst>
          </p:cNvPr>
          <p:cNvSpPr>
            <a:spLocks xmlns:a="http://schemas.openxmlformats.org/drawingml/2006/main" noGrp="1"/>
          </p:cNvSpPr>
          <p:nvPr/>
        </p:nvSpPr>
        <p:spPr>
          <a:xfrm xmlns:a="http://schemas.openxmlformats.org/drawingml/2006/main">
            <a:off x="8239125" y="20478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3B5C"/>
                </a:solidFill>
              </a:defRPr>
            </a:pPr>
            <a:r>
              <a:rPr sz="1800" b="1">
                <a:solidFill>
                  <a:srgbClr val="003B5C"/>
                </a:solidFill>
              </a:rPr>
              <a:t>Beginner formula</a:t>
            </a:r>
          </a:p>
        </p:txBody>
      </p:sp>
      <p:sp>
        <p:nvSpPr>
          <p:cNvPr id="15" name="">
            <a:extLst xmlns:a="http://schemas.openxmlformats.org/drawingml/2006/main">
              <a:ext uri="{FF2B5EF4-FFF2-40B4-BE49-F238E27FC236}">
                <a16:creationId xmlns:a16="http://schemas.microsoft.com/office/drawing/2014/main" id="{24AEF8BA-8706-4ADC-A25C-D6E85E539CC7}"/>
              </a:ext>
            </a:extLst>
          </p:cNvPr>
          <p:cNvSpPr>
            <a:spLocks xmlns:a="http://schemas.openxmlformats.org/drawingml/2006/main" noGrp="1"/>
          </p:cNvSpPr>
          <p:nvPr/>
        </p:nvSpPr>
        <p:spPr>
          <a:xfrm xmlns:a="http://schemas.openxmlformats.org/drawingml/2006/main">
            <a:off x="8239125" y="2667000"/>
            <a:ext cx="2238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5070B"/>
                </a:solidFill>
              </a:defRPr>
            </a:pPr>
            <a:r>
              <a:rPr sz="1575" b="0">
                <a:solidFill>
                  <a:srgbClr val="05070B"/>
                </a:solidFill>
              </a:rPr>
              <a:t>Node score = observed / arrival</a:t>
            </a:r>
          </a:p>
          <a:p xmlns:a="http://schemas.openxmlformats.org/drawingml/2006/main">
            <a:r>
              <a:t/>
            </a:r>
          </a:p>
          <a:p xmlns:a="http://schemas.openxmlformats.org/drawingml/2006/main">
            <a:pPr algn="l">
              <a:defRPr sz="1575" b="0">
                <a:solidFill>
                  <a:srgbClr val="05070B"/>
                </a:solidFill>
              </a:defRPr>
            </a:pPr>
            <a:r>
              <a:rPr sz="1575" b="0">
                <a:solidFill>
                  <a:srgbClr val="05070B"/>
                </a:solidFill>
              </a:rPr>
              <a:t>Weighted node = node score x importance weight</a:t>
            </a:r>
          </a:p>
        </p:txBody>
      </p:sp>
    </p:spTree>
    <p:extLst>
      <p:ext uri="{BB962C8B-B14F-4D97-AF65-F5344CB8AC3E}">
        <p14:creationId xmlns:p14="http://schemas.microsoft.com/office/powerpoint/2010/main" val="1244582611"/>
      </p:ext>
    </p:extLst>
  </p:cSld>
</p:sld>
</file>

<file path=ppt/slides/slide2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87916A9-F981-452D-8F6D-419C88AEB387}"/>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0466A041-8DB8-4064-9238-78A0E25F7002}"/>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B975A0C2-7FC9-40F5-8D66-7F64FDBF0DE0}"/>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AFB49E70-AAD8-4A7B-ADD1-8BAAD707ABBB}"/>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Step 2: calculate the three endogenous variables</a:t>
            </a:r>
          </a:p>
        </p:txBody>
      </p:sp>
      <p:sp>
        <p:nvSpPr>
          <p:cNvPr id="5" name="">
            <a:extLst xmlns:a="http://schemas.openxmlformats.org/drawingml/2006/main">
              <a:ext uri="{FF2B5EF4-FFF2-40B4-BE49-F238E27FC236}">
                <a16:creationId xmlns:a16="http://schemas.microsoft.com/office/drawing/2014/main" id="{F10021E3-DC52-47DB-ABD0-CB2A62105BFF}"/>
              </a:ext>
            </a:extLst>
          </p:cNvPr>
          <p:cNvSpPr>
            <a:spLocks xmlns:a="http://schemas.openxmlformats.org/drawingml/2006/main" noGrp="1"/>
          </p:cNvSpPr>
          <p:nvPr/>
        </p:nvSpPr>
        <p:spPr>
          <a:xfrm xmlns:a="http://schemas.openxmlformats.org/drawingml/2006/main">
            <a:off x="838200" y="1219200"/>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Users, Content and Infrastructure are the three living parts of the Internet communication system. Each one is calculated from its own nodes, using the observed value, the arrival value and the communication weight.</a:t>
            </a:r>
          </a:p>
        </p:txBody>
      </p:sp>
      <p:sp>
        <p:nvSpPr>
          <p:cNvPr id="6" name="">
            <a:extLst xmlns:a="http://schemas.openxmlformats.org/drawingml/2006/main">
              <a:ext uri="{FF2B5EF4-FFF2-40B4-BE49-F238E27FC236}">
                <a16:creationId xmlns:a16="http://schemas.microsoft.com/office/drawing/2014/main" id="{43D8B64C-6B8D-47E2-87DB-D36E8B1A0983}"/>
              </a:ext>
            </a:extLst>
          </p:cNvPr>
          <p:cNvSpPr>
            <a:spLocks xmlns:a="http://schemas.openxmlformats.org/drawingml/2006/main" noGrp="1"/>
          </p:cNvSpPr>
          <p:nvPr/>
        </p:nvSpPr>
        <p:spPr>
          <a:xfrm xmlns:a="http://schemas.openxmlformats.org/drawingml/2006/main">
            <a:off x="876300" y="2238375"/>
            <a:ext cx="29527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CBDDE8"/>
            </a:solidFill>
            <a:prstDash val="solid"/>
          </a:ln>
        </p:spPr>
      </p:sp>
      <p:sp>
        <p:nvSpPr>
          <p:cNvPr id="7" name="">
            <a:extLst xmlns:a="http://schemas.openxmlformats.org/drawingml/2006/main">
              <a:ext uri="{FF2B5EF4-FFF2-40B4-BE49-F238E27FC236}">
                <a16:creationId xmlns:a16="http://schemas.microsoft.com/office/drawing/2014/main" id="{CEFA0ED2-66AD-427B-A269-90BACEC2EE4E}"/>
              </a:ext>
            </a:extLst>
          </p:cNvPr>
          <p:cNvSpPr>
            <a:spLocks xmlns:a="http://schemas.openxmlformats.org/drawingml/2006/main" noGrp="1"/>
          </p:cNvSpPr>
          <p:nvPr/>
        </p:nvSpPr>
        <p:spPr>
          <a:xfrm xmlns:a="http://schemas.openxmlformats.org/drawingml/2006/main">
            <a:off x="1162050" y="2524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03B5C"/>
                </a:solidFill>
              </a:defRPr>
            </a:pPr>
            <a:r>
              <a:rPr sz="2250" b="1">
                <a:solidFill>
                  <a:srgbClr val="003B5C"/>
                </a:solidFill>
              </a:rPr>
              <a:t>Users</a:t>
            </a:r>
          </a:p>
        </p:txBody>
      </p:sp>
      <p:sp>
        <p:nvSpPr>
          <p:cNvPr id="8" name="">
            <a:extLst xmlns:a="http://schemas.openxmlformats.org/drawingml/2006/main">
              <a:ext uri="{FF2B5EF4-FFF2-40B4-BE49-F238E27FC236}">
                <a16:creationId xmlns:a16="http://schemas.microsoft.com/office/drawing/2014/main" id="{7E1658A2-E5AA-4EAA-BAEB-4A5B31AF26DA}"/>
              </a:ext>
            </a:extLst>
          </p:cNvPr>
          <p:cNvSpPr>
            <a:spLocks xmlns:a="http://schemas.openxmlformats.org/drawingml/2006/main" noGrp="1"/>
          </p:cNvSpPr>
          <p:nvPr/>
        </p:nvSpPr>
        <p:spPr>
          <a:xfrm xmlns:a="http://schemas.openxmlformats.org/drawingml/2006/main">
            <a:off x="1162050" y="3067050"/>
            <a:ext cx="233362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5070B"/>
                </a:solidFill>
              </a:defRPr>
            </a:pPr>
            <a:r>
              <a:rPr sz="1350" b="0">
                <a:solidFill>
                  <a:srgbClr val="05070B"/>
                </a:solidFill>
              </a:rPr>
              <a:t>B2C, Fans, Leads and Clients.</a:t>
            </a:r>
          </a:p>
          <a:p xmlns:a="http://schemas.openxmlformats.org/drawingml/2006/main">
            <a:r>
              <a:t/>
            </a:r>
          </a:p>
          <a:p xmlns:a="http://schemas.openxmlformats.org/drawingml/2006/main">
            <a:pPr algn="l">
              <a:defRPr sz="1350" b="0">
                <a:solidFill>
                  <a:srgbClr val="05070B"/>
                </a:solidFill>
              </a:defRPr>
            </a:pPr>
            <a:r>
              <a:rPr sz="1350" b="0">
                <a:solidFill>
                  <a:srgbClr val="05070B"/>
                </a:solidFill>
              </a:rPr>
              <a:t>Weighted result: 32.1 / 100.</a:t>
            </a:r>
          </a:p>
          <a:p xmlns:a="http://schemas.openxmlformats.org/drawingml/2006/main">
            <a:r>
              <a:t/>
            </a:r>
          </a:p>
          <a:p xmlns:a="http://schemas.openxmlformats.org/drawingml/2006/main">
            <a:pPr algn="l">
              <a:defRPr sz="1350" b="0">
                <a:solidFill>
                  <a:srgbClr val="05070B"/>
                </a:solidFill>
              </a:defRPr>
            </a:pPr>
            <a:r>
              <a:rPr sz="1350" b="0">
                <a:solidFill>
                  <a:srgbClr val="05070B"/>
                </a:solidFill>
              </a:rPr>
              <a:t>Meaning: there is audience and demand, but the relationship base must become more identifiable and recurrent.</a:t>
            </a:r>
          </a:p>
        </p:txBody>
      </p:sp>
      <p:sp>
        <p:nvSpPr>
          <p:cNvPr id="9" name="">
            <a:extLst xmlns:a="http://schemas.openxmlformats.org/drawingml/2006/main">
              <a:ext uri="{FF2B5EF4-FFF2-40B4-BE49-F238E27FC236}">
                <a16:creationId xmlns:a16="http://schemas.microsoft.com/office/drawing/2014/main" id="{0D713856-465E-4E10-880D-D57CEDFF376F}"/>
              </a:ext>
            </a:extLst>
          </p:cNvPr>
          <p:cNvSpPr>
            <a:spLocks xmlns:a="http://schemas.openxmlformats.org/drawingml/2006/main" noGrp="1"/>
          </p:cNvSpPr>
          <p:nvPr/>
        </p:nvSpPr>
        <p:spPr>
          <a:xfrm xmlns:a="http://schemas.openxmlformats.org/drawingml/2006/main">
            <a:off x="4619625" y="2238375"/>
            <a:ext cx="29527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CBDDE8"/>
            </a:solidFill>
            <a:prstDash val="solid"/>
          </a:ln>
        </p:spPr>
      </p:sp>
      <p:sp>
        <p:nvSpPr>
          <p:cNvPr id="10" name="">
            <a:extLst xmlns:a="http://schemas.openxmlformats.org/drawingml/2006/main">
              <a:ext uri="{FF2B5EF4-FFF2-40B4-BE49-F238E27FC236}">
                <a16:creationId xmlns:a16="http://schemas.microsoft.com/office/drawing/2014/main" id="{36C6E49D-3C15-4166-97CA-C09AD60CFDE3}"/>
              </a:ext>
            </a:extLst>
          </p:cNvPr>
          <p:cNvSpPr>
            <a:spLocks xmlns:a="http://schemas.openxmlformats.org/drawingml/2006/main" noGrp="1"/>
          </p:cNvSpPr>
          <p:nvPr/>
        </p:nvSpPr>
        <p:spPr>
          <a:xfrm xmlns:a="http://schemas.openxmlformats.org/drawingml/2006/main">
            <a:off x="4905375" y="2524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03B5C"/>
                </a:solidFill>
              </a:defRPr>
            </a:pPr>
            <a:r>
              <a:rPr sz="2250" b="1">
                <a:solidFill>
                  <a:srgbClr val="003B5C"/>
                </a:solidFill>
              </a:rPr>
              <a:t>Content</a:t>
            </a:r>
          </a:p>
        </p:txBody>
      </p:sp>
      <p:sp>
        <p:nvSpPr>
          <p:cNvPr id="11" name="">
            <a:extLst xmlns:a="http://schemas.openxmlformats.org/drawingml/2006/main">
              <a:ext uri="{FF2B5EF4-FFF2-40B4-BE49-F238E27FC236}">
                <a16:creationId xmlns:a16="http://schemas.microsoft.com/office/drawing/2014/main" id="{0CC2B187-2260-4216-9150-DE348EE430F9}"/>
              </a:ext>
            </a:extLst>
          </p:cNvPr>
          <p:cNvSpPr>
            <a:spLocks xmlns:a="http://schemas.openxmlformats.org/drawingml/2006/main" noGrp="1"/>
          </p:cNvSpPr>
          <p:nvPr/>
        </p:nvSpPr>
        <p:spPr>
          <a:xfrm xmlns:a="http://schemas.openxmlformats.org/drawingml/2006/main">
            <a:off x="4905375" y="3067050"/>
            <a:ext cx="233362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5070B"/>
                </a:solidFill>
              </a:defRPr>
            </a:pPr>
            <a:r>
              <a:rPr sz="1350" b="0">
                <a:solidFill>
                  <a:srgbClr val="05070B"/>
                </a:solidFill>
              </a:rPr>
              <a:t>SEO, Paid media, Email and Brand.</a:t>
            </a:r>
          </a:p>
          <a:p xmlns:a="http://schemas.openxmlformats.org/drawingml/2006/main">
            <a:r>
              <a:t/>
            </a:r>
          </a:p>
          <a:p xmlns:a="http://schemas.openxmlformats.org/drawingml/2006/main">
            <a:pPr algn="l">
              <a:defRPr sz="1350" b="0">
                <a:solidFill>
                  <a:srgbClr val="05070B"/>
                </a:solidFill>
              </a:defRPr>
            </a:pPr>
            <a:r>
              <a:rPr sz="1350" b="0">
                <a:solidFill>
                  <a:srgbClr val="05070B"/>
                </a:solidFill>
              </a:rPr>
              <a:t>Weighted result: 43.3 / 100.</a:t>
            </a:r>
          </a:p>
          <a:p xmlns:a="http://schemas.openxmlformats.org/drawingml/2006/main">
            <a:r>
              <a:t/>
            </a:r>
          </a:p>
          <a:p xmlns:a="http://schemas.openxmlformats.org/drawingml/2006/main">
            <a:pPr algn="l">
              <a:defRPr sz="1350" b="0">
                <a:solidFill>
                  <a:srgbClr val="05070B"/>
                </a:solidFill>
              </a:defRPr>
            </a:pPr>
            <a:r>
              <a:rPr sz="1350" b="0">
                <a:solidFill>
                  <a:srgbClr val="05070B"/>
                </a:solidFill>
              </a:rPr>
              <a:t>Meaning: the offer and messages exist, but more demand capture and owned communication are needed.</a:t>
            </a:r>
          </a:p>
        </p:txBody>
      </p:sp>
      <p:sp>
        <p:nvSpPr>
          <p:cNvPr id="12" name="">
            <a:extLst xmlns:a="http://schemas.openxmlformats.org/drawingml/2006/main">
              <a:ext uri="{FF2B5EF4-FFF2-40B4-BE49-F238E27FC236}">
                <a16:creationId xmlns:a16="http://schemas.microsoft.com/office/drawing/2014/main" id="{CF277895-A78F-4FB2-99CA-42DC400AC0EE}"/>
              </a:ext>
            </a:extLst>
          </p:cNvPr>
          <p:cNvSpPr>
            <a:spLocks xmlns:a="http://schemas.openxmlformats.org/drawingml/2006/main" noGrp="1"/>
          </p:cNvSpPr>
          <p:nvPr/>
        </p:nvSpPr>
        <p:spPr>
          <a:xfrm xmlns:a="http://schemas.openxmlformats.org/drawingml/2006/main">
            <a:off x="8362950" y="2238375"/>
            <a:ext cx="29527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CBDDE8"/>
            </a:solidFill>
            <a:prstDash val="solid"/>
          </a:ln>
        </p:spPr>
      </p:sp>
      <p:sp>
        <p:nvSpPr>
          <p:cNvPr id="13" name="">
            <a:extLst xmlns:a="http://schemas.openxmlformats.org/drawingml/2006/main">
              <a:ext uri="{FF2B5EF4-FFF2-40B4-BE49-F238E27FC236}">
                <a16:creationId xmlns:a16="http://schemas.microsoft.com/office/drawing/2014/main" id="{41FB04D6-C5C4-47AD-84EF-8BC08C107C20}"/>
              </a:ext>
            </a:extLst>
          </p:cNvPr>
          <p:cNvSpPr>
            <a:spLocks xmlns:a="http://schemas.openxmlformats.org/drawingml/2006/main" noGrp="1"/>
          </p:cNvSpPr>
          <p:nvPr/>
        </p:nvSpPr>
        <p:spPr>
          <a:xfrm xmlns:a="http://schemas.openxmlformats.org/drawingml/2006/main">
            <a:off x="8648700" y="2524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03B5C"/>
                </a:solidFill>
              </a:defRPr>
            </a:pPr>
            <a:r>
              <a:rPr sz="2250" b="1">
                <a:solidFill>
                  <a:srgbClr val="003B5C"/>
                </a:solidFill>
              </a:rPr>
              <a:t>Infrastructure</a:t>
            </a:r>
          </a:p>
        </p:txBody>
      </p:sp>
      <p:sp>
        <p:nvSpPr>
          <p:cNvPr id="14" name="">
            <a:extLst xmlns:a="http://schemas.openxmlformats.org/drawingml/2006/main">
              <a:ext uri="{FF2B5EF4-FFF2-40B4-BE49-F238E27FC236}">
                <a16:creationId xmlns:a16="http://schemas.microsoft.com/office/drawing/2014/main" id="{C457D01D-7839-4E7D-AFF1-4088C20ACC79}"/>
              </a:ext>
            </a:extLst>
          </p:cNvPr>
          <p:cNvSpPr>
            <a:spLocks xmlns:a="http://schemas.openxmlformats.org/drawingml/2006/main" noGrp="1"/>
          </p:cNvSpPr>
          <p:nvPr/>
        </p:nvSpPr>
        <p:spPr>
          <a:xfrm xmlns:a="http://schemas.openxmlformats.org/drawingml/2006/main">
            <a:off x="8648700" y="3067050"/>
            <a:ext cx="233362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5070B"/>
                </a:solidFill>
              </a:defRPr>
            </a:pPr>
            <a:r>
              <a:rPr sz="1350" b="0">
                <a:solidFill>
                  <a:srgbClr val="05070B"/>
                </a:solidFill>
              </a:rPr>
              <a:t>Mobile, Ecommerce, CRM, Analytics and Workflow AI.</a:t>
            </a:r>
          </a:p>
          <a:p xmlns:a="http://schemas.openxmlformats.org/drawingml/2006/main">
            <a:r>
              <a:t/>
            </a:r>
          </a:p>
          <a:p xmlns:a="http://schemas.openxmlformats.org/drawingml/2006/main">
            <a:pPr algn="l">
              <a:defRPr sz="1350" b="0">
                <a:solidFill>
                  <a:srgbClr val="05070B"/>
                </a:solidFill>
              </a:defRPr>
            </a:pPr>
            <a:r>
              <a:rPr sz="1350" b="0">
                <a:solidFill>
                  <a:srgbClr val="05070B"/>
                </a:solidFill>
              </a:rPr>
              <a:t>Weighted result: 54.6 / 100.</a:t>
            </a:r>
          </a:p>
          <a:p xmlns:a="http://schemas.openxmlformats.org/drawingml/2006/main">
            <a:r>
              <a:t/>
            </a:r>
          </a:p>
          <a:p xmlns:a="http://schemas.openxmlformats.org/drawingml/2006/main">
            <a:pPr algn="l">
              <a:defRPr sz="1350" b="0">
                <a:solidFill>
                  <a:srgbClr val="05070B"/>
                </a:solidFill>
              </a:defRPr>
            </a:pPr>
            <a:r>
              <a:rPr sz="1350" b="0">
                <a:solidFill>
                  <a:srgbClr val="05070B"/>
                </a:solidFill>
              </a:rPr>
              <a:t>Meaning: the machine exists, but CRM and workflow AI still limit the loop.</a:t>
            </a:r>
          </a:p>
        </p:txBody>
      </p:sp>
    </p:spTree>
    <p:extLst>
      <p:ext uri="{BB962C8B-B14F-4D97-AF65-F5344CB8AC3E}">
        <p14:creationId xmlns:p14="http://schemas.microsoft.com/office/powerpoint/2010/main" val="652004982"/>
      </p:ext>
    </p:extLst>
  </p:cSld>
</p:sld>
</file>

<file path=ppt/slides/slide2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2E84DE-A8B2-43DA-A065-4973EC6CA085}"/>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8D2E1D17-B878-47A4-9F38-BE82CD5D0F49}"/>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6B8541CF-5930-4FEC-A95C-29F521BDEEBE}"/>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9CE2A99D-F424-4846-8338-EAF8CDEE17E2}"/>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Step 3: apply the Internet Dynamics equation</a:t>
            </a:r>
          </a:p>
        </p:txBody>
      </p:sp>
      <p:sp>
        <p:nvSpPr>
          <p:cNvPr id="5" name="">
            <a:extLst xmlns:a="http://schemas.openxmlformats.org/drawingml/2006/main">
              <a:ext uri="{FF2B5EF4-FFF2-40B4-BE49-F238E27FC236}">
                <a16:creationId xmlns:a16="http://schemas.microsoft.com/office/drawing/2014/main" id="{5541BFF2-001A-423E-ADCF-1677AAAB48CC}"/>
              </a:ext>
            </a:extLst>
          </p:cNvPr>
          <p:cNvSpPr>
            <a:spLocks xmlns:a="http://schemas.openxmlformats.org/drawingml/2006/main" noGrp="1"/>
          </p:cNvSpPr>
          <p:nvPr/>
        </p:nvSpPr>
        <p:spPr>
          <a:xfrm xmlns:a="http://schemas.openxmlformats.org/drawingml/2006/main">
            <a:off x="838200" y="16002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6" name="">
            <a:extLst xmlns:a="http://schemas.openxmlformats.org/drawingml/2006/main">
              <a:ext uri="{FF2B5EF4-FFF2-40B4-BE49-F238E27FC236}">
                <a16:creationId xmlns:a16="http://schemas.microsoft.com/office/drawing/2014/main" id="{F54E3764-7F6C-442A-B39D-67AC2CB5D33C}"/>
              </a:ext>
            </a:extLst>
          </p:cNvPr>
          <p:cNvSpPr>
            <a:spLocks xmlns:a="http://schemas.openxmlformats.org/drawingml/2006/main" noGrp="1"/>
          </p:cNvSpPr>
          <p:nvPr/>
        </p:nvSpPr>
        <p:spPr>
          <a:xfrm xmlns:a="http://schemas.openxmlformats.org/drawingml/2006/main">
            <a:off x="1104900" y="1600200"/>
            <a:ext cx="6591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Endogenous communication strength combines Users, Content and Infrastructure. In this case: 42.3 / 100.</a:t>
            </a:r>
          </a:p>
        </p:txBody>
      </p:sp>
      <p:sp>
        <p:nvSpPr>
          <p:cNvPr id="7" name="">
            <a:extLst xmlns:a="http://schemas.openxmlformats.org/drawingml/2006/main">
              <a:ext uri="{FF2B5EF4-FFF2-40B4-BE49-F238E27FC236}">
                <a16:creationId xmlns:a16="http://schemas.microsoft.com/office/drawing/2014/main" id="{658108BC-4948-4C40-AD19-100B8347CD64}"/>
              </a:ext>
            </a:extLst>
          </p:cNvPr>
          <p:cNvSpPr>
            <a:spLocks xmlns:a="http://schemas.openxmlformats.org/drawingml/2006/main" noGrp="1"/>
          </p:cNvSpPr>
          <p:nvPr/>
        </p:nvSpPr>
        <p:spPr>
          <a:xfrm xmlns:a="http://schemas.openxmlformats.org/drawingml/2006/main">
            <a:off x="838200" y="2133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8" name="">
            <a:extLst xmlns:a="http://schemas.openxmlformats.org/drawingml/2006/main">
              <a:ext uri="{FF2B5EF4-FFF2-40B4-BE49-F238E27FC236}">
                <a16:creationId xmlns:a16="http://schemas.microsoft.com/office/drawing/2014/main" id="{80398063-D7DF-4F00-95D8-A6F2A9CBFCB0}"/>
              </a:ext>
            </a:extLst>
          </p:cNvPr>
          <p:cNvSpPr>
            <a:spLocks xmlns:a="http://schemas.openxmlformats.org/drawingml/2006/main" noGrp="1"/>
          </p:cNvSpPr>
          <p:nvPr/>
        </p:nvSpPr>
        <p:spPr>
          <a:xfrm xmlns:a="http://schemas.openxmlformats.org/drawingml/2006/main">
            <a:off x="1104900" y="2133600"/>
            <a:ext cx="6591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Management maturity comes from processes, organization, systems and data/AI. In this case: 55 / 100.</a:t>
            </a:r>
          </a:p>
        </p:txBody>
      </p:sp>
      <p:sp>
        <p:nvSpPr>
          <p:cNvPr id="9" name="">
            <a:extLst xmlns:a="http://schemas.openxmlformats.org/drawingml/2006/main">
              <a:ext uri="{FF2B5EF4-FFF2-40B4-BE49-F238E27FC236}">
                <a16:creationId xmlns:a16="http://schemas.microsoft.com/office/drawing/2014/main" id="{420FFEFF-D761-46C8-A9F6-CE388F31D935}"/>
              </a:ext>
            </a:extLst>
          </p:cNvPr>
          <p:cNvSpPr>
            <a:spLocks xmlns:a="http://schemas.openxmlformats.org/drawingml/2006/main" noGrp="1"/>
          </p:cNvSpPr>
          <p:nvPr/>
        </p:nvSpPr>
        <p:spPr>
          <a:xfrm xmlns:a="http://schemas.openxmlformats.org/drawingml/2006/main">
            <a:off x="838200" y="26670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0" name="">
            <a:extLst xmlns:a="http://schemas.openxmlformats.org/drawingml/2006/main">
              <a:ext uri="{FF2B5EF4-FFF2-40B4-BE49-F238E27FC236}">
                <a16:creationId xmlns:a16="http://schemas.microsoft.com/office/drawing/2014/main" id="{5F10AA51-92C7-48B6-A12C-4CE3FA438D52}"/>
              </a:ext>
            </a:extLst>
          </p:cNvPr>
          <p:cNvSpPr>
            <a:spLocks xmlns:a="http://schemas.openxmlformats.org/drawingml/2006/main" noGrp="1"/>
          </p:cNvSpPr>
          <p:nvPr/>
        </p:nvSpPr>
        <p:spPr>
          <a:xfrm xmlns:a="http://schemas.openxmlformats.org/drawingml/2006/main">
            <a:off x="1104900" y="2667000"/>
            <a:ext cx="6591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External fit reads legal, economic, political, competitive, innovation and digital culture conditions. In this case: 60 / 100.</a:t>
            </a:r>
          </a:p>
        </p:txBody>
      </p:sp>
      <p:sp>
        <p:nvSpPr>
          <p:cNvPr id="11" name="">
            <a:extLst xmlns:a="http://schemas.openxmlformats.org/drawingml/2006/main">
              <a:ext uri="{FF2B5EF4-FFF2-40B4-BE49-F238E27FC236}">
                <a16:creationId xmlns:a16="http://schemas.microsoft.com/office/drawing/2014/main" id="{A90B9D05-189C-47CB-8444-3AEB4AEC7ADC}"/>
              </a:ext>
            </a:extLst>
          </p:cNvPr>
          <p:cNvSpPr>
            <a:spLocks xmlns:a="http://schemas.openxmlformats.org/drawingml/2006/main" noGrp="1"/>
          </p:cNvSpPr>
          <p:nvPr/>
        </p:nvSpPr>
        <p:spPr>
          <a:xfrm xmlns:a="http://schemas.openxmlformats.org/drawingml/2006/main">
            <a:off x="838200" y="32004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5C"/>
                </a:solidFill>
              </a:defRPr>
            </a:pPr>
            <a:r>
              <a:rPr sz="1650" b="1">
                <a:solidFill>
                  <a:srgbClr val="003B5C"/>
                </a:solidFill>
              </a:rPr>
              <a:t>•</a:t>
            </a:r>
          </a:p>
        </p:txBody>
      </p:sp>
      <p:sp>
        <p:nvSpPr>
          <p:cNvPr id="12" name="">
            <a:extLst xmlns:a="http://schemas.openxmlformats.org/drawingml/2006/main">
              <a:ext uri="{FF2B5EF4-FFF2-40B4-BE49-F238E27FC236}">
                <a16:creationId xmlns:a16="http://schemas.microsoft.com/office/drawing/2014/main" id="{DA238DCA-E5E0-4F95-B0E7-8E8C7B59BC63}"/>
              </a:ext>
            </a:extLst>
          </p:cNvPr>
          <p:cNvSpPr>
            <a:spLocks xmlns:a="http://schemas.openxmlformats.org/drawingml/2006/main" noGrp="1"/>
          </p:cNvSpPr>
          <p:nvPr/>
        </p:nvSpPr>
        <p:spPr>
          <a:xfrm xmlns:a="http://schemas.openxmlformats.org/drawingml/2006/main">
            <a:off x="1104900" y="3200400"/>
            <a:ext cx="6591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34155"/>
                </a:solidFill>
              </a:defRPr>
            </a:pPr>
            <a:r>
              <a:rPr sz="1650" b="0">
                <a:solidFill>
                  <a:srgbClr val="334155"/>
                </a:solidFill>
              </a:rPr>
              <a:t>AI acceleration is not magic. It only helps when there is enough data, systems and workflow maturity. In this case it adds a small multiplier: 1.09.</a:t>
            </a:r>
          </a:p>
        </p:txBody>
      </p:sp>
      <p:sp>
        <p:nvSpPr>
          <p:cNvPr id="13" name="">
            <a:extLst xmlns:a="http://schemas.openxmlformats.org/drawingml/2006/main">
              <a:ext uri="{FF2B5EF4-FFF2-40B4-BE49-F238E27FC236}">
                <a16:creationId xmlns:a16="http://schemas.microsoft.com/office/drawing/2014/main" id="{473C4C29-CC6C-44F7-8F3E-0812134A63C0}"/>
              </a:ext>
            </a:extLst>
          </p:cNvPr>
          <p:cNvSpPr>
            <a:spLocks xmlns:a="http://schemas.openxmlformats.org/drawingml/2006/main" noGrp="1"/>
          </p:cNvSpPr>
          <p:nvPr/>
        </p:nvSpPr>
        <p:spPr>
          <a:xfrm xmlns:a="http://schemas.openxmlformats.org/drawingml/2006/main">
            <a:off x="8096250" y="1809750"/>
            <a:ext cx="2857500" cy="2266950"/>
          </a:xfrm>
          <a:prstGeom xmlns:a="http://schemas.openxmlformats.org/drawingml/2006/main" prst="roundRect">
            <a:avLst>
              <a:gd name="adj" fmla="val 3361"/>
            </a:avLst>
          </a:prstGeom>
          <a:solidFill xmlns:a="http://schemas.openxmlformats.org/drawingml/2006/main">
            <a:srgbClr val="071D33"/>
          </a:solidFill>
          <a:ln xmlns:a="http://schemas.openxmlformats.org/drawingml/2006/main" w="9525">
            <a:solidFill>
              <a:srgbClr val="071D33"/>
            </a:solidFill>
            <a:prstDash val="solid"/>
          </a:ln>
        </p:spPr>
      </p:sp>
      <p:sp>
        <p:nvSpPr>
          <p:cNvPr id="14" name="">
            <a:extLst xmlns:a="http://schemas.openxmlformats.org/drawingml/2006/main">
              <a:ext uri="{FF2B5EF4-FFF2-40B4-BE49-F238E27FC236}">
                <a16:creationId xmlns:a16="http://schemas.microsoft.com/office/drawing/2014/main" id="{4DA1B494-0346-41E6-A140-CF5050F914C4}"/>
              </a:ext>
            </a:extLst>
          </p:cNvPr>
          <p:cNvSpPr>
            <a:spLocks xmlns:a="http://schemas.openxmlformats.org/drawingml/2006/main" noGrp="1"/>
          </p:cNvSpPr>
          <p:nvPr/>
        </p:nvSpPr>
        <p:spPr>
          <a:xfrm xmlns:a="http://schemas.openxmlformats.org/drawingml/2006/main">
            <a:off x="8382000" y="2190750"/>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I_net = CEnd x G x E x F_AI</a:t>
            </a:r>
          </a:p>
        </p:txBody>
      </p:sp>
      <p:sp>
        <p:nvSpPr>
          <p:cNvPr id="15" name="">
            <a:extLst xmlns:a="http://schemas.openxmlformats.org/drawingml/2006/main">
              <a:ext uri="{FF2B5EF4-FFF2-40B4-BE49-F238E27FC236}">
                <a16:creationId xmlns:a16="http://schemas.microsoft.com/office/drawing/2014/main" id="{6B6BAA12-AF53-4285-8237-F1B804E07BA8}"/>
              </a:ext>
            </a:extLst>
          </p:cNvPr>
          <p:cNvSpPr>
            <a:spLocks xmlns:a="http://schemas.openxmlformats.org/drawingml/2006/main" noGrp="1"/>
          </p:cNvSpPr>
          <p:nvPr/>
        </p:nvSpPr>
        <p:spPr>
          <a:xfrm xmlns:a="http://schemas.openxmlformats.org/drawingml/2006/main">
            <a:off x="8382000" y="2905125"/>
            <a:ext cx="2286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EAF6FB"/>
                </a:solidFill>
              </a:defRPr>
            </a:pPr>
            <a:r>
              <a:rPr sz="1650" b="0">
                <a:solidFill>
                  <a:srgbClr val="EAF6FB"/>
                </a:solidFill>
              </a:rPr>
              <a:t>I_net = 42.3 x 0.55 x 0.60 x 1.09</a:t>
            </a:r>
          </a:p>
          <a:p xmlns:a="http://schemas.openxmlformats.org/drawingml/2006/main">
            <a:r>
              <a:t/>
            </a:r>
          </a:p>
          <a:p xmlns:a="http://schemas.openxmlformats.org/drawingml/2006/main">
            <a:pPr algn="l">
              <a:defRPr sz="1650" b="0">
                <a:solidFill>
                  <a:srgbClr val="EAF6FB"/>
                </a:solidFill>
              </a:defRPr>
            </a:pPr>
            <a:r>
              <a:rPr sz="1650" b="0">
                <a:solidFill>
                  <a:srgbClr val="EAF6FB"/>
                </a:solidFill>
              </a:rPr>
              <a:t>I_net = 15.2 / 100</a:t>
            </a:r>
          </a:p>
        </p:txBody>
      </p:sp>
    </p:spTree>
    <p:extLst>
      <p:ext uri="{BB962C8B-B14F-4D97-AF65-F5344CB8AC3E}">
        <p14:creationId xmlns:p14="http://schemas.microsoft.com/office/powerpoint/2010/main" val="1588753251"/>
      </p:ext>
    </p:extLst>
  </p:cSld>
</p:sld>
</file>

<file path=ppt/slides/slide3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CC09C3-FCCE-44D6-BAC4-9DB8A07FD543}"/>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EE605BBE-3EF5-4D0A-BE7B-2CA4EEBC6C08}"/>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5F945D41-DBBF-4556-868D-85F728FE2D9E}"/>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659C1EE7-4D2A-4E4C-8FB0-A45202946A92}"/>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What the result says in business language</a:t>
            </a:r>
          </a:p>
        </p:txBody>
      </p:sp>
      <p:sp>
        <p:nvSpPr>
          <p:cNvPr id="5" name="">
            <a:extLst xmlns:a="http://schemas.openxmlformats.org/drawingml/2006/main">
              <a:ext uri="{FF2B5EF4-FFF2-40B4-BE49-F238E27FC236}">
                <a16:creationId xmlns:a16="http://schemas.microsoft.com/office/drawing/2014/main" id="{00446823-2773-4440-8D2F-6AC17F665426}"/>
              </a:ext>
            </a:extLst>
          </p:cNvPr>
          <p:cNvSpPr>
            <a:spLocks xmlns:a="http://schemas.openxmlformats.org/drawingml/2006/main" noGrp="1"/>
          </p:cNvSpPr>
          <p:nvPr/>
        </p:nvSpPr>
        <p:spPr>
          <a:xfrm xmlns:a="http://schemas.openxmlformats.org/drawingml/2006/main">
            <a:off x="857250" y="1571625"/>
            <a:ext cx="4476750" cy="2952750"/>
          </a:xfrm>
          <a:prstGeom xmlns:a="http://schemas.openxmlformats.org/drawingml/2006/main" prst="roundRect">
            <a:avLst>
              <a:gd name="adj" fmla="val 2581"/>
            </a:avLst>
          </a:prstGeom>
          <a:solidFill xmlns:a="http://schemas.openxmlformats.org/drawingml/2006/main">
            <a:srgbClr val="D8ECF8"/>
          </a:solidFill>
          <a:ln xmlns:a="http://schemas.openxmlformats.org/drawingml/2006/main" w="9525">
            <a:solidFill>
              <a:srgbClr val="003B5C"/>
            </a:solidFill>
            <a:prstDash val="solid"/>
          </a:ln>
        </p:spPr>
      </p:sp>
      <p:sp>
        <p:nvSpPr>
          <p:cNvPr id="6" name="">
            <a:extLst xmlns:a="http://schemas.openxmlformats.org/drawingml/2006/main">
              <a:ext uri="{FF2B5EF4-FFF2-40B4-BE49-F238E27FC236}">
                <a16:creationId xmlns:a16="http://schemas.microsoft.com/office/drawing/2014/main" id="{B9C3B450-C280-4A23-AB7E-6E5EF14C480C}"/>
              </a:ext>
            </a:extLst>
          </p:cNvPr>
          <p:cNvSpPr>
            <a:spLocks xmlns:a="http://schemas.openxmlformats.org/drawingml/2006/main" noGrp="1"/>
          </p:cNvSpPr>
          <p:nvPr/>
        </p:nvSpPr>
        <p:spPr>
          <a:xfrm xmlns:a="http://schemas.openxmlformats.org/drawingml/2006/main">
            <a:off x="1190625" y="19526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03B5C"/>
                </a:solidFill>
              </a:defRPr>
            </a:pPr>
            <a:r>
              <a:rPr sz="2550" b="1">
                <a:solidFill>
                  <a:srgbClr val="003B5C"/>
                </a:solidFill>
              </a:rPr>
              <a:t>Current result: 15.2 / 100</a:t>
            </a:r>
          </a:p>
        </p:txBody>
      </p:sp>
      <p:sp>
        <p:nvSpPr>
          <p:cNvPr id="7" name="">
            <a:extLst xmlns:a="http://schemas.openxmlformats.org/drawingml/2006/main">
              <a:ext uri="{FF2B5EF4-FFF2-40B4-BE49-F238E27FC236}">
                <a16:creationId xmlns:a16="http://schemas.microsoft.com/office/drawing/2014/main" id="{3C07DA7A-595E-4866-A5C1-309862C3AE6F}"/>
              </a:ext>
            </a:extLst>
          </p:cNvPr>
          <p:cNvSpPr>
            <a:spLocks xmlns:a="http://schemas.openxmlformats.org/drawingml/2006/main" noGrp="1"/>
          </p:cNvSpPr>
          <p:nvPr/>
        </p:nvSpPr>
        <p:spPr>
          <a:xfrm xmlns:a="http://schemas.openxmlformats.org/drawingml/2006/main">
            <a:off x="1190625" y="2667000"/>
            <a:ext cx="342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5070B"/>
                </a:solidFill>
              </a:defRPr>
            </a:pPr>
            <a:r>
              <a:rPr sz="1575" b="0">
                <a:solidFill>
                  <a:srgbClr val="05070B"/>
                </a:solidFill>
              </a:rPr>
              <a:t>This does not mean the ecommerce is bad. It means the digital communication system is still early as a managed relationship engine. The club has audience, content and infrastructure, but the loop is not yet strong enough to let AI manage the relationship end to end.</a:t>
            </a:r>
          </a:p>
        </p:txBody>
      </p:sp>
      <p:sp>
        <p:nvSpPr>
          <p:cNvPr id="8" name="">
            <a:extLst xmlns:a="http://schemas.openxmlformats.org/drawingml/2006/main">
              <a:ext uri="{FF2B5EF4-FFF2-40B4-BE49-F238E27FC236}">
                <a16:creationId xmlns:a16="http://schemas.microsoft.com/office/drawing/2014/main" id="{3EACEC68-47E6-44E0-8FA1-D932FBCC73D6}"/>
              </a:ext>
            </a:extLst>
          </p:cNvPr>
          <p:cNvSpPr>
            <a:spLocks xmlns:a="http://schemas.openxmlformats.org/drawingml/2006/main" noGrp="1"/>
          </p:cNvSpPr>
          <p:nvPr/>
        </p:nvSpPr>
        <p:spPr>
          <a:xfrm xmlns:a="http://schemas.openxmlformats.org/drawingml/2006/main">
            <a:off x="6096000" y="18097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t>
            </a:r>
          </a:p>
        </p:txBody>
      </p:sp>
      <p:sp>
        <p:nvSpPr>
          <p:cNvPr id="9" name="">
            <a:extLst xmlns:a="http://schemas.openxmlformats.org/drawingml/2006/main">
              <a:ext uri="{FF2B5EF4-FFF2-40B4-BE49-F238E27FC236}">
                <a16:creationId xmlns:a16="http://schemas.microsoft.com/office/drawing/2014/main" id="{8021E768-08F9-4E80-8B8E-367719599D44}"/>
              </a:ext>
            </a:extLst>
          </p:cNvPr>
          <p:cNvSpPr>
            <a:spLocks xmlns:a="http://schemas.openxmlformats.org/drawingml/2006/main" noGrp="1"/>
          </p:cNvSpPr>
          <p:nvPr/>
        </p:nvSpPr>
        <p:spPr>
          <a:xfrm xmlns:a="http://schemas.openxmlformats.org/drawingml/2006/main">
            <a:off x="6362700" y="18097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Main strength: infrastructure has the best current score.</a:t>
            </a:r>
          </a:p>
        </p:txBody>
      </p:sp>
      <p:sp>
        <p:nvSpPr>
          <p:cNvPr id="10" name="">
            <a:extLst xmlns:a="http://schemas.openxmlformats.org/drawingml/2006/main">
              <a:ext uri="{FF2B5EF4-FFF2-40B4-BE49-F238E27FC236}">
                <a16:creationId xmlns:a16="http://schemas.microsoft.com/office/drawing/2014/main" id="{CCA1704E-D24A-4A3D-8E7F-E6715E708EB9}"/>
              </a:ext>
            </a:extLst>
          </p:cNvPr>
          <p:cNvSpPr>
            <a:spLocks xmlns:a="http://schemas.openxmlformats.org/drawingml/2006/main" noGrp="1"/>
          </p:cNvSpPr>
          <p:nvPr/>
        </p:nvSpPr>
        <p:spPr>
          <a:xfrm xmlns:a="http://schemas.openxmlformats.org/drawingml/2006/main">
            <a:off x="6096000" y="23622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t>
            </a:r>
          </a:p>
        </p:txBody>
      </p:sp>
      <p:sp>
        <p:nvSpPr>
          <p:cNvPr id="11" name="">
            <a:extLst xmlns:a="http://schemas.openxmlformats.org/drawingml/2006/main">
              <a:ext uri="{FF2B5EF4-FFF2-40B4-BE49-F238E27FC236}">
                <a16:creationId xmlns:a16="http://schemas.microsoft.com/office/drawing/2014/main" id="{96DDBE2B-071E-4806-998A-A4873259099C}"/>
              </a:ext>
            </a:extLst>
          </p:cNvPr>
          <p:cNvSpPr>
            <a:spLocks xmlns:a="http://schemas.openxmlformats.org/drawingml/2006/main" noGrp="1"/>
          </p:cNvSpPr>
          <p:nvPr/>
        </p:nvSpPr>
        <p:spPr>
          <a:xfrm xmlns:a="http://schemas.openxmlformats.org/drawingml/2006/main">
            <a:off x="6362700" y="23622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Main weakness: users are not identified and activated enough.</a:t>
            </a:r>
          </a:p>
        </p:txBody>
      </p:sp>
      <p:sp>
        <p:nvSpPr>
          <p:cNvPr id="12" name="">
            <a:extLst xmlns:a="http://schemas.openxmlformats.org/drawingml/2006/main">
              <a:ext uri="{FF2B5EF4-FFF2-40B4-BE49-F238E27FC236}">
                <a16:creationId xmlns:a16="http://schemas.microsoft.com/office/drawing/2014/main" id="{6CA7528F-FA72-433B-86DB-3A9A4EB5DBFB}"/>
              </a:ext>
            </a:extLst>
          </p:cNvPr>
          <p:cNvSpPr>
            <a:spLocks xmlns:a="http://schemas.openxmlformats.org/drawingml/2006/main" noGrp="1"/>
          </p:cNvSpPr>
          <p:nvPr/>
        </p:nvSpPr>
        <p:spPr>
          <a:xfrm xmlns:a="http://schemas.openxmlformats.org/drawingml/2006/main">
            <a:off x="6096000" y="29146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t>
            </a:r>
          </a:p>
        </p:txBody>
      </p:sp>
      <p:sp>
        <p:nvSpPr>
          <p:cNvPr id="13" name="">
            <a:extLst xmlns:a="http://schemas.openxmlformats.org/drawingml/2006/main">
              <a:ext uri="{FF2B5EF4-FFF2-40B4-BE49-F238E27FC236}">
                <a16:creationId xmlns:a16="http://schemas.microsoft.com/office/drawing/2014/main" id="{C6860024-61F5-46E8-AF6D-C10C51E54A5E}"/>
              </a:ext>
            </a:extLst>
          </p:cNvPr>
          <p:cNvSpPr>
            <a:spLocks xmlns:a="http://schemas.openxmlformats.org/drawingml/2006/main" noGrp="1"/>
          </p:cNvSpPr>
          <p:nvPr/>
        </p:nvSpPr>
        <p:spPr>
          <a:xfrm xmlns:a="http://schemas.openxmlformats.org/drawingml/2006/main">
            <a:off x="6362700" y="29146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Priority: connect CRM, analytics, ecommerce and workflow AI around the buyer persona.</a:t>
            </a:r>
          </a:p>
        </p:txBody>
      </p:sp>
      <p:sp>
        <p:nvSpPr>
          <p:cNvPr id="14" name="">
            <a:extLst xmlns:a="http://schemas.openxmlformats.org/drawingml/2006/main">
              <a:ext uri="{FF2B5EF4-FFF2-40B4-BE49-F238E27FC236}">
                <a16:creationId xmlns:a16="http://schemas.microsoft.com/office/drawing/2014/main" id="{9E203817-1194-4F96-B8CE-5D68A4307D5B}"/>
              </a:ext>
            </a:extLst>
          </p:cNvPr>
          <p:cNvSpPr>
            <a:spLocks xmlns:a="http://schemas.openxmlformats.org/drawingml/2006/main" noGrp="1"/>
          </p:cNvSpPr>
          <p:nvPr/>
        </p:nvSpPr>
        <p:spPr>
          <a:xfrm xmlns:a="http://schemas.openxmlformats.org/drawingml/2006/main">
            <a:off x="6096000" y="34671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3B5C"/>
                </a:solidFill>
              </a:defRPr>
            </a:pPr>
            <a:r>
              <a:rPr sz="1575" b="1">
                <a:solidFill>
                  <a:srgbClr val="003B5C"/>
                </a:solidFill>
              </a:rPr>
              <a:t>•</a:t>
            </a:r>
          </a:p>
        </p:txBody>
      </p:sp>
      <p:sp>
        <p:nvSpPr>
          <p:cNvPr id="15" name="">
            <a:extLst xmlns:a="http://schemas.openxmlformats.org/drawingml/2006/main">
              <a:ext uri="{FF2B5EF4-FFF2-40B4-BE49-F238E27FC236}">
                <a16:creationId xmlns:a16="http://schemas.microsoft.com/office/drawing/2014/main" id="{8659920B-3D57-4DD0-8BF2-F860192735DE}"/>
              </a:ext>
            </a:extLst>
          </p:cNvPr>
          <p:cNvSpPr>
            <a:spLocks xmlns:a="http://schemas.openxmlformats.org/drawingml/2006/main" noGrp="1"/>
          </p:cNvSpPr>
          <p:nvPr/>
        </p:nvSpPr>
        <p:spPr>
          <a:xfrm xmlns:a="http://schemas.openxmlformats.org/drawingml/2006/main">
            <a:off x="6362700" y="34671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Business meaning: better data and better feedback should convert communication into recurrence, loyalty and revenue.</a:t>
            </a:r>
          </a:p>
        </p:txBody>
      </p:sp>
    </p:spTree>
    <p:extLst>
      <p:ext uri="{BB962C8B-B14F-4D97-AF65-F5344CB8AC3E}">
        <p14:creationId xmlns:p14="http://schemas.microsoft.com/office/powerpoint/2010/main" val="113181437"/>
      </p:ext>
    </p:extLst>
  </p:cSld>
</p:sld>
</file>

<file path=ppt/slides/slide3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160BFC0-F469-4365-9579-4907E91D42CD}"/>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AC50F70A-C44A-4E33-8915-59B65E68BA5F}"/>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94942989-F7F9-4E54-8889-3262B6D1B3E2}"/>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9303CEF3-AF8D-4543-98CF-5F881BF2A613}"/>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What Internet Dynamics delivers</a:t>
            </a:r>
          </a:p>
        </p:txBody>
      </p:sp>
      <p:sp>
        <p:nvSpPr>
          <p:cNvPr id="5" name="">
            <a:extLst xmlns:a="http://schemas.openxmlformats.org/drawingml/2006/main">
              <a:ext uri="{FF2B5EF4-FFF2-40B4-BE49-F238E27FC236}">
                <a16:creationId xmlns:a16="http://schemas.microsoft.com/office/drawing/2014/main" id="{444B4EB5-13A7-488B-8CF1-57B7157E18C1}"/>
              </a:ext>
            </a:extLst>
          </p:cNvPr>
          <p:cNvSpPr>
            <a:spLocks xmlns:a="http://schemas.openxmlformats.org/drawingml/2006/main" noGrp="1"/>
          </p:cNvSpPr>
          <p:nvPr/>
        </p:nvSpPr>
        <p:spPr>
          <a:xfrm xmlns:a="http://schemas.openxmlformats.org/drawingml/2006/main">
            <a:off x="838200" y="12001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34155"/>
                </a:solidFill>
              </a:defRPr>
            </a:pPr>
            <a:r>
              <a:rPr sz="1725" b="0">
                <a:solidFill>
                  <a:srgbClr val="334155"/>
                </a:solidFill>
              </a:rPr>
              <a:t>Internet Dynamics is not only a score. It is a way to understand and manage digital communication as a living system.</a:t>
            </a:r>
          </a:p>
        </p:txBody>
      </p:sp>
      <p:sp>
        <p:nvSpPr>
          <p:cNvPr id="6" name="">
            <a:extLst xmlns:a="http://schemas.openxmlformats.org/drawingml/2006/main">
              <a:ext uri="{FF2B5EF4-FFF2-40B4-BE49-F238E27FC236}">
                <a16:creationId xmlns:a16="http://schemas.microsoft.com/office/drawing/2014/main" id="{04D306AB-D969-48DF-8B43-EA36E1329154}"/>
              </a:ext>
            </a:extLst>
          </p:cNvPr>
          <p:cNvSpPr>
            <a:spLocks xmlns:a="http://schemas.openxmlformats.org/drawingml/2006/main" noGrp="1"/>
          </p:cNvSpPr>
          <p:nvPr/>
        </p:nvSpPr>
        <p:spPr>
          <a:xfrm xmlns:a="http://schemas.openxmlformats.org/drawingml/2006/main">
            <a:off x="819150" y="2000250"/>
            <a:ext cx="10287000" cy="476250"/>
          </a:xfrm>
          <a:prstGeom xmlns:a="http://schemas.openxmlformats.org/drawingml/2006/main" prst="roundRect">
            <a:avLst>
              <a:gd name="adj" fmla="val 16000"/>
            </a:avLst>
          </a:prstGeom>
          <a:solidFill xmlns:a="http://schemas.openxmlformats.org/drawingml/2006/main">
            <a:srgbClr val="003B5C"/>
          </a:solidFill>
          <a:ln xmlns:a="http://schemas.openxmlformats.org/drawingml/2006/main" w="9525">
            <a:solidFill>
              <a:srgbClr val="003B5C"/>
            </a:solidFill>
            <a:prstDash val="solid"/>
          </a:ln>
        </p:spPr>
      </p:sp>
      <p:sp>
        <p:nvSpPr>
          <p:cNvPr id="7" name="">
            <a:extLst xmlns:a="http://schemas.openxmlformats.org/drawingml/2006/main">
              <a:ext uri="{FF2B5EF4-FFF2-40B4-BE49-F238E27FC236}">
                <a16:creationId xmlns:a16="http://schemas.microsoft.com/office/drawing/2014/main" id="{A61ECCAB-7B2E-4764-A549-A62C3250C660}"/>
              </a:ext>
            </a:extLst>
          </p:cNvPr>
          <p:cNvSpPr>
            <a:spLocks xmlns:a="http://schemas.openxmlformats.org/drawingml/2006/main" noGrp="1"/>
          </p:cNvSpPr>
          <p:nvPr/>
        </p:nvSpPr>
        <p:spPr>
          <a:xfrm xmlns:a="http://schemas.openxmlformats.org/drawingml/2006/main">
            <a:off x="952500" y="21145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Output</a:t>
            </a:r>
          </a:p>
        </p:txBody>
      </p:sp>
      <p:sp>
        <p:nvSpPr>
          <p:cNvPr id="8" name="">
            <a:extLst xmlns:a="http://schemas.openxmlformats.org/drawingml/2006/main">
              <a:ext uri="{FF2B5EF4-FFF2-40B4-BE49-F238E27FC236}">
                <a16:creationId xmlns:a16="http://schemas.microsoft.com/office/drawing/2014/main" id="{58C73FC3-0D77-47F8-A685-C672CECE104A}"/>
              </a:ext>
            </a:extLst>
          </p:cNvPr>
          <p:cNvSpPr>
            <a:spLocks xmlns:a="http://schemas.openxmlformats.org/drawingml/2006/main" noGrp="1"/>
          </p:cNvSpPr>
          <p:nvPr/>
        </p:nvSpPr>
        <p:spPr>
          <a:xfrm xmlns:a="http://schemas.openxmlformats.org/drawingml/2006/main">
            <a:off x="3905250" y="21145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What it gives you</a:t>
            </a:r>
          </a:p>
        </p:txBody>
      </p:sp>
      <p:sp>
        <p:nvSpPr>
          <p:cNvPr id="9" name="">
            <a:extLst xmlns:a="http://schemas.openxmlformats.org/drawingml/2006/main">
              <a:ext uri="{FF2B5EF4-FFF2-40B4-BE49-F238E27FC236}">
                <a16:creationId xmlns:a16="http://schemas.microsoft.com/office/drawing/2014/main" id="{B6BF3981-FA95-4093-9C93-F177249A3EE9}"/>
              </a:ext>
            </a:extLst>
          </p:cNvPr>
          <p:cNvSpPr>
            <a:spLocks xmlns:a="http://schemas.openxmlformats.org/drawingml/2006/main" noGrp="1"/>
          </p:cNvSpPr>
          <p:nvPr/>
        </p:nvSpPr>
        <p:spPr>
          <a:xfrm xmlns:a="http://schemas.openxmlformats.org/drawingml/2006/main">
            <a:off x="819150" y="255270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0" name="">
            <a:extLst xmlns:a="http://schemas.openxmlformats.org/drawingml/2006/main">
              <a:ext uri="{FF2B5EF4-FFF2-40B4-BE49-F238E27FC236}">
                <a16:creationId xmlns:a16="http://schemas.microsoft.com/office/drawing/2014/main" id="{E7E1D071-5351-439C-8D8B-B05BE4DE3F39}"/>
              </a:ext>
            </a:extLst>
          </p:cNvPr>
          <p:cNvSpPr>
            <a:spLocks xmlns:a="http://schemas.openxmlformats.org/drawingml/2006/main" noGrp="1"/>
          </p:cNvSpPr>
          <p:nvPr/>
        </p:nvSpPr>
        <p:spPr>
          <a:xfrm xmlns:a="http://schemas.openxmlformats.org/drawingml/2006/main">
            <a:off x="952500" y="266700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Communication capacity diagnosis</a:t>
            </a:r>
          </a:p>
        </p:txBody>
      </p:sp>
      <p:sp>
        <p:nvSpPr>
          <p:cNvPr id="11" name="">
            <a:extLst xmlns:a="http://schemas.openxmlformats.org/drawingml/2006/main">
              <a:ext uri="{FF2B5EF4-FFF2-40B4-BE49-F238E27FC236}">
                <a16:creationId xmlns:a16="http://schemas.microsoft.com/office/drawing/2014/main" id="{A074BAC3-7F22-4B4F-BFBC-C69DEE3A512F}"/>
              </a:ext>
            </a:extLst>
          </p:cNvPr>
          <p:cNvSpPr>
            <a:spLocks xmlns:a="http://schemas.openxmlformats.org/drawingml/2006/main" noGrp="1"/>
          </p:cNvSpPr>
          <p:nvPr/>
        </p:nvSpPr>
        <p:spPr>
          <a:xfrm xmlns:a="http://schemas.openxmlformats.org/drawingml/2006/main">
            <a:off x="3905250" y="266700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clear view of how well your ecosystem can reach, understand and activate its buyer persona.</a:t>
            </a:r>
          </a:p>
        </p:txBody>
      </p:sp>
      <p:sp>
        <p:nvSpPr>
          <p:cNvPr id="12" name="">
            <a:extLst xmlns:a="http://schemas.openxmlformats.org/drawingml/2006/main">
              <a:ext uri="{FF2B5EF4-FFF2-40B4-BE49-F238E27FC236}">
                <a16:creationId xmlns:a16="http://schemas.microsoft.com/office/drawing/2014/main" id="{554B544F-7634-4472-8C3E-5C22EC23EAFB}"/>
              </a:ext>
            </a:extLst>
          </p:cNvPr>
          <p:cNvSpPr>
            <a:spLocks xmlns:a="http://schemas.openxmlformats.org/drawingml/2006/main" noGrp="1"/>
          </p:cNvSpPr>
          <p:nvPr/>
        </p:nvSpPr>
        <p:spPr>
          <a:xfrm xmlns:a="http://schemas.openxmlformats.org/drawingml/2006/main">
            <a:off x="819150" y="310515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3" name="">
            <a:extLst xmlns:a="http://schemas.openxmlformats.org/drawingml/2006/main">
              <a:ext uri="{FF2B5EF4-FFF2-40B4-BE49-F238E27FC236}">
                <a16:creationId xmlns:a16="http://schemas.microsoft.com/office/drawing/2014/main" id="{CED7E82D-1A7C-4C3F-96B3-E1DF1B982A1D}"/>
              </a:ext>
            </a:extLst>
          </p:cNvPr>
          <p:cNvSpPr>
            <a:spLocks xmlns:a="http://schemas.openxmlformats.org/drawingml/2006/main" noGrp="1"/>
          </p:cNvSpPr>
          <p:nvPr/>
        </p:nvSpPr>
        <p:spPr>
          <a:xfrm xmlns:a="http://schemas.openxmlformats.org/drawingml/2006/main">
            <a:off x="952500" y="32194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Strengths and weaknesses map</a:t>
            </a:r>
          </a:p>
        </p:txBody>
      </p:sp>
      <p:sp>
        <p:nvSpPr>
          <p:cNvPr id="14" name="">
            <a:extLst xmlns:a="http://schemas.openxmlformats.org/drawingml/2006/main">
              <a:ext uri="{FF2B5EF4-FFF2-40B4-BE49-F238E27FC236}">
                <a16:creationId xmlns:a16="http://schemas.microsoft.com/office/drawing/2014/main" id="{58A36E4C-05D7-45AB-81D3-4F0F22CB2C29}"/>
              </a:ext>
            </a:extLst>
          </p:cNvPr>
          <p:cNvSpPr>
            <a:spLocks xmlns:a="http://schemas.openxmlformats.org/drawingml/2006/main" noGrp="1"/>
          </p:cNvSpPr>
          <p:nvPr/>
        </p:nvSpPr>
        <p:spPr>
          <a:xfrm xmlns:a="http://schemas.openxmlformats.org/drawingml/2006/main">
            <a:off x="3905250" y="32194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practical way to see where the loop works and where Users, Content or Infrastructure are slowing learning.</a:t>
            </a:r>
          </a:p>
        </p:txBody>
      </p:sp>
      <p:sp>
        <p:nvSpPr>
          <p:cNvPr id="15" name="">
            <a:extLst xmlns:a="http://schemas.openxmlformats.org/drawingml/2006/main">
              <a:ext uri="{FF2B5EF4-FFF2-40B4-BE49-F238E27FC236}">
                <a16:creationId xmlns:a16="http://schemas.microsoft.com/office/drawing/2014/main" id="{7AF4F7D9-2006-42A9-80A3-4993E78DFDF3}"/>
              </a:ext>
            </a:extLst>
          </p:cNvPr>
          <p:cNvSpPr>
            <a:spLocks xmlns:a="http://schemas.openxmlformats.org/drawingml/2006/main" noGrp="1"/>
          </p:cNvSpPr>
          <p:nvPr/>
        </p:nvSpPr>
        <p:spPr>
          <a:xfrm xmlns:a="http://schemas.openxmlformats.org/drawingml/2006/main">
            <a:off x="819150" y="365760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6" name="">
            <a:extLst xmlns:a="http://schemas.openxmlformats.org/drawingml/2006/main">
              <a:ext uri="{FF2B5EF4-FFF2-40B4-BE49-F238E27FC236}">
                <a16:creationId xmlns:a16="http://schemas.microsoft.com/office/drawing/2014/main" id="{E7D70B4D-181E-4971-AFCC-35F9143CA5E9}"/>
              </a:ext>
            </a:extLst>
          </p:cNvPr>
          <p:cNvSpPr>
            <a:spLocks xmlns:a="http://schemas.openxmlformats.org/drawingml/2006/main" noGrp="1"/>
          </p:cNvSpPr>
          <p:nvPr/>
        </p:nvSpPr>
        <p:spPr>
          <a:xfrm xmlns:a="http://schemas.openxmlformats.org/drawingml/2006/main">
            <a:off x="952500" y="377190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Digital ecosystem design</a:t>
            </a:r>
          </a:p>
        </p:txBody>
      </p:sp>
      <p:sp>
        <p:nvSpPr>
          <p:cNvPr id="17" name="">
            <a:extLst xmlns:a="http://schemas.openxmlformats.org/drawingml/2006/main">
              <a:ext uri="{FF2B5EF4-FFF2-40B4-BE49-F238E27FC236}">
                <a16:creationId xmlns:a16="http://schemas.microsoft.com/office/drawing/2014/main" id="{C7FB13D0-4A15-4B6B-92C8-E17B09E8DE8E}"/>
              </a:ext>
            </a:extLst>
          </p:cNvPr>
          <p:cNvSpPr>
            <a:spLocks xmlns:a="http://schemas.openxmlformats.org/drawingml/2006/main" noGrp="1"/>
          </p:cNvSpPr>
          <p:nvPr/>
        </p:nvSpPr>
        <p:spPr>
          <a:xfrm xmlns:a="http://schemas.openxmlformats.org/drawingml/2006/main">
            <a:off x="3905250" y="377190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guide to decide which nodes, systems, signals and workflows should be added or improved next.</a:t>
            </a:r>
          </a:p>
        </p:txBody>
      </p:sp>
      <p:sp>
        <p:nvSpPr>
          <p:cNvPr id="18" name="">
            <a:extLst xmlns:a="http://schemas.openxmlformats.org/drawingml/2006/main">
              <a:ext uri="{FF2B5EF4-FFF2-40B4-BE49-F238E27FC236}">
                <a16:creationId xmlns:a16="http://schemas.microsoft.com/office/drawing/2014/main" id="{50E651DA-5DDE-40E3-856C-2B6CE48A0B4B}"/>
              </a:ext>
            </a:extLst>
          </p:cNvPr>
          <p:cNvSpPr>
            <a:spLocks xmlns:a="http://schemas.openxmlformats.org/drawingml/2006/main" noGrp="1"/>
          </p:cNvSpPr>
          <p:nvPr/>
        </p:nvSpPr>
        <p:spPr>
          <a:xfrm xmlns:a="http://schemas.openxmlformats.org/drawingml/2006/main">
            <a:off x="819150" y="421005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19" name="">
            <a:extLst xmlns:a="http://schemas.openxmlformats.org/drawingml/2006/main">
              <a:ext uri="{FF2B5EF4-FFF2-40B4-BE49-F238E27FC236}">
                <a16:creationId xmlns:a16="http://schemas.microsoft.com/office/drawing/2014/main" id="{64518F28-9A2A-4F3D-B96F-B7F721B5AA32}"/>
              </a:ext>
            </a:extLst>
          </p:cNvPr>
          <p:cNvSpPr>
            <a:spLocks xmlns:a="http://schemas.openxmlformats.org/drawingml/2006/main" noGrp="1"/>
          </p:cNvSpPr>
          <p:nvPr/>
        </p:nvSpPr>
        <p:spPr>
          <a:xfrm xmlns:a="http://schemas.openxmlformats.org/drawingml/2006/main">
            <a:off x="952500" y="43243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AI readiness distance</a:t>
            </a:r>
          </a:p>
        </p:txBody>
      </p:sp>
      <p:sp>
        <p:nvSpPr>
          <p:cNvPr id="20" name="">
            <a:extLst xmlns:a="http://schemas.openxmlformats.org/drawingml/2006/main">
              <a:ext uri="{FF2B5EF4-FFF2-40B4-BE49-F238E27FC236}">
                <a16:creationId xmlns:a16="http://schemas.microsoft.com/office/drawing/2014/main" id="{B7DDB7AD-3BAE-41AE-98DD-48B7A8183C71}"/>
              </a:ext>
            </a:extLst>
          </p:cNvPr>
          <p:cNvSpPr>
            <a:spLocks xmlns:a="http://schemas.openxmlformats.org/drawingml/2006/main" noGrp="1"/>
          </p:cNvSpPr>
          <p:nvPr/>
        </p:nvSpPr>
        <p:spPr>
          <a:xfrm xmlns:a="http://schemas.openxmlformats.org/drawingml/2006/main">
            <a:off x="3905250" y="43243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view of how far the organization is from letting AI personalize and manage relationship flows responsibly.</a:t>
            </a:r>
          </a:p>
        </p:txBody>
      </p:sp>
      <p:sp>
        <p:nvSpPr>
          <p:cNvPr id="21" name="">
            <a:extLst xmlns:a="http://schemas.openxmlformats.org/drawingml/2006/main">
              <a:ext uri="{FF2B5EF4-FFF2-40B4-BE49-F238E27FC236}">
                <a16:creationId xmlns:a16="http://schemas.microsoft.com/office/drawing/2014/main" id="{6102C7ED-8085-4D40-8254-3D0967950A0F}"/>
              </a:ext>
            </a:extLst>
          </p:cNvPr>
          <p:cNvSpPr>
            <a:spLocks xmlns:a="http://schemas.openxmlformats.org/drawingml/2006/main" noGrp="1"/>
          </p:cNvSpPr>
          <p:nvPr/>
        </p:nvSpPr>
        <p:spPr>
          <a:xfrm xmlns:a="http://schemas.openxmlformats.org/drawingml/2006/main">
            <a:off x="819150" y="476250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22" name="">
            <a:extLst xmlns:a="http://schemas.openxmlformats.org/drawingml/2006/main">
              <a:ext uri="{FF2B5EF4-FFF2-40B4-BE49-F238E27FC236}">
                <a16:creationId xmlns:a16="http://schemas.microsoft.com/office/drawing/2014/main" id="{29F032BA-E744-4CDD-9439-6FB3A55ECC71}"/>
              </a:ext>
            </a:extLst>
          </p:cNvPr>
          <p:cNvSpPr>
            <a:spLocks xmlns:a="http://schemas.openxmlformats.org/drawingml/2006/main" noGrp="1"/>
          </p:cNvSpPr>
          <p:nvPr/>
        </p:nvSpPr>
        <p:spPr>
          <a:xfrm xmlns:a="http://schemas.openxmlformats.org/drawingml/2006/main">
            <a:off x="952500" y="487680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Competitive action roadmap</a:t>
            </a:r>
          </a:p>
        </p:txBody>
      </p:sp>
      <p:sp>
        <p:nvSpPr>
          <p:cNvPr id="23" name="">
            <a:extLst xmlns:a="http://schemas.openxmlformats.org/drawingml/2006/main">
              <a:ext uri="{FF2B5EF4-FFF2-40B4-BE49-F238E27FC236}">
                <a16:creationId xmlns:a16="http://schemas.microsoft.com/office/drawing/2014/main" id="{0D0A25CF-1B31-4C95-9542-5A3642012BF9}"/>
              </a:ext>
            </a:extLst>
          </p:cNvPr>
          <p:cNvSpPr>
            <a:spLocks xmlns:a="http://schemas.openxmlformats.org/drawingml/2006/main" noGrp="1"/>
          </p:cNvSpPr>
          <p:nvPr/>
        </p:nvSpPr>
        <p:spPr>
          <a:xfrm xmlns:a="http://schemas.openxmlformats.org/drawingml/2006/main">
            <a:off x="3905250" y="487680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business roadmap that connects communication, data, systems, content, budget and relationship value.</a:t>
            </a:r>
          </a:p>
        </p:txBody>
      </p:sp>
      <p:sp>
        <p:nvSpPr>
          <p:cNvPr id="24" name="">
            <a:extLst xmlns:a="http://schemas.openxmlformats.org/drawingml/2006/main">
              <a:ext uri="{FF2B5EF4-FFF2-40B4-BE49-F238E27FC236}">
                <a16:creationId xmlns:a16="http://schemas.microsoft.com/office/drawing/2014/main" id="{B644A13A-24BA-4D78-9547-0571043C03F6}"/>
              </a:ext>
            </a:extLst>
          </p:cNvPr>
          <p:cNvSpPr>
            <a:spLocks xmlns:a="http://schemas.openxmlformats.org/drawingml/2006/main" noGrp="1"/>
          </p:cNvSpPr>
          <p:nvPr/>
        </p:nvSpPr>
        <p:spPr>
          <a:xfrm xmlns:a="http://schemas.openxmlformats.org/drawingml/2006/main">
            <a:off x="819150" y="5314950"/>
            <a:ext cx="10287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DE8"/>
            </a:solidFill>
            <a:prstDash val="solid"/>
          </a:ln>
        </p:spPr>
      </p:sp>
      <p:sp>
        <p:nvSpPr>
          <p:cNvPr id="25" name="">
            <a:extLst xmlns:a="http://schemas.openxmlformats.org/drawingml/2006/main">
              <a:ext uri="{FF2B5EF4-FFF2-40B4-BE49-F238E27FC236}">
                <a16:creationId xmlns:a16="http://schemas.microsoft.com/office/drawing/2014/main" id="{001E573D-157F-4E4C-A120-D8C5ADD4A485}"/>
              </a:ext>
            </a:extLst>
          </p:cNvPr>
          <p:cNvSpPr>
            <a:spLocks xmlns:a="http://schemas.openxmlformats.org/drawingml/2006/main" noGrp="1"/>
          </p:cNvSpPr>
          <p:nvPr/>
        </p:nvSpPr>
        <p:spPr>
          <a:xfrm xmlns:a="http://schemas.openxmlformats.org/drawingml/2006/main">
            <a:off x="952500" y="5429250"/>
            <a:ext cx="28803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5070B"/>
                </a:solidFill>
              </a:defRPr>
            </a:pPr>
            <a:r>
              <a:rPr sz="1200" b="1">
                <a:solidFill>
                  <a:srgbClr val="05070B"/>
                </a:solidFill>
              </a:rPr>
              <a:t>Shared management language</a:t>
            </a:r>
          </a:p>
        </p:txBody>
      </p:sp>
      <p:sp>
        <p:nvSpPr>
          <p:cNvPr id="26" name="">
            <a:extLst xmlns:a="http://schemas.openxmlformats.org/drawingml/2006/main">
              <a:ext uri="{FF2B5EF4-FFF2-40B4-BE49-F238E27FC236}">
                <a16:creationId xmlns:a16="http://schemas.microsoft.com/office/drawing/2014/main" id="{55F6A553-97A9-4BF5-892F-E6524FF50C7C}"/>
              </a:ext>
            </a:extLst>
          </p:cNvPr>
          <p:cNvSpPr>
            <a:spLocks xmlns:a="http://schemas.openxmlformats.org/drawingml/2006/main" noGrp="1"/>
          </p:cNvSpPr>
          <p:nvPr/>
        </p:nvSpPr>
        <p:spPr>
          <a:xfrm xmlns:a="http://schemas.openxmlformats.org/drawingml/2006/main">
            <a:off x="3905250" y="5429250"/>
            <a:ext cx="678942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334155"/>
                </a:solidFill>
              </a:defRPr>
            </a:pPr>
            <a:r>
              <a:rPr sz="1200" b="0">
                <a:solidFill>
                  <a:srgbClr val="334155"/>
                </a:solidFill>
              </a:rPr>
              <a:t>A common language for marketing, systems, data, AI and leadership to work on the same communication system.</a:t>
            </a:r>
          </a:p>
        </p:txBody>
      </p:sp>
    </p:spTree>
    <p:extLst>
      <p:ext uri="{BB962C8B-B14F-4D97-AF65-F5344CB8AC3E}">
        <p14:creationId xmlns:p14="http://schemas.microsoft.com/office/powerpoint/2010/main" val="1134198838"/>
      </p:ext>
    </p:extLst>
  </p:cSld>
</p:sld>
</file>

<file path=ppt/slides/slide3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12D61E-8A58-4FD5-B165-D764FD23BBEE}"/>
              </a:ext>
            </a:extLst>
          </p:cNvPr>
          <p:cNvSpPr>
            <a:spLocks xmlns:a="http://schemas.openxmlformats.org/drawingml/2006/main" noGrp="1"/>
          </p:cNvSpPr>
          <p:nvPr/>
        </p:nvSpPr>
        <p:spPr>
          <a:xfrm xmlns:a="http://schemas.openxmlformats.org/drawingml/2006/main">
            <a:off x="0" y="0"/>
            <a:ext cx="12192000" cy="514350"/>
          </a:xfrm>
          <a:prstGeom xmlns:a="http://schemas.openxmlformats.org/drawingml/2006/main" prst="roundRect">
            <a:avLst>
              <a:gd name="adj" fmla="val 14815"/>
            </a:avLst>
          </a:prstGeom>
          <a:solidFill xmlns:a="http://schemas.openxmlformats.org/drawingml/2006/main">
            <a:srgbClr val="05070B"/>
          </a:solidFill>
          <a:ln xmlns:a="http://schemas.openxmlformats.org/drawingml/2006/main" w="9525">
            <a:solidFill>
              <a:srgbClr val="05070B"/>
            </a:solidFill>
            <a:prstDash val="solid"/>
          </a:ln>
        </p:spPr>
      </p:sp>
      <p:sp>
        <p:nvSpPr>
          <p:cNvPr id="2" name="">
            <a:extLst xmlns:a="http://schemas.openxmlformats.org/drawingml/2006/main">
              <a:ext uri="{FF2B5EF4-FFF2-40B4-BE49-F238E27FC236}">
                <a16:creationId xmlns:a16="http://schemas.microsoft.com/office/drawing/2014/main" id="{86580B86-F1D0-4391-B644-3113F66454DC}"/>
              </a:ext>
            </a:extLst>
          </p:cNvPr>
          <p:cNvSpPr>
            <a:spLocks xmlns:a="http://schemas.openxmlformats.org/drawingml/2006/main" noGrp="1"/>
          </p:cNvSpPr>
          <p:nvPr/>
        </p:nvSpPr>
        <p:spPr>
          <a:xfrm xmlns:a="http://schemas.openxmlformats.org/drawingml/2006/main">
            <a:off x="323850" y="142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DocROI</a:t>
            </a:r>
          </a:p>
        </p:txBody>
      </p:sp>
      <p:sp>
        <p:nvSpPr>
          <p:cNvPr id="3" name="">
            <a:extLst xmlns:a="http://schemas.openxmlformats.org/drawingml/2006/main">
              <a:ext uri="{FF2B5EF4-FFF2-40B4-BE49-F238E27FC236}">
                <a16:creationId xmlns:a16="http://schemas.microsoft.com/office/drawing/2014/main" id="{897CD646-7AFE-4CD6-90E5-6D2A9524E5F1}"/>
              </a:ext>
            </a:extLst>
          </p:cNvPr>
          <p:cNvSpPr>
            <a:spLocks xmlns:a="http://schemas.openxmlformats.org/drawingml/2006/main" noGrp="1"/>
          </p:cNvSpPr>
          <p:nvPr/>
        </p:nvSpPr>
        <p:spPr>
          <a:xfrm xmlns:a="http://schemas.openxmlformats.org/drawingml/2006/main">
            <a:off x="6858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3B5C"/>
                </a:solidFill>
              </a:defRPr>
            </a:pPr>
            <a:r>
              <a:rPr sz="1125" b="1">
                <a:solidFill>
                  <a:srgbClr val="003B5C"/>
                </a:solidFill>
              </a:rPr>
              <a:t>DOC ROI - Internet Dynamics laboratory manual</a:t>
            </a:r>
          </a:p>
        </p:txBody>
      </p:sp>
      <p:sp>
        <p:nvSpPr>
          <p:cNvPr id="4" name="">
            <a:extLst xmlns:a="http://schemas.openxmlformats.org/drawingml/2006/main">
              <a:ext uri="{FF2B5EF4-FFF2-40B4-BE49-F238E27FC236}">
                <a16:creationId xmlns:a16="http://schemas.microsoft.com/office/drawing/2014/main" id="{30D18514-757D-4BC3-804E-CF570043799A}"/>
              </a:ext>
            </a:extLst>
          </p:cNvPr>
          <p:cNvSpPr>
            <a:spLocks xmlns:a="http://schemas.openxmlformats.org/drawingml/2006/main" noGrp="1"/>
          </p:cNvSpPr>
          <p:nvPr/>
        </p:nvSpPr>
        <p:spPr>
          <a:xfrm xmlns:a="http://schemas.openxmlformats.org/drawingml/2006/main">
            <a:off x="685800" y="110490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5070B"/>
                </a:solidFill>
              </a:defRPr>
            </a:pPr>
            <a:r>
              <a:rPr sz="3150" b="1">
                <a:solidFill>
                  <a:srgbClr val="05070B"/>
                </a:solidFill>
              </a:rPr>
              <a:t>Final idea: we are managing communication</a:t>
            </a:r>
          </a:p>
        </p:txBody>
      </p:sp>
      <p:sp>
        <p:nvSpPr>
          <p:cNvPr id="5" name="">
            <a:extLst xmlns:a="http://schemas.openxmlformats.org/drawingml/2006/main">
              <a:ext uri="{FF2B5EF4-FFF2-40B4-BE49-F238E27FC236}">
                <a16:creationId xmlns:a16="http://schemas.microsoft.com/office/drawing/2014/main" id="{0F0D0A27-4045-4847-A34C-A73C2C16D86B}"/>
              </a:ext>
            </a:extLst>
          </p:cNvPr>
          <p:cNvSpPr>
            <a:spLocks xmlns:a="http://schemas.openxmlformats.org/drawingml/2006/main" noGrp="1"/>
          </p:cNvSpPr>
          <p:nvPr/>
        </p:nvSpPr>
        <p:spPr>
          <a:xfrm xmlns:a="http://schemas.openxmlformats.org/drawingml/2006/main">
            <a:off x="876300" y="1428750"/>
            <a:ext cx="962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5070B"/>
                </a:solidFill>
              </a:defRPr>
            </a:pPr>
            <a:r>
              <a:rPr sz="2100" b="1">
                <a:solidFill>
                  <a:srgbClr val="05070B"/>
                </a:solidFill>
              </a:rPr>
              <a:t>The Internet is not only a channel and it is not only an information system. In this model, the Internet is a dynamic communication system made of users, content, infrastructure, data, feedback, management layers and AI acceleration.</a:t>
            </a:r>
          </a:p>
        </p:txBody>
      </p:sp>
      <p:sp>
        <p:nvSpPr>
          <p:cNvPr id="6" name="">
            <a:extLst xmlns:a="http://schemas.openxmlformats.org/drawingml/2006/main">
              <a:ext uri="{FF2B5EF4-FFF2-40B4-BE49-F238E27FC236}">
                <a16:creationId xmlns:a16="http://schemas.microsoft.com/office/drawing/2014/main" id="{379DF1E5-222F-43DA-B868-27E5A2B3BE2D}"/>
              </a:ext>
            </a:extLst>
          </p:cNvPr>
          <p:cNvSpPr>
            <a:spLocks xmlns:a="http://schemas.openxmlformats.org/drawingml/2006/main" noGrp="1"/>
          </p:cNvSpPr>
          <p:nvPr/>
        </p:nvSpPr>
        <p:spPr>
          <a:xfrm xmlns:a="http://schemas.openxmlformats.org/drawingml/2006/main">
            <a:off x="876300" y="2857500"/>
            <a:ext cx="9620250" cy="1428750"/>
          </a:xfrm>
          <a:prstGeom xmlns:a="http://schemas.openxmlformats.org/drawingml/2006/main" prst="roundRect">
            <a:avLst>
              <a:gd name="adj" fmla="val 5333"/>
            </a:avLst>
          </a:prstGeom>
          <a:solidFill xmlns:a="http://schemas.openxmlformats.org/drawingml/2006/main">
            <a:srgbClr val="071D33"/>
          </a:solidFill>
          <a:ln xmlns:a="http://schemas.openxmlformats.org/drawingml/2006/main" w="9525">
            <a:solidFill>
              <a:srgbClr val="071D33"/>
            </a:solidFill>
            <a:prstDash val="solid"/>
          </a:ln>
        </p:spPr>
      </p:sp>
      <p:sp>
        <p:nvSpPr>
          <p:cNvPr id="7" name="">
            <a:extLst xmlns:a="http://schemas.openxmlformats.org/drawingml/2006/main">
              <a:ext uri="{FF2B5EF4-FFF2-40B4-BE49-F238E27FC236}">
                <a16:creationId xmlns:a16="http://schemas.microsoft.com/office/drawing/2014/main" id="{EFEB65CE-BEF2-4FE0-89F2-5E379EE57D63}"/>
              </a:ext>
            </a:extLst>
          </p:cNvPr>
          <p:cNvSpPr>
            <a:spLocks xmlns:a="http://schemas.openxmlformats.org/drawingml/2006/main" noGrp="1"/>
          </p:cNvSpPr>
          <p:nvPr/>
        </p:nvSpPr>
        <p:spPr>
          <a:xfrm xmlns:a="http://schemas.openxmlformats.org/drawingml/2006/main">
            <a:off x="1257300" y="3200400"/>
            <a:ext cx="8858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defRPr>
            </a:pPr>
            <a:r>
              <a:rPr sz="2100" b="1">
                <a:solidFill>
                  <a:srgbClr val="FFFFFF"/>
                </a:solidFill>
              </a:rPr>
              <a:t>The goal is not to dominate complexity. The goal is to manage it with better signals, better relationships, better decisions and more human, useful and personalized communication.</a:t>
            </a:r>
          </a:p>
        </p:txBody>
      </p:sp>
      <p:sp>
        <p:nvSpPr>
          <p:cNvPr id="8" name="">
            <a:extLst xmlns:a="http://schemas.openxmlformats.org/drawingml/2006/main">
              <a:ext uri="{FF2B5EF4-FFF2-40B4-BE49-F238E27FC236}">
                <a16:creationId xmlns:a16="http://schemas.microsoft.com/office/drawing/2014/main" id="{6E331B6D-C933-4222-8E65-5E862C08C4D4}"/>
              </a:ext>
            </a:extLst>
          </p:cNvPr>
          <p:cNvSpPr>
            <a:spLocks xmlns:a="http://schemas.openxmlformats.org/drawingml/2006/main" noGrp="1"/>
          </p:cNvSpPr>
          <p:nvPr/>
        </p:nvSpPr>
        <p:spPr>
          <a:xfrm xmlns:a="http://schemas.openxmlformats.org/drawingml/2006/main">
            <a:off x="876300" y="48577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34155"/>
                </a:solidFill>
              </a:defRPr>
            </a:pPr>
            <a:r>
              <a:rPr sz="1875" b="0">
                <a:solidFill>
                  <a:srgbClr val="334155"/>
                </a:solidFill>
              </a:rPr>
              <a:t>Internet Dynamics helps an organization see the loop, understand the gap and decide what to improve next.</a:t>
            </a:r>
          </a:p>
        </p:txBody>
      </p:sp>
    </p:spTree>
    <p:extLst>
      <p:ext uri="{BB962C8B-B14F-4D97-AF65-F5344CB8AC3E}">
        <p14:creationId xmlns:p14="http://schemas.microsoft.com/office/powerpoint/2010/main" val="1174510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2026-07-29T17:57:43.1670000Z</dcterms:created>
  <dcterms:modified xsi:type="dcterms:W3CDTF">2026-07-29T17:57:43.1670000Z</dcterms:modified>
</coreProperties>
</file>