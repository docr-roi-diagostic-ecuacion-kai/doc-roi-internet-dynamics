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9e1cf03cc54bf7" /><Relationship Type="http://schemas.openxmlformats.org/officeDocument/2006/relationships/extended-properties" Target="/docProps/app.xml" Id="R61fe1cb79f484832" /><Relationship Type="http://schemas.openxmlformats.org/officeDocument/2006/relationships/officeDocument" Target="/ppt/presentation.xml" Id="R2004ec79cfcc49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27f4b47f2d4616"/>
  </p:sldMasterIdLst>
  <p:notesMasterIdLst>
    <p:notesMasterId xmlns:r="http://schemas.openxmlformats.org/officeDocument/2006/relationships" r:id="R13ad6ec082284d0f"/>
  </p:notesMasterIdLst>
  <p:sldIdLst>
    <p:sldId xmlns:r="http://schemas.openxmlformats.org/officeDocument/2006/relationships" id="256" r:id="Rb74ad89a4faa4a5b"/>
    <p:sldId xmlns:r="http://schemas.openxmlformats.org/officeDocument/2006/relationships" id="257" r:id="Re5a59419cccc47a0"/>
    <p:sldId xmlns:r="http://schemas.openxmlformats.org/officeDocument/2006/relationships" id="258" r:id="R3ada3e29e385422b"/>
    <p:sldId xmlns:r="http://schemas.openxmlformats.org/officeDocument/2006/relationships" id="259" r:id="Re6fc30ae01cd4907"/>
    <p:sldId xmlns:r="http://schemas.openxmlformats.org/officeDocument/2006/relationships" id="260" r:id="R8331cc78aa9d46e4"/>
    <p:sldId xmlns:r="http://schemas.openxmlformats.org/officeDocument/2006/relationships" id="261" r:id="R3a538a9675674779"/>
    <p:sldId xmlns:r="http://schemas.openxmlformats.org/officeDocument/2006/relationships" id="262" r:id="R4c87c65e73c24a22"/>
    <p:sldId xmlns:r="http://schemas.openxmlformats.org/officeDocument/2006/relationships" id="263" r:id="R9bb412b781f949ed"/>
    <p:sldId xmlns:r="http://schemas.openxmlformats.org/officeDocument/2006/relationships" id="264" r:id="Rbec7d19ed7474a7f"/>
    <p:sldId xmlns:r="http://schemas.openxmlformats.org/officeDocument/2006/relationships" id="265" r:id="Rfbd2b4ae4b2f4d9d"/>
    <p:sldId xmlns:r="http://schemas.openxmlformats.org/officeDocument/2006/relationships" id="266" r:id="R38626e2889cf48d7"/>
    <p:sldId xmlns:r="http://schemas.openxmlformats.org/officeDocument/2006/relationships" id="267" r:id="Rf2a2cc0453974a60"/>
    <p:sldId xmlns:r="http://schemas.openxmlformats.org/officeDocument/2006/relationships" id="268" r:id="R009619ecfa42462b"/>
    <p:sldId xmlns:r="http://schemas.openxmlformats.org/officeDocument/2006/relationships" id="269" r:id="Racf5215a237f4f8e"/>
    <p:sldId xmlns:r="http://schemas.openxmlformats.org/officeDocument/2006/relationships" id="270" r:id="R133b64a5a8ef40f2"/>
    <p:sldId xmlns:r="http://schemas.openxmlformats.org/officeDocument/2006/relationships" id="271" r:id="R4f1183195f5b439e"/>
    <p:sldId xmlns:r="http://schemas.openxmlformats.org/officeDocument/2006/relationships" id="272" r:id="Rb725b8ddddb6452c"/>
    <p:sldId xmlns:r="http://schemas.openxmlformats.org/officeDocument/2006/relationships" id="273" r:id="R4892a00778274682"/>
    <p:sldId xmlns:r="http://schemas.openxmlformats.org/officeDocument/2006/relationships" id="274" r:id="Ra8ecd88e1537489e"/>
    <p:sldId xmlns:r="http://schemas.openxmlformats.org/officeDocument/2006/relationships" id="275" r:id="R44b90ad38875430b"/>
    <p:sldId xmlns:r="http://schemas.openxmlformats.org/officeDocument/2006/relationships" id="276" r:id="R8501ea3d49d94964"/>
    <p:sldId xmlns:r="http://schemas.openxmlformats.org/officeDocument/2006/relationships" id="277" r:id="R8cc7051892834ecc"/>
    <p:sldId xmlns:r="http://schemas.openxmlformats.org/officeDocument/2006/relationships" id="278" r:id="Rb617736336d94e6d"/>
    <p:sldId xmlns:r="http://schemas.openxmlformats.org/officeDocument/2006/relationships" id="279" r:id="Rbf88051cde6e46dc"/>
    <p:sldId xmlns:r="http://schemas.openxmlformats.org/officeDocument/2006/relationships" id="280" r:id="Rcd4ebc6db4b341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f3b10abd5a4e7e" /><Relationship Type="http://schemas.openxmlformats.org/officeDocument/2006/relationships/slideMaster" Target="/ppt/slideMasters/slideMaster1.xml" Id="R2b27f4b47f2d4616" /><Relationship Type="http://schemas.openxmlformats.org/officeDocument/2006/relationships/notesMaster" Target="/ppt/notesMasters/notesMaster1.xml" Id="R13ad6ec082284d0f" /><Relationship Type="http://schemas.openxmlformats.org/officeDocument/2006/relationships/presProps" Target="/ppt/presProps.xml" Id="R622a08ed4003490c" /><Relationship Type="http://schemas.openxmlformats.org/officeDocument/2006/relationships/tableStyles" Target="/ppt/tableStyles.xml" Id="R969be736de1741ed" /><Relationship Type="http://schemas.openxmlformats.org/officeDocument/2006/relationships/slide" Target="/ppt/slides/slide1.xml" Id="Rb74ad89a4faa4a5b" /><Relationship Type="http://schemas.openxmlformats.org/officeDocument/2006/relationships/slide" Target="/ppt/slides/slide2.xml" Id="Re5a59419cccc47a0" /><Relationship Type="http://schemas.openxmlformats.org/officeDocument/2006/relationships/slide" Target="/ppt/slides/slide3.xml" Id="R3ada3e29e385422b" /><Relationship Type="http://schemas.openxmlformats.org/officeDocument/2006/relationships/slide" Target="/ppt/slides/slide4.xml" Id="Re6fc30ae01cd4907" /><Relationship Type="http://schemas.openxmlformats.org/officeDocument/2006/relationships/slide" Target="/ppt/slides/slide5.xml" Id="R8331cc78aa9d46e4" /><Relationship Type="http://schemas.openxmlformats.org/officeDocument/2006/relationships/slide" Target="/ppt/slides/slide6.xml" Id="R3a538a9675674779" /><Relationship Type="http://schemas.openxmlformats.org/officeDocument/2006/relationships/slide" Target="/ppt/slides/slide7.xml" Id="R4c87c65e73c24a22" /><Relationship Type="http://schemas.openxmlformats.org/officeDocument/2006/relationships/slide" Target="/ppt/slides/slide8.xml" Id="R9bb412b781f949ed" /><Relationship Type="http://schemas.openxmlformats.org/officeDocument/2006/relationships/slide" Target="/ppt/slides/slide9.xml" Id="Rbec7d19ed7474a7f" /><Relationship Type="http://schemas.openxmlformats.org/officeDocument/2006/relationships/slide" Target="/ppt/slides/slide10.xml" Id="Rfbd2b4ae4b2f4d9d" /><Relationship Type="http://schemas.openxmlformats.org/officeDocument/2006/relationships/slide" Target="/ppt/slides/slide11.xml" Id="R38626e2889cf48d7" /><Relationship Type="http://schemas.openxmlformats.org/officeDocument/2006/relationships/slide" Target="/ppt/slides/slide12.xml" Id="Rf2a2cc0453974a60" /><Relationship Type="http://schemas.openxmlformats.org/officeDocument/2006/relationships/slide" Target="/ppt/slides/slide13.xml" Id="R009619ecfa42462b" /><Relationship Type="http://schemas.openxmlformats.org/officeDocument/2006/relationships/slide" Target="/ppt/slides/slide14.xml" Id="Racf5215a237f4f8e" /><Relationship Type="http://schemas.openxmlformats.org/officeDocument/2006/relationships/slide" Target="/ppt/slides/slide15.xml" Id="R133b64a5a8ef40f2" /><Relationship Type="http://schemas.openxmlformats.org/officeDocument/2006/relationships/slide" Target="/ppt/slides/slide16.xml" Id="R4f1183195f5b439e" /><Relationship Type="http://schemas.openxmlformats.org/officeDocument/2006/relationships/slide" Target="/ppt/slides/slide17.xml" Id="Rb725b8ddddb6452c" /><Relationship Type="http://schemas.openxmlformats.org/officeDocument/2006/relationships/slide" Target="/ppt/slides/slide18.xml" Id="R4892a00778274682" /><Relationship Type="http://schemas.openxmlformats.org/officeDocument/2006/relationships/slide" Target="/ppt/slides/slide19.xml" Id="Ra8ecd88e1537489e" /><Relationship Type="http://schemas.openxmlformats.org/officeDocument/2006/relationships/slide" Target="/ppt/slides/slide20.xml" Id="R44b90ad38875430b" /><Relationship Type="http://schemas.openxmlformats.org/officeDocument/2006/relationships/slide" Target="/ppt/slides/slide21.xml" Id="R8501ea3d49d94964" /><Relationship Type="http://schemas.openxmlformats.org/officeDocument/2006/relationships/slide" Target="/ppt/slides/slide22.xml" Id="R8cc7051892834ecc" /><Relationship Type="http://schemas.openxmlformats.org/officeDocument/2006/relationships/slide" Target="/ppt/slides/slide23.xml" Id="Rb617736336d94e6d" /><Relationship Type="http://schemas.openxmlformats.org/officeDocument/2006/relationships/slide" Target="/ppt/slides/slide24.xml" Id="Rbf88051cde6e46dc" /><Relationship Type="http://schemas.openxmlformats.org/officeDocument/2006/relationships/slide" Target="/ppt/slides/slide25.xml" Id="Rcd4ebc6db4b3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e3f9562951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9e889ed534c69" /><Relationship Type="http://schemas.openxmlformats.org/officeDocument/2006/relationships/notesMaster" Target="/ppt/notesMasters/notesMaster1.xml" Id="Rc184d0a2da6746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b03336f4aa4326" /><Relationship Type="http://schemas.openxmlformats.org/officeDocument/2006/relationships/notesMaster" Target="/ppt/notesMasters/notesMaster1.xml" Id="R2a6bf834423f43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7891083e747fb" /><Relationship Type="http://schemas.openxmlformats.org/officeDocument/2006/relationships/notesMaster" Target="/ppt/notesMasters/notesMaster1.xml" Id="R354081a6591943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abca5f94d04798" /><Relationship Type="http://schemas.openxmlformats.org/officeDocument/2006/relationships/notesMaster" Target="/ppt/notesMasters/notesMaster1.xml" Id="Rc41d9e585e7740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dc4d1ac324e55" /><Relationship Type="http://schemas.openxmlformats.org/officeDocument/2006/relationships/notesMaster" Target="/ppt/notesMasters/notesMaster1.xml" Id="R5b98f816580c43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1dd50ce0c249c3" /><Relationship Type="http://schemas.openxmlformats.org/officeDocument/2006/relationships/notesMaster" Target="/ppt/notesMasters/notesMaster1.xml" Id="Rc48150a4f3e74b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7dc6394357427d" /><Relationship Type="http://schemas.openxmlformats.org/officeDocument/2006/relationships/notesMaster" Target="/ppt/notesMasters/notesMaster1.xml" Id="Rd259e6c039e84e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74a0113c0a4de9" /><Relationship Type="http://schemas.openxmlformats.org/officeDocument/2006/relationships/notesMaster" Target="/ppt/notesMasters/notesMaster1.xml" Id="R02c7cf94367f43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86febc53c64570" /><Relationship Type="http://schemas.openxmlformats.org/officeDocument/2006/relationships/notesMaster" Target="/ppt/notesMasters/notesMaster1.xml" Id="R49f90020e2c24c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66098e5ac548c6" /><Relationship Type="http://schemas.openxmlformats.org/officeDocument/2006/relationships/notesMaster" Target="/ppt/notesMasters/notesMaster1.xml" Id="R6a99b61073864e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ea6fd5d9014bc6" /><Relationship Type="http://schemas.openxmlformats.org/officeDocument/2006/relationships/notesMaster" Target="/ppt/notesMasters/notesMaster1.xml" Id="R75e91f828f4040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35216c6bc44759" /><Relationship Type="http://schemas.openxmlformats.org/officeDocument/2006/relationships/notesMaster" Target="/ppt/notesMasters/notesMaster1.xml" Id="Rd6ce8ea6c8c64a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20a490a9154a4c" /><Relationship Type="http://schemas.openxmlformats.org/officeDocument/2006/relationships/notesMaster" Target="/ppt/notesMasters/notesMaster1.xml" Id="Rfef0832103b440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d82cce761c47c9" /><Relationship Type="http://schemas.openxmlformats.org/officeDocument/2006/relationships/notesMaster" Target="/ppt/notesMasters/notesMaster1.xml" Id="Rc01d38d7922142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1accdfc0ac4ffa" /><Relationship Type="http://schemas.openxmlformats.org/officeDocument/2006/relationships/notesMaster" Target="/ppt/notesMasters/notesMaster1.xml" Id="Rb76457df1dca4e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cf2618b3104d08" /><Relationship Type="http://schemas.openxmlformats.org/officeDocument/2006/relationships/notesMaster" Target="/ppt/notesMasters/notesMaster1.xml" Id="Rfa7f11d7f8144f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d762f04cd445d9" /><Relationship Type="http://schemas.openxmlformats.org/officeDocument/2006/relationships/notesMaster" Target="/ppt/notesMasters/notesMaster1.xml" Id="R7b492e58f28c4c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c24d3ddf674f7a" /><Relationship Type="http://schemas.openxmlformats.org/officeDocument/2006/relationships/notesMaster" Target="/ppt/notesMasters/notesMaster1.xml" Id="R73e4d8d777454d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865db89ba54b1b" /><Relationship Type="http://schemas.openxmlformats.org/officeDocument/2006/relationships/notesMaster" Target="/ppt/notesMasters/notesMaster1.xml" Id="Re1e92c2e7ad141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0d59de5f4d4c10" /><Relationship Type="http://schemas.openxmlformats.org/officeDocument/2006/relationships/notesMaster" Target="/ppt/notesMasters/notesMaster1.xml" Id="R34056df2ce6a4b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de7cda32eb469c" /><Relationship Type="http://schemas.openxmlformats.org/officeDocument/2006/relationships/notesMaster" Target="/ppt/notesMasters/notesMaster1.xml" Id="R09fe2abbcd824f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b2af90b41d4cc3" /><Relationship Type="http://schemas.openxmlformats.org/officeDocument/2006/relationships/notesMaster" Target="/ppt/notesMasters/notesMaster1.xml" Id="R30e8cf7d755040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ad2256feb34525" /><Relationship Type="http://schemas.openxmlformats.org/officeDocument/2006/relationships/notesMaster" Target="/ppt/notesMasters/notesMaster1.xml" Id="Rc129ee92e8a54e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8cc45bff5045d4" /><Relationship Type="http://schemas.openxmlformats.org/officeDocument/2006/relationships/notesMaster" Target="/ppt/notesMasters/notesMaster1.xml" Id="Rbbffed45ea86465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ba99c0ac2944c6" /><Relationship Type="http://schemas.openxmlformats.org/officeDocument/2006/relationships/notesMaster" Target="/ppt/notesMasters/notesMaster1.xml" Id="R6204a564515e42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00038dbcb45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ca04a1f6d74dd9" /><Relationship Type="http://schemas.openxmlformats.org/officeDocument/2006/relationships/slideLayout" Target="/ppt/slideLayouts/slideLayout1.xml" Id="R2a73255c037d4d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3255c037d4d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12d35fb1141ce" /><Relationship Type="http://schemas.openxmlformats.org/officeDocument/2006/relationships/notesSlide" Target="/ppt/notesSlides/notesSlide1.xml" Id="Rbe252fbe19e247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79db394d74823" /><Relationship Type="http://schemas.openxmlformats.org/officeDocument/2006/relationships/notesSlide" Target="/ppt/notesSlides/notesSlide2.xml" Id="Rd294f9a5ca7546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9a728ea214dbe" /><Relationship Type="http://schemas.openxmlformats.org/officeDocument/2006/relationships/notesSlide" Target="/ppt/notesSlides/notesSlide3.xml" Id="Rff4595b4b1c544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e9e400d93493f" /><Relationship Type="http://schemas.openxmlformats.org/officeDocument/2006/relationships/notesSlide" Target="/ppt/notesSlides/notesSlide4.xml" Id="Rd7c577a3970e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a5fa10ec5424c" /><Relationship Type="http://schemas.openxmlformats.org/officeDocument/2006/relationships/notesSlide" Target="/ppt/notesSlides/notesSlide5.xml" Id="R84c7c2597fe1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34b620b7943f8" /><Relationship Type="http://schemas.openxmlformats.org/officeDocument/2006/relationships/notesSlide" Target="/ppt/notesSlides/notesSlide6.xml" Id="Rc18e3f44413044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726bd68a0455a" /><Relationship Type="http://schemas.openxmlformats.org/officeDocument/2006/relationships/notesSlide" Target="/ppt/notesSlides/notesSlide7.xml" Id="Re65cd77d7e964b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85c4f80224f10" /><Relationship Type="http://schemas.openxmlformats.org/officeDocument/2006/relationships/notesSlide" Target="/ppt/notesSlides/notesSlide8.xml" Id="Rd4f1d6472aab4e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0b52b646c412b" /><Relationship Type="http://schemas.openxmlformats.org/officeDocument/2006/relationships/notesSlide" Target="/ppt/notesSlides/notesSlide9.xml" Id="R3b01dd0404b242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cd9843cc480f" /><Relationship Type="http://schemas.openxmlformats.org/officeDocument/2006/relationships/notesSlide" Target="/ppt/notesSlides/notesSlide10.xml" Id="R8fade5d72f2244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aa710255546e4" /><Relationship Type="http://schemas.openxmlformats.org/officeDocument/2006/relationships/notesSlide" Target="/ppt/notesSlides/notesSlide11.xml" Id="Rb86e406d670c4a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90cec61a04c6a" /><Relationship Type="http://schemas.openxmlformats.org/officeDocument/2006/relationships/notesSlide" Target="/ppt/notesSlides/notesSlide12.xml" Id="R1157a8a93d8041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23b30a8da4c22" /><Relationship Type="http://schemas.openxmlformats.org/officeDocument/2006/relationships/notesSlide" Target="/ppt/notesSlides/notesSlide13.xml" Id="R6640e9d1323f46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e81e28ff44918" /><Relationship Type="http://schemas.openxmlformats.org/officeDocument/2006/relationships/notesSlide" Target="/ppt/notesSlides/notesSlide14.xml" Id="R8b4b40d49c934d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3e8ec51d490d" /><Relationship Type="http://schemas.openxmlformats.org/officeDocument/2006/relationships/notesSlide" Target="/ppt/notesSlides/notesSlide15.xml" Id="R405e553f07ec4c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8e977e9504a75" /><Relationship Type="http://schemas.openxmlformats.org/officeDocument/2006/relationships/notesSlide" Target="/ppt/notesSlides/notesSlide16.xml" Id="R7e511d5511b548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44a15273a48ba" /><Relationship Type="http://schemas.openxmlformats.org/officeDocument/2006/relationships/notesSlide" Target="/ppt/notesSlides/notesSlide17.xml" Id="R456b4055df884e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6a8c144284997" /><Relationship Type="http://schemas.openxmlformats.org/officeDocument/2006/relationships/notesSlide" Target="/ppt/notesSlides/notesSlide18.xml" Id="Ref5897d197a84d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5bd12967442a3" /><Relationship Type="http://schemas.openxmlformats.org/officeDocument/2006/relationships/notesSlide" Target="/ppt/notesSlides/notesSlide19.xml" Id="Rc0c6d4ed1fc940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1a94a8d4643c5" /><Relationship Type="http://schemas.openxmlformats.org/officeDocument/2006/relationships/notesSlide" Target="/ppt/notesSlides/notesSlide20.xml" Id="R585a3bf7e33042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bf99fe6ce4cc6" /><Relationship Type="http://schemas.openxmlformats.org/officeDocument/2006/relationships/notesSlide" Target="/ppt/notesSlides/notesSlide21.xml" Id="Ra0e5523ad3e341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fea94909d4309" /><Relationship Type="http://schemas.openxmlformats.org/officeDocument/2006/relationships/notesSlide" Target="/ppt/notesSlides/notesSlide22.xml" Id="Rf2e23f494cb944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51041efc342ae" /><Relationship Type="http://schemas.openxmlformats.org/officeDocument/2006/relationships/notesSlide" Target="/ppt/notesSlides/notesSlide23.xml" Id="R13b81d781f9e44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eebb869ec4694" /><Relationship Type="http://schemas.openxmlformats.org/officeDocument/2006/relationships/notesSlide" Target="/ppt/notesSlides/notesSlide24.xml" Id="Rff8a277b8fe74e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f0e93eb31412a" /><Relationship Type="http://schemas.openxmlformats.org/officeDocument/2006/relationships/notesSlide" Target="/ppt/notesSlides/notesSlide25.xml" Id="R8d47953be2f249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0AB8C-09F5-4438-B663-7DAC21D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07E03-EABA-46D2-92AA-1A99858B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0609E-3122-43E7-9486-C217835F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1B72B-3705-457F-B372-8DEFD9A5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How to fill the Internet Dynamics laboratory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433BD-47F9-4928-A159-BA479A2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A practical manual for using the model with a real ecommerce example: football club merchandising.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AA41C-513F-4E3A-8813-4C0AA31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1D66D-C173-4DC2-9D60-402BF792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B5C"/>
                </a:solidFill>
              </a:defRPr>
            </a:pPr>
            <a:r>
              <a:rPr sz="2100" b="1">
                <a:solidFill>
                  <a:srgbClr val="003B5C"/>
                </a:solidFill>
              </a:rPr>
              <a:t>The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FCA9C-2912-4C6A-BF98-17BFA7BE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1D047-86B7-4F72-85EA-CF063BCC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Enter only values that can be explained.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A8DDB-F50D-4833-AD40-E1E0DDEF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03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43639-9BDD-4F07-9959-04794FFE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Use current observed values, not wishes.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482D5-266B-470C-BF7A-25CD0E4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FC968-A1F6-4878-89A8-16E4BD5F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Set the arrival maximum as a realistic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D9906-6FEC-4AB1-BA95-62A009B1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57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FD912-8258-4BAB-8D94-AAA9A0FF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Let the equation translate data into direction.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4D54D-0651-48CE-9F67-2459EDA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70B"/>
                </a:solidFill>
              </a:defRPr>
            </a:pPr>
            <a:r>
              <a:rPr sz="1500" b="1">
                <a:solidFill>
                  <a:srgbClr val="05070B"/>
                </a:solidFill>
              </a:rPr>
              <a:t>Deliverables: a manual deck and a JSON example ready to open in the tool.</a:t>
            </a:r>
          </a:p>
        </p:txBody>
      </p:sp>
    </p:spTree>
    <p:extLst>
      <p:ext uri="{BB962C8B-B14F-4D97-AF65-F5344CB8AC3E}">
        <p14:creationId xmlns:p14="http://schemas.microsoft.com/office/powerpoint/2010/main" val="2133025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5B64A-4413-4F3A-9985-43EB365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8CEC0-831F-4439-9D25-BE1BAEA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BF67D-8BE9-4CF5-94CB-F7EF3D2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FBB34-51F6-40AA-9911-5DEDED54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The model asks for signals, not perfect truth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EFA21-0A79-49B6-9A53-481CD4BB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0B320-9EF3-4725-A74B-78087EB3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Users represent the audience, demand and relationship side of the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8DD37-4C19-4F28-B6B5-EA82E53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36979-2A18-4CAE-A455-B7C6F3E4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Content represents the offer, message, promise, campaign and brand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92CD0-0690-4185-9698-1AACCA88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8E70E-1B15-46AF-945B-15F80A00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Infrastructure represents channels, systems, data capture, workflow AI and technical capacity.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7411A-9E41-4E1A-BFC3-737B099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D5C48-C938-4303-B1BD-891DFB02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External variables explain why the same system can accelerate or slow down in the real world.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5F798-03D7-4966-A134-D104BFEC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BE071-D50F-4440-BF6B-674277CE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Simple operating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B344B-04C0-4E0D-9E7E-739B628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If a value helps explain how communication reaches, persuades, serves or learns from the buyer persona, it belongs in the model.</a:t>
            </a:r>
          </a:p>
        </p:txBody>
      </p:sp>
    </p:spTree>
    <p:extLst>
      <p:ext uri="{BB962C8B-B14F-4D97-AF65-F5344CB8AC3E}">
        <p14:creationId xmlns:p14="http://schemas.microsoft.com/office/powerpoint/2010/main" val="1991401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3117B0-3D28-43D5-999F-9215DCDF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3DE1B-AAE5-4B0B-AB8C-28D7734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3951C-90C8-4A0A-8C76-238102CC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EE005-7174-42C7-9EED-1C9FE43D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Use this filling sequence every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1D07C-A2F4-47CB-9114-FFFF1C90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5EDAC-E67C-46C4-A7A0-A6152DC8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04CD8-AF57-45FF-BE44-63503D0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40508-5591-4159-9229-AF3ABC75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Choose the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516E3-13AC-4177-BC3D-FC183082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Name the project as a real business situation, not as a generic exercise.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C47ED-F837-4283-8675-E0356C2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34FC1-B1BA-467B-AB9B-792F936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547F3-6AE2-4086-BCA2-92F62E0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57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3C4CE-FB6E-46A7-A490-34A5F7B4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Add the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A9E0F-F8AD-47E8-87B8-807512F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Select users, content and infrastructure nodes that truly exist in the case.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81A6D-5554-441F-8B12-932BC35E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FEBBC-5E32-403B-B131-006AE5C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B08DA-3B8A-44A6-AC2C-1F65C7A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8B28A-AED6-4BC1-94E0-2EE26FE9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Enter quantities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55325-5BF8-416D-B5EB-A09F179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Add observed values and a reasonable arrival maximum for each node.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E4379-4238-4CFB-9C56-C88070C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9D91F-2084-43D3-8156-3A925F00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E5A05-8CDE-4B28-BD3E-0CAEA8D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D3097-DE38-4595-9175-7864202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Set weight and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3FA82-CDF3-455F-B29C-F986DFBC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4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Adjust importance and the current AI enablement level.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D1A63-5B0F-4D45-BE11-BD66ACB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306B9-2229-4FFC-82FC-E3FF8003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F569A-9A63-4B3A-89FD-5926B46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B23497-8DA9-4669-855E-DFDF61FC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00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Score the environment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16613-7C6B-4755-BC9B-83143F1A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24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company and exogenous sliders to explain acceleration or friction.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2BFAC-7C98-4204-84C1-25C4BE4C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5D45DE-D3EF-4EEF-BDDF-BDA0A42A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1AC369-53BE-4397-9BDB-837D4553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8D29E8-1334-4979-A145-75FD9271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Read the equation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2D8291-DB30-48F7-9F95-9E35D60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the final score as a business interpretation, not as a vanity metric.</a:t>
            </a:r>
          </a:p>
        </p:txBody>
      </p:sp>
    </p:spTree>
    <p:extLst>
      <p:ext uri="{BB962C8B-B14F-4D97-AF65-F5344CB8AC3E}">
        <p14:creationId xmlns:p14="http://schemas.microsoft.com/office/powerpoint/2010/main" val="534280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C003F-F4E8-4814-8A93-04C9B8F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06BAB-4D34-44DF-A80E-3E3CC832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8B373-0F52-4414-8CB2-48D8C2A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BEB01-E32E-4726-8C0F-5041C8F5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case: Ibiza football club ecommerce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2E528-C038-41C5-B33F-95731B32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EB2B9-6093-42F8-9EFD-7D96B288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Scenario: the club sells shirts, scarves and merchandise through an ecommerce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65D78-0BC7-4A7A-BEAE-56EFFB0F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8D84B-712E-4CCE-BDE9-EEBC04C7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Goal: improve digital communication with fans and convert attention into purchases.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08569-E588-43F6-95EC-33EC6AD2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7F751-2557-4E9F-BF01-28B52443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Buyer persona: local supporters, tourists, social media fans and returning customers.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06212-060B-44C2-80CD-C053AA07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FF104-80E1-45C3-BC00-2FB74458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Business question: how close is the club to an AI-enabled communication system?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FD4FD-C5AC-4775-90D7-9F6B453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4CB9E-E429-46D3-B038-BC256EB5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Working 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962B5-FBCF-4FEE-AACB-4F21420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example uses illustrative numbers so a student can understand the model. Replace them with real analytics, CRM, ecommerce and campaign data when available.</a:t>
            </a:r>
          </a:p>
        </p:txBody>
      </p:sp>
    </p:spTree>
    <p:extLst>
      <p:ext uri="{BB962C8B-B14F-4D97-AF65-F5344CB8AC3E}">
        <p14:creationId xmlns:p14="http://schemas.microsoft.com/office/powerpoint/2010/main" val="1407115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39665-5EAB-41C1-A6BE-CB703725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3A988-6D29-41A5-B3E4-9D187AC2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745CB-C8B8-4D01-9BC4-07D55165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624C5-43A9-4891-B8FF-04308748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Users: fill the market side of 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A2FAC-249D-4B0F-98A5-93280C1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10E61-D4B0-42D8-909E-BC1F424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37D32-7699-4BC1-B542-2275C26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How to fill it in the Ibiza ecommerce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067F2-6949-42D6-A02C-EA8286BC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F2022-CE36-489F-A429-94720E7A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B2C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0B538-6152-4BBC-8EF5-6A3CF6B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the estimated reachable consumer audience: supporters, visitors and online buyers. Example: 85,000 observed / 250,000 arrival.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1311C-80A7-495B-AB96-5163902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57A96-950A-46CB-ACB0-326CEAC8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Fans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BB132-02DF-42DC-B27D-7D25F57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social followers or fan community size. Example: 120,000 observed / 300,000 arrival.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B4735-D461-4BF0-AD3F-EB3FEF12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89199-4BD8-4E43-9CE9-9F066933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Leads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3F961-48C1-4578-9FDE-C58F93B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newsletter signups, carts, accounts or identified prospects. Example: 7,500 / 30,000.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DD85A-6DE6-4FCD-AADC-FBB933B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BB40F-4EED-48B4-8E58-1ECC57C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Clients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9AA67-66BB-49C4-9EEA-8E7DD886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buyers with purchase history. Example: 12,000 / 40,000.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3F5B6-E1F9-4186-9269-A9B5811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436FC-39C1-4F77-B303-8FC5CAF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Promoters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3133B-378A-402D-A159-1E215E3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reviewers, high NPS customers or referral users. Example: 1,800 / 10,000.</a:t>
            </a:r>
          </a:p>
        </p:txBody>
      </p:sp>
    </p:spTree>
    <p:extLst>
      <p:ext uri="{BB962C8B-B14F-4D97-AF65-F5344CB8AC3E}">
        <p14:creationId xmlns:p14="http://schemas.microsoft.com/office/powerpoint/2010/main" val="345819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37910-85D9-405B-957B-16AFE875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CB572-2C72-4DDD-B5C6-D72F943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3EFDD-ADD2-4028-8E17-F9E441C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DD510-95A0-4576-9026-04A621E2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Content: fill the offer and message 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137F9-90D9-4C35-A8EE-250BE7F5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B0596-2A7B-45E5-8541-08A4548E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6FEBF-38B6-4047-89C4-0D5AE0D4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What it means and 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F2718-B0AA-4D57-9CCA-58A978C5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F320C-6E50-4704-A4DB-D8CBF6A6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SEO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DDD9E-6F34-49FC-95C3-5A1FFC71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Organic search demand for shirts, club store, local football merchandise and tourism-related searches.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A493-9282-4E60-8531-52E9BDF9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DE932-F38A-41D8-80D5-E47516E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Paid media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36E48-7899-4784-AB4E-67CCA608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Campaign reach and budget-driven traffic. It can accelerate sales but increases communication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A4560-D129-430E-B3B4-A51D24B7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2F9A0-FD58-469D-A281-1849F37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AE3F2-EA40-4D70-9582-C3894D9F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Direct owned communication with fans, buyers and subscribers.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F1516-6D52-4A8F-8C34-A7B4AE80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D26BB-5230-4770-A275-D6D9F1F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DA474-DE9B-4A51-A223-00B869D4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quality and clarity of the offer: shirt, scarf, pack, delivery, discount or launch.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29849-5F43-4E45-A1B8-BC7E3126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FACDA-F5BC-4A8F-B217-FF5AD827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Brand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857CB-6C5E-4AEF-89F1-7B3FABD6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Trust, reputation, emotional connection and club identity.</a:t>
            </a:r>
          </a:p>
        </p:txBody>
      </p:sp>
    </p:spTree>
    <p:extLst>
      <p:ext uri="{BB962C8B-B14F-4D97-AF65-F5344CB8AC3E}">
        <p14:creationId xmlns:p14="http://schemas.microsoft.com/office/powerpoint/2010/main" val="1500237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11D98-9EEC-42EE-81A6-B993989D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20C0A-5476-4FA8-AEE5-7A479F09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A5CA9-368F-48AF-9244-3022668B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1F78B-2E78-4D90-94AA-1FA28F17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Infrastructure: fill the machine that carries the relationship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4A47F-3898-43AB-B694-B69C49A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C7D87-CCB4-4013-999F-60B5A95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3C977-F31B-4EC0-9705-1A0B70C4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What to enter and why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4A918-5A67-4047-A5D7-404F3C9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C5D46-B056-4C80-A678-37FEDB2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E6073-8D98-4347-AE23-07934ED8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mobile traffic or orders. Fans often discover and buy from mobile; high fit improves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54D1B-B99D-409F-950F-BE43A32F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9F0CE-D5E1-4ED9-A00A-FA7097C0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Ecommerce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BD891-A12C-441A-A980-F18E46BC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ecommerce capability or transaction volume. It connects content with revenue.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B70F9-965D-4687-A8FF-C1FDBDAA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20782-EA52-41F6-9257-86E43C3E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CRM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0B8FE-CEC6-4AEB-9A8E-C8C9E7F9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CRM maturity or active customer records. CRM matters because it lets the club remember and personalize the relationship.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0A9D9-B6F5-4FD3-8D8A-0696340D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718CB-EED8-4EAF-97F2-D513AFD4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87969-3209-4FC1-A9D8-CF8EB9A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measurement coverage. Without analytics, the system cannot learn from behaviour.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12B69-51C1-409F-BF0D-CA1A04D3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27652-C237-48BD-B2CE-592892FB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Workflow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12E5E-0950-4FA6-8595-0D420EF1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automation maturity. It shows whether campaigns, service, stock alerts or follow-ups can run without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996482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665D8-7DB3-4E69-BB8A-9CB1F642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3EF0B-4440-4A51-8CA3-172009C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7375D-24C4-4557-8FE2-9151C6C1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20473-062E-4FAD-B6D3-A1267DE4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How to fill each node configuration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79176-27AA-49DF-844E-5FB5BB2B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13EA2-FD03-4745-8977-71038F07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FEB9F-A7A0-45B3-9033-9B3849F3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Plain instruction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B1D19-DEBB-499D-B593-92487934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61754-42D7-48F8-9946-D03EC52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54C75-D7B1-4D18-8264-ED9EE189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the label that should appear on the canvas. Example: CRM.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F9F75-4233-4B5C-A92F-FFFAA171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FF890-C5B7-4817-9021-57E2DE0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Measure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E1B53-E261-43BB-A55D-B120C1E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Choose what the number represents. Example: customer records or active contacts.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786E1-4C3A-460D-81A0-4C857F62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3882C-5FA4-4C2B-B15A-714666E9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Observed quantity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6A00B-24F0-4E8C-AD4C-4A74B0BC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Enter the current value you can defend. Example: 18,000 CRM contacts.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CDB14-6B1D-4456-8F09-38FCD30B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08D19-B896-4196-AF64-2F5B07B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Arrival maximum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E481D-494C-4027-93B7-623195E6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Enter the realistic target. Example: 60,000 useful CRM contacts.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C14C6-0E78-4DF4-836D-7871994E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9A7CE-5B4B-449D-A162-A16BE46F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C0A7E-34D7-4580-9DFA-7E570BFB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Set importance. CRM might be 1.30 because personalization depends on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C632B-4373-4ECA-ADDB-1381066F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B0E68-C670-48F8-80FC-A69C0AA9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AI enablement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A99F4-84F2-4D79-AEA2-C9F7BD7D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959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Set AI maturity from 0 to 100. Example: 45 if there is basic automation but no full agent.</a:t>
            </a:r>
          </a:p>
        </p:txBody>
      </p:sp>
    </p:spTree>
    <p:extLst>
      <p:ext uri="{BB962C8B-B14F-4D97-AF65-F5344CB8AC3E}">
        <p14:creationId xmlns:p14="http://schemas.microsoft.com/office/powerpoint/2010/main" val="8458687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0867B-1B3A-4BB3-928C-C38D2016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4D175-7A12-460C-8481-BFA77C52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B3E3A-3437-4E4C-BF3B-359DF1A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81894-D545-4EFF-9171-DE97C062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B2C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C1E6C-536D-418B-A629-EE72F671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0949D-1FFA-45A4-86CF-2A81F16D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DE12D-C81D-4AAA-9C46-A2A360D5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AD612-8BFF-41B9-A3B4-E8C7382E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85,000 reachable consumers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3EDC2-0442-4B20-BA58-CF0C3080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250,000 potential consumers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6940E-79B4-406F-B9AA-CC12EF1B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1A9CD-A3EF-4D8A-B26D-CACD89D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C5158-51A5-494C-8CD8-C4227BE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56DC7-CCB4-4FF9-AFE5-9641F22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4A3B5-58A6-4174-AB90-C84CAC18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This node represents people who could buy official merchandise: local fans, tourists, casual supporters and online shoppers.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63A99-9614-4249-AF20-9987C1A0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web analytics, social reach, store traffic, ticketing audiences and market estimates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DDF03-390B-4C3F-8312-CB57012F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1CC81-0D42-49A8-B384-F5065C2B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3FBF4-5B97-48A8-B27B-000BBB49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increases the Users variable. If the reachable market is low compared with the arrival maximum, the system has demand potential but still needs better reach.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4FB16-C4AC-4226-B5AA-7392FCBC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7254600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5C1EF-9F96-4160-A770-0433500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A1A1E-4120-47C9-A5DD-BDE3A73C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4A80A-9995-4A73-95FB-AC491F1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62FD-916D-4507-81ED-3CB2D927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Fans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42C22-80C1-4E26-BD5A-3F9FE424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354C4-5E2E-4110-AA46-9BB8284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8240B-8572-422F-B848-C9291155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7EB59-68BE-42CC-B3CF-36E13C4F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120,000 social followers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B8AD1-490F-4412-857E-FAB72EA6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300,000 target fan 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F3EA4-A0E3-4646-8B0D-E999EF6E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434A2-50FD-494B-B129-E28DCDE0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7B75B-C9AD-458A-97E0-564E1F9D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E44D7-2218-4AD7-887E-4D52581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B6B2C-80E7-4A1F-98F1-54E90A3C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Fans are not all buyers, but they are the relationship base. They receive launches, posts, shirt drops and emotional brand messages.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0FD24-993E-4A84-80CB-078B2458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Instagram, TikTok, YouTube, X, email community and CRM audience exports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3AFF4-7B26-43AB-89E4-BFE0DD65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FC8C6-8AEB-4F86-B47C-31849B7A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78E41-8BE1-45A4-A879-A0F7370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strengthens Users because fans amplify attention. The score improves when the fan base is measurable and can be activated.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E744E-8F93-4CF5-AE74-8B22D26D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9825736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1CF92-5494-4991-AA4B-5ED67583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F4FCC-9843-4CA6-B833-103F7F24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5398A-BDEB-40D0-A9F1-01CBA832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9A4C1-A1ED-4AA8-ACDA-2A86F0D3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Leads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BF7ED-0A21-4BA7-9FC0-8840929C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3548D-3FD0-497E-B5BF-CF772F88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67771-F769-4D29-9A6F-F077BF56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CFFDF-AF8C-4C60-82C1-F7CAFA97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7,500 identified prospects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F63F8-DC59-4027-8827-F645F746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30,000 target prospects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C06AF-6670-458B-871A-4ABC4D19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DB76A-EABC-44D9-92B3-4533125E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FBE6B-76D2-4AEF-B42E-5F4FA288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62A22-C5A8-46DC-80C4-B7F57122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B0DFE-78ED-4360-91AC-40681843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Leads are people the club can identify and contact: newsletter users, abandoned carts, registered accounts and campaign signups.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5C68B-CD26-4927-A50D-08E91EE6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newsletter platform, ecommerce accounts, forms, lead ads and abandoned cart lists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600F0-D300-4B75-8F7E-3F32572A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33756-4A8A-45DE-8E06-B8588FA4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20967-DBAC-4FBF-B3EC-A2CF79FE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improves the relationship side because identified users are easier to personalize than anonymous traffic.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F598A-02A4-49B7-93A7-8BDDCE7E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17011637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D0E11-84A4-4604-ADF2-B2AB1CDD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0EC85-C98A-45D7-8BB6-A5B4BF96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A49DB-4246-4C90-86E0-AEE2A98C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2B30C-A928-410F-8BC4-7174FAC5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Clients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C03D9-2C35-48D1-85C0-8AE73456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21CF9-C4A5-4A9C-B1EB-35B7C1DD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00F55-0E4D-4C7B-BCED-24AB8BE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8931D-508A-4993-BEE3-B215CEC9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12,000 previous buyers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1B900-77B6-474D-A903-142B248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40,000 target buyers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AC3B7-88A4-427B-90DB-D7479E1F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5532A-F887-48B1-B4AB-9F98B5E7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C2F7C-40E5-47E3-932E-992BBFC1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98147-9E88-4EFC-8CBF-1D1C00AE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3DDD0-30CF-4597-A30E-BACDDE50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Clients prove that the system already converts communication into purchases. They also create repeat purchase and loyalty potential.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99A3D-9DCF-4DB3-9589-9C9AEB4C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ecommerce orders, customer database, payment records and loyalty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652FA-14FB-4DBB-81C1-8947FC08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8F49A-D5CE-4C72-B3BC-6ABD5B35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E9864-4DE2-4707-A9E9-FDAB39C4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increases economic capture because customers are closer to recurrence, upsell and personalized offers.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91F61-5B56-4D43-B1B0-F3B172B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1887724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55EE9-C382-46A1-8B16-3ECC85C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956B0-A897-411A-835C-B84B9CD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DDC89-FF6C-46FF-B865-7F0069F4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54157-00DA-4808-B06A-DDC6091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SEO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ABE0F-3409-4EF3-8B97-AC1E1031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95176-0836-4270-809C-BB8E092E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EA0BB-779C-47AC-A06C-392FE226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A92C2-D769-46BF-B55A-373EF39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420 relevant search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CE4C1-D569-408A-904D-7EB8C212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1,200 search opportunities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7EC33-2BC2-4A09-B32C-6DD3CAE7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5E603-2596-4C43-9A06-20177411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33A9C-7F1A-44DF-984B-312DA130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72243-28C0-4A96-B055-C6C9D717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52002-511C-4948-94A6-18F66814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SEO captures organic intent: users searching for shirts, official store, club merchandise or matchday products.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6CE75-DF84-44BA-8815-8A4DB83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Search Console, keyword tools, ecommerce landing pages and organic traffic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9E80B-1BB3-4DC4-9841-43E982EF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49970-E15A-489D-899A-621BFB3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E3B47-9D1C-4D3C-A903-2433A65D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improves Content because it shows whether the offer can be found without paying for every click.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9E3ED-D83A-4D4F-8003-02D1ECF1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20572656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06A07-CFFA-49F7-BC6E-FD69D7D4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1488F-FF38-4A89-915F-4BCD80F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C6D62-77BE-43D3-99CB-0A98530B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424F2-73CA-4F11-A443-B99B008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Paid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A0C1E-90BA-42A1-B0A5-E63253C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6D7E-9E9C-49E1-BF5F-A7BA0152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42A55-4D99-46C1-BBEC-23E6F8E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1E410-0B19-407D-81A1-2F180B8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65 active campaign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BE07D-A5AB-4797-BF60-925FF263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150 campaign opportunities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4C191-84E3-4CBE-90F6-A8FDE0EE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0.85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1AABE-E79F-4C90-B787-28A195C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12F08-5E4B-4B7F-A1D1-2E3CF41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1BB97-96A7-4B6B-BA5E-F9C33A66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0DADC-8680-47E2-90E0-93583BC8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Paid media is useful for launches and promotions, but it also adds cost. That is why the weight is lower than CRM or Clients.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B31B6-162D-4FF8-B0E8-30A5337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ad accounts, campaign calendar, creative variants, spend reports and conversion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86613-D1B3-49E2-A676-D6EE3A3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D6217-6CBD-438D-9FDB-8FFFE361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EB2D3-10D3-47C1-A7E0-3D06E390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can accelerate Content visibility, but the economic role is cost-related. More spend is not automatically better communication.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9CC52-4105-4D89-B444-19378239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19167172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6751B-0378-4545-89F5-5995005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B3689-0518-4357-BE6B-A8802631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B8EA0-2266-4F69-91DB-CF70DC14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D6FA6-BB92-4EF6-947E-69335199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Email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F443D-F391-42C8-A3AE-48B3E9D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8F95E-B254-4129-89DC-8D81C974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8230A-D7D6-4760-A21D-3B4E747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5262F-C6DA-47AB-A0C6-5E0EA3B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36 active email flows or campaigns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B187C-0915-4A03-B089-2FCAEA31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120 possible campaigns or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2350D-8FCA-4DE4-9517-269D970B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88FAF-9A46-488D-A840-33BDDC9D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E4EAC-EF53-4288-8B84-C7DD2BDD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726A4-2870-49D8-B9B6-526F6511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921E0-99AD-4935-89B4-B9BAFDF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Email is owned communication. It can send product drops, cart recovery, member offers and post-purchase messages.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EF16F-39A7-434E-A331-E21A2B79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email marketing tool, automation platform, CRM lists and campaign 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2F1BD-416D-45D1-9983-C1C6CD47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AB880-A688-4739-A9CC-9FDACF3E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1E6C5-0C0B-439D-92EB-05684E2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strengthens Content and personalization because the club can speak directly to known users.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A5314-D2FB-49CB-9CCC-22C6723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4062313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223C1-98AE-4387-888D-8ED9A0C1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5F849-4359-4045-9AF5-4FE9EE92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FF324-6654-4DFA-BF97-5C753EB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B3079-48A3-4CD3-9B39-D86E1DB5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Brand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81300-EB2C-4503-B91E-3BBEC091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0097D-E915-4638-8D39-C4FEA55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5891D-D480-42BE-BFF9-723A8B2F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F2584-F850-47D6-9C0D-3F938FC8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62 brand strength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F025-08BC-48CE-8EB6-DA4007A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100 arrival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8A1CF-C02C-4823-A32B-525D11E3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A2F11-23B7-4E30-99E6-FD415115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291F3-7458-42A2-8E6D-BAD0A6FF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C38C9-C5AF-439D-97AB-56764D9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28D61-7342-4E4A-9C19-88B61A7B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Brand translates emotional club identity into trust and desire. It matters when fans buy because the product represents belonging.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357AA-A995-4686-BF16-0B662947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brand tracking, social sentiment, reviews, community response and campaign engagement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E7D09-028B-4943-84D3-4917A80B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E48D5-A84A-4DB7-8D4A-CA503B06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92886-127C-4864-BB85-80BEA2BC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improves Content quality. Strong brand makes the same product message more persuasive.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9CDDB-7E72-4492-BC66-8ABF4FF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5343738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C97B0-0F6A-4041-8C6A-3BB057F2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3997B-33FA-4F71-BC50-75232D0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D7529-A9C0-462B-B4DC-A76116CD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74CA2-DCD2-4142-914D-8231DD84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Mobile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FA8C2-60CF-4024-B3E2-ABDE30BA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487FB-BC3C-47FF-94A6-C2C59277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1534D-9950-4B21-B339-1F825A3A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41F37-FF0D-4CFA-ABF1-97E3054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78 mobile readiness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2E85E-0A62-4609-9EFD-490802FC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100 arrival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984BC-0A47-4110-8A03-B09B61B6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FE53E-2EA1-4622-B644-D229693A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5B8D7-22ED-43B6-B931-D6AD9668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9485C-3CE7-473F-BEB2-15E2AE60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17386-1E8D-48BA-B1B6-12E015B4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Mobile matters because fans discover products through social posts and often buy from the phone.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1C9A4-71D6-46D7-B9D4-E5CF3D86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mobile traffic share, conversion by device, Core Web Vitals and app or mobile checkout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D1C25-7893-4888-ADF3-D645EA0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505B4-F104-4FD7-8BD1-5623B048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02E8C-5222-4985-ADFF-CC0B1160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improves Infrastructure because the channel fits the real behaviour of the buyer persona.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68852-0865-4EFA-9E62-DC1E22B5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11361865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1F5FA-5C73-4979-8175-C143AE9D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16792-1204-4820-842E-D9024ADD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E7DD1-0ED6-41E5-94BD-4B318C5D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711C7-0F05-450D-A90B-6AB1FA57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Ecommerce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5CDED-09EA-426D-8CA3-DF6D6FE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D9593-E113-45A2-810B-3918B6D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AD385-40CD-4F8F-A777-7CD4A8B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4B45E-B198-4DD3-80F7-19AA859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58 ecommerce capability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B7693-1210-4BF0-80D5-0F379413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100 arrival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A65BA-A0AD-41DD-8677-D4EB03E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591CC-80F3-46A3-BA82-E9A5DF6D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5527F-669A-44A3-8D1C-70E873C8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32A65-912A-4653-AFCE-F7539A7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7B7AB-B219-4CD2-9B80-0BD6A2A1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Ecommerce is where communication becomes transaction: catalogue, product page, cart, checkout, payment and delivery promise.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F67CE-F48C-4210-B564-0FAF2E9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platform analytics, checkout funnel, payment reports, stock availability and conversion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F9FCB-5B86-49FA-A121-4AF17EF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28790-FD62-44BE-9424-FF4B5D2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13B3D-6900-4AF3-8349-2C01E1F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is a critical Infrastructure node because poor transaction flow breaks the communication loop at the moment of value capture.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638DA-1326-4ABF-8B64-644B767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2155385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292C5-BD4F-46B5-A68B-89B89A18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8B117-060D-45CC-87D6-98092F0F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24332-EE2E-4536-B82D-B98D04F5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81BDC-CA44-4E76-B36D-A931ED4F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CRM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B6440-E97A-45F2-AE56-DDD8B228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15BB9-655D-46E2-B365-94EDF9F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0BAF8-0EB3-448B-AC28-105F50A0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F8D20-24CE-4068-A6CA-E7A9104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18,000 active contacts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4ECFC-2FB8-4BA4-A0EA-35AD3AEA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60,000 useful contacts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AF9CB-DF90-4DF2-BDD9-5FB9C4F5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151C7-61C3-494E-9E2B-B13D8633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EBCFD-2F0E-41BE-ADB0-E4483BD5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F2A72-2FB3-4244-BE95-10F6602B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4C9CF-9497-4C7A-B897-A162F3E8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CRM is the memory of the relationship. It connects fans, buyers, preferences, purchase history and campaigns.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6CD1D-A434-43E0-A6AE-AE33D094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CRM records, ecommerce customer exports, email subscribers and consented first-party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09CA3-40DD-4EF3-80D3-BE199AE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7E1DB-0CAC-4637-B958-120B503A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20B35-D30B-4D00-97A2-13C829CA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improves Infrastructure and AI readiness. Without CRM, personalization is weak because the club cannot remember who needs which message.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2E660-1453-4B20-9AE9-A9FE4CC9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3455238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CD78F-04C2-402A-BED3-8982978C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D6C48-BD05-449F-8CBF-78A00C9D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D2F24-59D9-4458-B16E-BAEBF955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5FB6E-A074-45FB-915B-DEA16D98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E0B2B-6185-4F7A-B97E-882164B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78E78-2965-4594-A8AA-35DED3F9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39E50-CBCA-4B8E-9A64-675E0E9C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C07FF-8238-424B-A9F2-547C417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70 measurement coverage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B07E7-B95A-490B-8203-8B1CF512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100 arrival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E5DA0-43E2-49D7-9C06-D95F4935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78CD9-F4BE-48BB-B284-1FEEFC5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93366-2709-47C0-A6DD-A11AD691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CC176-9AD7-4550-91F4-A238F7AB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72E7A-4D7C-4B59-B9A9-F382ACA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Analytics tells the club what happened: clicks, product views, carts, purchases, campaign sources and return behaviour.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6BE59-5795-439A-9A26-E01F3261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GA4, ecommerce analytics, tag manager, campaign dashboards and CRM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22FDC-D3CA-4B16-A315-0CBF4FDF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60507-89DB-4443-A4E3-9F62750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BA6B3-9203-4D7C-B7BE-2C78420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improves feedback. If analytics is weak, the system cannot learn from the buyer persona.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782F3-E0AF-4829-B4C0-B692C21C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15456418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E7F78-6E3B-45B2-BC3C-7A5154D6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DF9CC-CF82-46AA-A052-2C39E53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1C9CA-AEA3-4899-AF96-955238D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Node-by-node filling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12F85-314A-4FAC-A1D6-C922CF3E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node: Workflow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2F704-4A77-458D-B807-FD915325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5C"/>
                </a:solidFill>
              </a:defRPr>
            </a:pPr>
            <a:r>
              <a:rPr sz="1800" b="1">
                <a:solidFill>
                  <a:srgbClr val="003B5C"/>
                </a:solidFill>
              </a:rPr>
              <a:t>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5F919-840A-42C9-8362-9640E688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B2B22-7678-4EC2-BD76-6D1F933F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70B"/>
                </a:solidFill>
              </a:defRPr>
            </a:pPr>
            <a:r>
              <a:rPr sz="1950" b="1">
                <a:solidFill>
                  <a:srgbClr val="05070B"/>
                </a:solidFill>
              </a:rPr>
              <a:t>Values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1E046-B3C0-4FE7-B01A-0ADAA123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Observed quantity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42 automation maturity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378D8-EC04-402B-89EA-06A6313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Arrival maximum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100 arrival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9923D-1295-468F-9E0A-829A999E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Communication weight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1.45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C6547-9C9D-48AC-99EB-FD63697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AI enablement</a:t>
            </a:r>
          </a:p>
          <a:p xmlns:a="http://schemas.openxmlformats.org/drawingml/2006/main">
            <a:pPr algn="l">
              <a:defRPr sz="1575" b="1">
                <a:solidFill>
                  <a:srgbClr val="003B5C"/>
                </a:solidFill>
              </a:defRPr>
            </a:pPr>
            <a:r>
              <a:rPr sz="1575" b="1">
                <a:solidFill>
                  <a:srgbClr val="003B5C"/>
                </a:solidFill>
              </a:rPr>
              <a:t>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EED40-5933-4E0D-9352-A0F878A0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5C485-321F-4771-A197-7C6ABB24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Why this value is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FC628-DED4-4522-8BDB-39C92D82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Workflow AI connects events with action: abandoned cart follow-up, stock alert, service reply, campaign trigger or personalized offer.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C11EB-6841-46BB-82B8-E5E217C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Where to get it: workflow tools, AI automations, service triggers, ecommerce events and campaign orchestration 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6979F-C1F6-40A1-AC5A-69528B98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18C94-B5AD-4FA2-83BC-2D04EA0E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How it moves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185F2-D84A-41D5-8499-C056DA8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6FB"/>
                </a:solidFill>
              </a:defRPr>
            </a:pPr>
            <a:r>
              <a:rPr sz="1500" b="0">
                <a:solidFill>
                  <a:srgbClr val="EAF6FB"/>
                </a:solidFill>
              </a:rPr>
              <a:t>It strongly accelerates the model when data and systems are ready, because feedback can become action without waiting for manual work.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1F37E-BED2-4C85-A4C7-5621D66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8"/>
                </a:solidFill>
              </a:defRPr>
            </a:pPr>
            <a:r>
              <a:rPr sz="1200" b="0">
                <a:solidFill>
                  <a:srgbClr val="D8ECF8"/>
                </a:solidFill>
              </a:rPr>
              <a:t>Use the same logic with real data: defend the observed value, set a realistic arrival maximum, and explain the weight.</a:t>
            </a:r>
          </a:p>
        </p:txBody>
      </p:sp>
    </p:spTree>
    <p:extLst>
      <p:ext uri="{BB962C8B-B14F-4D97-AF65-F5344CB8AC3E}">
        <p14:creationId xmlns:p14="http://schemas.microsoft.com/office/powerpoint/2010/main" val="14406172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A6DDC-6202-4B78-A7B0-E076106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576DD-085D-4DB9-A3E9-09062E0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CFF4B-CF9B-42DE-9DF8-6C507B2A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6FBA4-FEB7-4B4E-AE2F-6292CF98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Why CRM deserves attention in this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894BA-14EA-4062-AFE1-F2F09870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98126-8E43-4683-AF6F-1D3DDCC4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CRM is not just a database. It is the memory of the relationship.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80CCE-6D74-41BB-95C4-CEE6B18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C4592-71B4-463D-B045-0B718A7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For the Ibiza ecommerce case, CRM connects fans, buyers, purchase history, preferences and campaigns.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9A4D2-2113-4565-8BD0-99C5A5C7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74437-EA75-400B-B3C4-25296406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A weak CRM means poor personalization: the same message goes to everyone.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9DD00-F8FB-4B4A-B78C-B5DCB88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D342E-CE4B-4096-A6A8-9400CE49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A strong CRM lets AI decide who should receive which offer, when, and through which channel.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F361-260B-437C-A167-8F7F5C7F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0BCBF-8DDE-4C01-82A0-CB0F96A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Example CRM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185E3-D522-4DF5-9DC8-A7028F68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Observed: 18,000 active contacts</a:t>
            </a:r>
          </a:p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Arrival max: 60,000 useful contacts</a:t>
            </a:r>
          </a:p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Weight: 1.30</a:t>
            </a:r>
          </a:p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AI enablement: 45</a:t>
            </a:r>
          </a:p>
        </p:txBody>
      </p:sp>
    </p:spTree>
    <p:extLst>
      <p:ext uri="{BB962C8B-B14F-4D97-AF65-F5344CB8AC3E}">
        <p14:creationId xmlns:p14="http://schemas.microsoft.com/office/powerpoint/2010/main" val="18006335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2619A-8626-4513-9570-76AEF09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45495-BF06-4414-90BE-474C8B7A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7ECD-51D8-4EFA-8FDF-0C4FF7A3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A5034-4502-41CA-A17C-8BFE44F9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External variables explain acceleration or friction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01E09-92B4-48FD-B3E5-C7C1481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639B1-88BB-4BEB-A360-01FDB259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Slider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88457-EE28-498D-B631-16C98E7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How to think about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22B39-A5E3-4053-9E47-90A5A182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2B2C5-22FF-4562-85B5-AF8FDF82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Processes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B7554-A4FB-48F9-8902-071CE94A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Can the club repeat campaigns, launches and service flows without improvising?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30AA2-EB6D-49E6-BCCE-93486F8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CCAC5-95E4-4D22-BDD7-1A30E44E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723FE-EE4F-419A-ADE4-FFC26A4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Are ecommerce, analytics, CRM, payment and stock connected enough?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67E84-89CE-4E01-8585-32F2D80A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7D939-A662-4A2D-AF15-D3AAD04A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Data /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34497-5791-48A6-BFD9-D8AE71D8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Is data activated for decisions, personalization and automation?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B7732-4A46-4779-AE1A-3EF904F4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06084-8BE7-4D0C-9482-E6B296F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Legal / GDPR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3B056-3BC4-41CD-AA24-14FFFCF6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Can the club use consent, cookies and customer data correctly?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6F2A7-B793-4AED-BC77-1C6F946A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80496-5C22-4216-9AA3-1C5A6FC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Competition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24161-4D6A-4395-8914-FFBA958D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high value means market pressure is intense; it can reduce effective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5EA36-256D-4C2F-A93B-8F00D9CB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359FD-8025-4BFA-950D-3776BECC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Digital culture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7019D-D94F-4AC8-A851-F0396E96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959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Does the audience expect digital buying, service and personalization?</a:t>
            </a:r>
          </a:p>
        </p:txBody>
      </p:sp>
    </p:spTree>
    <p:extLst>
      <p:ext uri="{BB962C8B-B14F-4D97-AF65-F5344CB8AC3E}">
        <p14:creationId xmlns:p14="http://schemas.microsoft.com/office/powerpoint/2010/main" val="8979694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F5FDE-C5C5-4F1E-B4A9-DCF2CE91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4D719-CCD3-4D03-BD66-3D5E897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F4532-EA98-4DED-A942-023F7B9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986A-6DD6-4667-B629-73AA10D6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How the equation turns the example into a diagnosis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E0372-87D6-46EC-8FF8-F4C2F64F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0DCC8-2948-4063-A0F7-359A04EB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First, each node is normalized: observed quantity divided by arrival maximum.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24E84-ABB5-4805-9C98-D3391CA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8DF7C-79F9-4D45-BEC3-15B7C4EE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Then Users, Content and Infrastructure are combined as a reinforcing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8D3C1-E141-487B-B1E7-B5FC428F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4CA61-F6CD-4FF9-9AF8-82FB410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Management and exogenous variables adjust the score because execution and environment matter.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8333B-355E-47ED-BA43-3B03D5A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FE656-14F9-45A8-AF49-CEC861E9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AI enablement accelerates the model when the organization has enough data, systems and process maturity.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EFEE6-A11D-4897-8DDC-52E98B21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DBEFE-BA16-426A-B60F-48AEF80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I_net = CEnd x G x E x F_AI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AE3AE-4AC9-4E65-B4FE-B8207FA3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6FB"/>
                </a:solidFill>
              </a:defRPr>
            </a:pPr>
            <a:r>
              <a:rPr sz="1350" b="0">
                <a:solidFill>
                  <a:srgbClr val="EAF6FB"/>
                </a:solidFill>
              </a:rPr>
              <a:t>Read it as: communication strength, adjusted by management, external conditions and AI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8762074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59DCA-4DA9-41E3-9DB0-2C0AAA0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CF39-D3FA-4398-868A-A72F109C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85946-8125-4FC7-9B1C-25FBABC0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C4300-B2B5-4400-9E84-C3A8ADDD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Manual reading of the Ibiza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65AA7-8803-4FF0-84F4-1AB5F53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CF913-9DD8-4ACB-ADA5-ACCABAAE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If the score is low, the ecommerce is visible but not yet a managed communication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507D6-9287-41CB-AC8A-A7FDE6BA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2C4B2-5391-43F1-BC0B-17AAD790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If the score is medium, the loop exists but depends on better data activation, CRM, content and workflow maturity.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51E2B-989F-4000-96C8-B2A7895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7875E-0254-4F77-844D-1F2908F5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If the score is high, the club is close to an AI-enabled relationship engine: signals can trigger personalized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CFAA0-F7D7-4270-B188-8D7824A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23CD9-2796-4308-8DEC-13D2C8A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The goal is not to look digital. The goal is to communicate better, learn faster and convert relationship into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58E2C-8723-4157-86C1-F4070C43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62200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B60BD-8883-40F7-98D4-94E4F7DF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Use the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8623E-68AC-4DDD-B3D0-7C34D49F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70B"/>
                </a:solidFill>
              </a:defRPr>
            </a:pPr>
            <a:r>
              <a:rPr sz="1350" b="0">
                <a:solidFill>
                  <a:srgbClr val="05070B"/>
                </a:solidFill>
              </a:rPr>
              <a:t>Open the example file in the laboratory, inspect each node, then replace the illustrative values with real data.</a:t>
            </a:r>
          </a:p>
        </p:txBody>
      </p:sp>
    </p:spTree>
    <p:extLst>
      <p:ext uri="{BB962C8B-B14F-4D97-AF65-F5344CB8AC3E}">
        <p14:creationId xmlns:p14="http://schemas.microsoft.com/office/powerpoint/2010/main" val="1424295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2026-07-29T17:43:41.7420000Z</dcterms:created>
  <dcterms:modified xsi:type="dcterms:W3CDTF">2026-07-29T17:43:41.7420000Z</dcterms:modified>
</coreProperties>
</file>