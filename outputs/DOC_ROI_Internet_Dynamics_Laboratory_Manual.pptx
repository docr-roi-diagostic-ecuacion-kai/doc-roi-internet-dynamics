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67e3a93f284705" /><Relationship Type="http://schemas.openxmlformats.org/officeDocument/2006/relationships/extended-properties" Target="/docProps/app.xml" Id="R1b1d25765dbf41bf" /><Relationship Type="http://schemas.openxmlformats.org/officeDocument/2006/relationships/officeDocument" Target="/ppt/presentation.xml" Id="R01f2b0a2b3554a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2c41e918b64dd6"/>
  </p:sldMasterIdLst>
  <p:notesMasterIdLst>
    <p:notesMasterId xmlns:r="http://schemas.openxmlformats.org/officeDocument/2006/relationships" r:id="Ra27c30af0e404937"/>
  </p:notesMasterIdLst>
  <p:sldIdLst>
    <p:sldId xmlns:r="http://schemas.openxmlformats.org/officeDocument/2006/relationships" id="256" r:id="R8e63ceec5b754927"/>
    <p:sldId xmlns:r="http://schemas.openxmlformats.org/officeDocument/2006/relationships" id="257" r:id="R85b6a34ce01f41ee"/>
    <p:sldId xmlns:r="http://schemas.openxmlformats.org/officeDocument/2006/relationships" id="258" r:id="R1f8ae71f692d4fee"/>
    <p:sldId xmlns:r="http://schemas.openxmlformats.org/officeDocument/2006/relationships" id="259" r:id="Rf23e22e5bfc54138"/>
    <p:sldId xmlns:r="http://schemas.openxmlformats.org/officeDocument/2006/relationships" id="260" r:id="R7b7242c1607b45f5"/>
    <p:sldId xmlns:r="http://schemas.openxmlformats.org/officeDocument/2006/relationships" id="261" r:id="Rdeadfc1dfdc94fc5"/>
    <p:sldId xmlns:r="http://schemas.openxmlformats.org/officeDocument/2006/relationships" id="262" r:id="R45bf6b1a68564474"/>
    <p:sldId xmlns:r="http://schemas.openxmlformats.org/officeDocument/2006/relationships" id="263" r:id="Reed8ad493ebb4ef7"/>
    <p:sldId xmlns:r="http://schemas.openxmlformats.org/officeDocument/2006/relationships" id="264" r:id="R5aca6d8bd5c6467b"/>
    <p:sldId xmlns:r="http://schemas.openxmlformats.org/officeDocument/2006/relationships" id="265" r:id="R4ff972424f8b4854"/>
    <p:sldId xmlns:r="http://schemas.openxmlformats.org/officeDocument/2006/relationships" id="266" r:id="R04dfc5fa574646b6"/>
    <p:sldId xmlns:r="http://schemas.openxmlformats.org/officeDocument/2006/relationships" id="267" r:id="R8ad9f9055c0241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687ca6ec224fe9" /><Relationship Type="http://schemas.openxmlformats.org/officeDocument/2006/relationships/slideMaster" Target="/ppt/slideMasters/slideMaster1.xml" Id="R6c2c41e918b64dd6" /><Relationship Type="http://schemas.openxmlformats.org/officeDocument/2006/relationships/notesMaster" Target="/ppt/notesMasters/notesMaster1.xml" Id="Ra27c30af0e404937" /><Relationship Type="http://schemas.openxmlformats.org/officeDocument/2006/relationships/presProps" Target="/ppt/presProps.xml" Id="R685638ce22194d08" /><Relationship Type="http://schemas.openxmlformats.org/officeDocument/2006/relationships/tableStyles" Target="/ppt/tableStyles.xml" Id="Ra5ee8a32bcf4434f" /><Relationship Type="http://schemas.openxmlformats.org/officeDocument/2006/relationships/slide" Target="/ppt/slides/slide1.xml" Id="R8e63ceec5b754927" /><Relationship Type="http://schemas.openxmlformats.org/officeDocument/2006/relationships/slide" Target="/ppt/slides/slide2.xml" Id="R85b6a34ce01f41ee" /><Relationship Type="http://schemas.openxmlformats.org/officeDocument/2006/relationships/slide" Target="/ppt/slides/slide3.xml" Id="R1f8ae71f692d4fee" /><Relationship Type="http://schemas.openxmlformats.org/officeDocument/2006/relationships/slide" Target="/ppt/slides/slide4.xml" Id="Rf23e22e5bfc54138" /><Relationship Type="http://schemas.openxmlformats.org/officeDocument/2006/relationships/slide" Target="/ppt/slides/slide5.xml" Id="R7b7242c1607b45f5" /><Relationship Type="http://schemas.openxmlformats.org/officeDocument/2006/relationships/slide" Target="/ppt/slides/slide6.xml" Id="Rdeadfc1dfdc94fc5" /><Relationship Type="http://schemas.openxmlformats.org/officeDocument/2006/relationships/slide" Target="/ppt/slides/slide7.xml" Id="R45bf6b1a68564474" /><Relationship Type="http://schemas.openxmlformats.org/officeDocument/2006/relationships/slide" Target="/ppt/slides/slide8.xml" Id="Reed8ad493ebb4ef7" /><Relationship Type="http://schemas.openxmlformats.org/officeDocument/2006/relationships/slide" Target="/ppt/slides/slide9.xml" Id="R5aca6d8bd5c6467b" /><Relationship Type="http://schemas.openxmlformats.org/officeDocument/2006/relationships/slide" Target="/ppt/slides/slide10.xml" Id="R4ff972424f8b4854" /><Relationship Type="http://schemas.openxmlformats.org/officeDocument/2006/relationships/slide" Target="/ppt/slides/slide11.xml" Id="R04dfc5fa574646b6" /><Relationship Type="http://schemas.openxmlformats.org/officeDocument/2006/relationships/slide" Target="/ppt/slides/slide12.xml" Id="R8ad9f9055c0241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683706168044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1411f9a0e8451b" /><Relationship Type="http://schemas.openxmlformats.org/officeDocument/2006/relationships/notesMaster" Target="/ppt/notesMasters/notesMaster1.xml" Id="Ree2ddaf57ba749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ce686f2ba24dd4" /><Relationship Type="http://schemas.openxmlformats.org/officeDocument/2006/relationships/notesMaster" Target="/ppt/notesMasters/notesMaster1.xml" Id="R12f66954ecb848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f3ff1452ce49e5" /><Relationship Type="http://schemas.openxmlformats.org/officeDocument/2006/relationships/notesMaster" Target="/ppt/notesMasters/notesMaster1.xml" Id="R841549ed646d4e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9e7799850a4da0" /><Relationship Type="http://schemas.openxmlformats.org/officeDocument/2006/relationships/notesMaster" Target="/ppt/notesMasters/notesMaster1.xml" Id="R3b9085352ed248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98e9df85a04e6c" /><Relationship Type="http://schemas.openxmlformats.org/officeDocument/2006/relationships/notesMaster" Target="/ppt/notesMasters/notesMaster1.xml" Id="Rd0cc40a3d5e44f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cd1238f0ce49d8" /><Relationship Type="http://schemas.openxmlformats.org/officeDocument/2006/relationships/notesMaster" Target="/ppt/notesMasters/notesMaster1.xml" Id="R2aa15b81d13743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7bf48fc2c34528" /><Relationship Type="http://schemas.openxmlformats.org/officeDocument/2006/relationships/notesMaster" Target="/ppt/notesMasters/notesMaster1.xml" Id="R8f7844c4424241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2b767f69894bf9" /><Relationship Type="http://schemas.openxmlformats.org/officeDocument/2006/relationships/notesMaster" Target="/ppt/notesMasters/notesMaster1.xml" Id="R99be553609f543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64e549338f449a" /><Relationship Type="http://schemas.openxmlformats.org/officeDocument/2006/relationships/notesMaster" Target="/ppt/notesMasters/notesMaster1.xml" Id="R7c2cf1267bd84d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db8818a37a4e9e" /><Relationship Type="http://schemas.openxmlformats.org/officeDocument/2006/relationships/notesMaster" Target="/ppt/notesMasters/notesMaster1.xml" Id="R925db3ee373b42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3e8ff0ed1949df" /><Relationship Type="http://schemas.openxmlformats.org/officeDocument/2006/relationships/notesMaster" Target="/ppt/notesMasters/notesMaster1.xml" Id="R8ec7089ae60d47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9084210b2e431b" /><Relationship Type="http://schemas.openxmlformats.org/officeDocument/2006/relationships/notesMaster" Target="/ppt/notesMasters/notesMaster1.xml" Id="Rc1bd78e1ee6e4c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b457de31f14c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7789f034ab4bf3" /><Relationship Type="http://schemas.openxmlformats.org/officeDocument/2006/relationships/slideLayout" Target="/ppt/slideLayouts/slideLayout1.xml" Id="Re7efd29922194c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efd29922194c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52312829f453a" /><Relationship Type="http://schemas.openxmlformats.org/officeDocument/2006/relationships/notesSlide" Target="/ppt/notesSlides/notesSlide1.xml" Id="R31fc0285b3bc4a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b56d80735492c" /><Relationship Type="http://schemas.openxmlformats.org/officeDocument/2006/relationships/notesSlide" Target="/ppt/notesSlides/notesSlide2.xml" Id="R3af8bac100f64a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36db5bb244df0" /><Relationship Type="http://schemas.openxmlformats.org/officeDocument/2006/relationships/notesSlide" Target="/ppt/notesSlides/notesSlide3.xml" Id="R3a6ec04122fb43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fbc21658f4866" /><Relationship Type="http://schemas.openxmlformats.org/officeDocument/2006/relationships/notesSlide" Target="/ppt/notesSlides/notesSlide4.xml" Id="R7339710fb18e4b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2f9bbb0af4336" /><Relationship Type="http://schemas.openxmlformats.org/officeDocument/2006/relationships/notesSlide" Target="/ppt/notesSlides/notesSlide5.xml" Id="Rf0009eb11eb44e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de01ade934e10" /><Relationship Type="http://schemas.openxmlformats.org/officeDocument/2006/relationships/notesSlide" Target="/ppt/notesSlides/notesSlide6.xml" Id="Rb16f14bdf7af42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64f2fcd0e49fe" /><Relationship Type="http://schemas.openxmlformats.org/officeDocument/2006/relationships/notesSlide" Target="/ppt/notesSlides/notesSlide7.xml" Id="Red9a3b0230ae49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111f613f04a45" /><Relationship Type="http://schemas.openxmlformats.org/officeDocument/2006/relationships/notesSlide" Target="/ppt/notesSlides/notesSlide8.xml" Id="Rd3e59fed371b42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069b3a15b4d4e" /><Relationship Type="http://schemas.openxmlformats.org/officeDocument/2006/relationships/notesSlide" Target="/ppt/notesSlides/notesSlide9.xml" Id="R6b0a9c84b87d42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c1bf50cb7460f" /><Relationship Type="http://schemas.openxmlformats.org/officeDocument/2006/relationships/notesSlide" Target="/ppt/notesSlides/notesSlide10.xml" Id="R0fea56e77b4545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4cedf7da747e5" /><Relationship Type="http://schemas.openxmlformats.org/officeDocument/2006/relationships/notesSlide" Target="/ppt/notesSlides/notesSlide11.xml" Id="R33255f21682645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0f5ea5613422d" /><Relationship Type="http://schemas.openxmlformats.org/officeDocument/2006/relationships/notesSlide" Target="/ppt/notesSlides/notesSlide12.xml" Id="R206eb197605f4d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9619C-E231-44D2-AECA-321E6C7B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9A6B4-E41E-4D10-9D24-5668D71D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14C91-C375-4F31-A902-D36341B7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DOC ROI - Internet Dynamics laboratory 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CA117-3088-4822-8A18-0AB03351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How to fill the Internet Dynamics laboratory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E2621-F715-4B17-B87E-7DCFFE14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A practical manual for using the model with a real ecommerce example: football club merchandising.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D218D-7B5D-4CF7-813A-1C1E180C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9545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F0470-50DD-4016-8AC6-CDF986D5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764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3B5C"/>
                </a:solidFill>
              </a:defRPr>
            </a:pPr>
            <a:r>
              <a:rPr sz="2100" b="1">
                <a:solidFill>
                  <a:srgbClr val="003B5C"/>
                </a:solidFill>
              </a:rPr>
              <a:t>The rule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3A367-7E84-4890-864B-3BC14FFC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5C"/>
                </a:solidFill>
              </a:defRPr>
            </a:pPr>
            <a:r>
              <a:rPr sz="13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8AC82C-0485-47BC-8C49-EAEBBD8E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2400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Enter only values that can be explained.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99F36-9BCF-4649-9B4E-B295D8E1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003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5C"/>
                </a:solidFill>
              </a:defRPr>
            </a:pPr>
            <a:r>
              <a:rPr sz="13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4D8A1-1156-4B13-9E94-01A0A775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00375"/>
            <a:ext cx="2400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Use current observed values, not wishes.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C94FE-5FFC-4BC1-9B59-AC151F5A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5C"/>
                </a:solidFill>
              </a:defRPr>
            </a:pPr>
            <a:r>
              <a:rPr sz="13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F7D12-768D-4152-AB8B-57738F7E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29000"/>
            <a:ext cx="2400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Set the arrival maximum as a realistic target.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B51F7A-93D5-435A-9301-C68A2FFD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576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5C"/>
                </a:solidFill>
              </a:defRPr>
            </a:pPr>
            <a:r>
              <a:rPr sz="13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5EBD9D-36D8-432F-B81B-8CA58C50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57625"/>
            <a:ext cx="2400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Let the equation translate data into direction.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9FF74-7491-4A48-9603-3D89568F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70B"/>
                </a:solidFill>
              </a:defRPr>
            </a:pPr>
            <a:r>
              <a:rPr sz="1500" b="1">
                <a:solidFill>
                  <a:srgbClr val="05070B"/>
                </a:solidFill>
              </a:rPr>
              <a:t>Deliverables: a manual deck and a JSON example ready to open in the tool.</a:t>
            </a:r>
          </a:p>
        </p:txBody>
      </p:sp>
    </p:spTree>
    <p:extLst>
      <p:ext uri="{BB962C8B-B14F-4D97-AF65-F5344CB8AC3E}">
        <p14:creationId xmlns:p14="http://schemas.microsoft.com/office/powerpoint/2010/main" val="13596286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9C8399-8B9C-49B2-A0CC-D03E2CAD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4B8B5-78F1-41EE-840E-8A3561B5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ACEF1-194E-49BD-B065-77B6F94F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DOC ROI - Internet Dynamics laboratory 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51764-44D5-4B2F-A573-B8DC2CB8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The model asks for signals, not perfect truth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F2B94-DFD2-4200-B2AC-8FD3FF7A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36C98-5A13-4E37-95B4-5BEA9864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0"/>
            <a:ext cx="601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Users represent the audience, demand and relationship side of the system.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CD9EF-1570-4B86-A9D3-C230C374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3FFF3-6F15-4978-96D8-D12B8026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0350"/>
            <a:ext cx="601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Content represents the offer, message, promise, campaign and brand communication.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E12D4-5D95-4F46-AC82-2FD28838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D8712-FD06-4E87-A208-6F83E07D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09950"/>
            <a:ext cx="601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Infrastructure represents channels, systems, data capture, workflow AI and technical capacity.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BFECA-646F-447F-896C-3310C437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1E49B2-F7FD-4FD0-B45C-3D1F62A9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601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External variables explain why the same system can accelerate or slow down in the real world.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059C20-BAFB-4483-B5F5-00E37734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3048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8ECF8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468870-D397-419A-B8AA-4845B55A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8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3B5C"/>
                </a:solidFill>
              </a:defRPr>
            </a:pPr>
            <a:r>
              <a:rPr sz="1950" b="1">
                <a:solidFill>
                  <a:srgbClr val="003B5C"/>
                </a:solidFill>
              </a:rPr>
              <a:t>Simple operating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7C4AD3-94D5-4052-8D94-FCBD28B3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70B"/>
                </a:solidFill>
              </a:defRPr>
            </a:pPr>
            <a:r>
              <a:rPr sz="1500" b="0">
                <a:solidFill>
                  <a:srgbClr val="05070B"/>
                </a:solidFill>
              </a:rPr>
              <a:t>If a value helps explain how communication reaches, persuades, serves or learns from the buyer persona, it belongs in the model.</a:t>
            </a:r>
          </a:p>
        </p:txBody>
      </p:sp>
    </p:spTree>
    <p:extLst>
      <p:ext uri="{BB962C8B-B14F-4D97-AF65-F5344CB8AC3E}">
        <p14:creationId xmlns:p14="http://schemas.microsoft.com/office/powerpoint/2010/main" val="16541924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133E34-C9B4-4E0C-9C3B-5E5DD4DF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480E2-5BB3-431B-AC67-7FB726DC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23E0C-A684-4112-91F6-A673818F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DOC ROI - Internet Dynamics laboratory 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5EC0E-46EA-4F9A-AE41-1759B2D0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Use this filling sequence every 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D0D4A-BC7F-477F-AA38-F0B93681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F121B-F3B1-4FB9-828F-991D164D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3B5C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477AF-67EF-4F2C-931B-618AF39A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574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C66FA-1D99-44FB-86AB-ACC82051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622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70B"/>
                </a:solidFill>
              </a:defRPr>
            </a:pPr>
            <a:r>
              <a:rPr sz="1575" b="1">
                <a:solidFill>
                  <a:srgbClr val="05070B"/>
                </a:solidFill>
              </a:rPr>
              <a:t>Choose the case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7466E-FF00-4D73-A678-D49633EA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860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Name the project as a real business situation, not as a generic exercise.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1FB5A-FC5E-4FFD-9BB9-2868353A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EE85A-0731-407F-BDB2-14F2C627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622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3B5C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D6BE2-017B-4A52-A744-D8695136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574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BCEAF-3F2A-4B6B-860C-D093AC57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622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70B"/>
                </a:solidFill>
              </a:defRPr>
            </a:pPr>
            <a:r>
              <a:rPr sz="1575" b="1">
                <a:solidFill>
                  <a:srgbClr val="05070B"/>
                </a:solidFill>
              </a:rPr>
              <a:t>Add the signals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254F3D-C885-49E4-A76D-57073281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860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Select users, content and infrastructure nodes that truly exist in the case.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A47EAC-95F4-4143-8226-560ED546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977F3F-CFC2-4D6E-BDCC-CDC7740B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622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3B5C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41BD19-86B4-4056-AD21-E7832242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574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32849A-2477-4D59-8E26-63958D73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70B"/>
                </a:solidFill>
              </a:defRPr>
            </a:pPr>
            <a:r>
              <a:rPr sz="1575" b="1">
                <a:solidFill>
                  <a:srgbClr val="05070B"/>
                </a:solidFill>
              </a:rPr>
              <a:t>Enter quantities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1477E4-AB2E-43CC-8689-0EC7062A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Add observed values and a reasonable arrival maximum for each node.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63CDE7-3A5A-4A41-BE25-3DB14799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4721AC-8C0A-45DD-9A71-FF95920C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3B5C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474452-B128-4FA0-9DA4-6CBA4209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95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389A12-E379-45F3-822C-0F3A5A14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005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70B"/>
                </a:solidFill>
              </a:defRPr>
            </a:pPr>
            <a:r>
              <a:rPr sz="1575" b="1">
                <a:solidFill>
                  <a:srgbClr val="05070B"/>
                </a:solidFill>
              </a:rPr>
              <a:t>Set weight and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D4D025-81A2-4BED-8B82-E63FBE92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243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Adjust importance and the current AI enablement level.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291010-D16A-4081-8FDC-88053833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2905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DBC433-1A52-4285-94A2-FDBFB340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005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3B5C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A89471-0AF4-4AB7-AFB5-CDA147AB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95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521DF9-3356-4263-9B3C-B6328124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005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70B"/>
                </a:solidFill>
              </a:defRPr>
            </a:pPr>
            <a:r>
              <a:rPr sz="1575" b="1">
                <a:solidFill>
                  <a:srgbClr val="05070B"/>
                </a:solidFill>
              </a:rPr>
              <a:t>Score the environment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C132AE-6D39-4DEF-8A23-7E9B030A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3243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Use company and exogenous sliders to explain acceleration or friction.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F7C04B-C340-4715-B30D-1847C616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2905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CBF4EA-A6D9-4ABA-B449-B562AF65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005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3B5C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3A5022-138C-4647-AF34-17A8626E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095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33D600-392E-4676-BDCA-DD21536E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70B"/>
                </a:solidFill>
              </a:defRPr>
            </a:pPr>
            <a:r>
              <a:rPr sz="1575" b="1">
                <a:solidFill>
                  <a:srgbClr val="05070B"/>
                </a:solidFill>
              </a:rPr>
              <a:t>Read the equation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C54741-2581-4BA4-A272-5160681A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243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Use the final score as a business interpretation, not as a vanity metric.</a:t>
            </a:r>
          </a:p>
        </p:txBody>
      </p:sp>
    </p:spTree>
    <p:extLst>
      <p:ext uri="{BB962C8B-B14F-4D97-AF65-F5344CB8AC3E}">
        <p14:creationId xmlns:p14="http://schemas.microsoft.com/office/powerpoint/2010/main" val="9789514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48EBC-5D85-447A-937A-4E737ED2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6BA47-708E-4972-9443-FB60CFD0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B39CC-5807-4F68-A37A-FF3178F2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DOC ROI - Internet Dynamics laboratory 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EC750-C0AF-48F5-B874-9A7D13B9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Example case: Ibiza football club ecommerce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FFAB4-54BF-4C24-9EA7-CE715916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FF816-ECE2-417F-82E6-C67E02E2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0"/>
            <a:ext cx="592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Scenario: the club sells shirts, scarves and merchandise through an ecommerce store.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58532-1A38-403B-A7AD-97D96562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958FA-8CFD-475D-ACDD-4BFE3C5C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0350"/>
            <a:ext cx="592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Goal: improve digital communication with fans and convert attention into purchases.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787DBE-28E8-4E9E-B9D2-CE51E49D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9D965C-1911-4900-9CCB-9BD0621A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09950"/>
            <a:ext cx="592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Buyer persona: local supporters, tourists, social media fans and returning customers.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6D7E19-F9C8-4C33-83D3-D9D7F00D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4CA40-AF18-4409-A159-0187FC3E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592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Business question: how close is the club to an AI-enabled communication system?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C3ADDC-C6DB-4EFB-966C-36349D34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907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17E9C0-A4D7-44F1-8F9B-8CD0B6CE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241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3B5C"/>
                </a:solidFill>
              </a:defRPr>
            </a:pPr>
            <a:r>
              <a:rPr sz="1950" b="1">
                <a:solidFill>
                  <a:srgbClr val="003B5C"/>
                </a:solidFill>
              </a:rPr>
              <a:t>Working assumption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D7C51-5E81-498B-B5D1-9C3A5D8B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The example uses illustrative numbers so a student can understand the model. Replace them with real analytics, CRM, ecommerce and campaign data when available.</a:t>
            </a:r>
          </a:p>
        </p:txBody>
      </p:sp>
    </p:spTree>
    <p:extLst>
      <p:ext uri="{BB962C8B-B14F-4D97-AF65-F5344CB8AC3E}">
        <p14:creationId xmlns:p14="http://schemas.microsoft.com/office/powerpoint/2010/main" val="15350638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A9A76E-EACE-4FBE-B03D-4B06DE1A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44D83-15C0-4255-9AF6-055F386A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75907-424B-41BA-A8A8-A97A0A49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DOC ROI - Internet Dynamics laboratory 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65453-CD1E-4A25-9407-706E6DFB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Users: fill the market side of communication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E2B6F-2137-40F3-B81F-BD18197C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03B5C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A92F2-AE7A-4541-8D93-233D0031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48D1B-D977-4597-BFCB-B6DE0787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How to fill it in the Ibiza ecommerce 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51592-7D43-47CB-9EFC-1CDA4866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74B48-051E-4DAE-843D-E60D0BA3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B2C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8631A-AD4F-4201-A658-1C362B88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7655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Use the estimated reachable consumer audience: supporters, visitors and online buyers. Example: 85,000 observed / 250,000 arrival.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0EFF4-749C-4514-96E4-AAD5236C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67D9AF-AF2E-4767-B52A-D05872B3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Fans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DABB7-3AC8-4A24-B7D6-6413F561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4330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Use social followers or fan community size. Example: 120,000 observed / 300,000 arrival.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F2115F-D662-4A0A-AD47-9EE28063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7EEDC6-37B2-4915-AABF-D707239E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Leads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1BDCFA-57D5-4150-B788-DA88E8B7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1005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Use newsletter signups, carts, accounts or identified prospects. Example: 7,500 / 30,000.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B9546E-D394-4413-A650-CBA026C2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D7F844-3474-48B1-B958-8960CFD2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Clients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487F25-2152-40E7-8D07-CB8B61EA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7680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Use buyers with purchase history. Example: 12,000 / 40,000.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703F3B-AEFA-44DA-A9AC-8F241755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7EB662-49AB-4205-AB4C-4AEE7205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Promoters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1B2CD9-ABC8-4846-8E34-D35C771C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4355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Use reviewers, high NPS customers or referral users. Example: 1,800 / 10,000.</a:t>
            </a:r>
          </a:p>
        </p:txBody>
      </p:sp>
    </p:spTree>
    <p:extLst>
      <p:ext uri="{BB962C8B-B14F-4D97-AF65-F5344CB8AC3E}">
        <p14:creationId xmlns:p14="http://schemas.microsoft.com/office/powerpoint/2010/main" val="4784588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66BBEC-2F55-4CF3-B3A8-4071088A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C08E0-C55D-474C-B912-60216001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3DB7C-BF06-4164-9928-C80D8CA8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DOC ROI - Internet Dynamics laboratory 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481B1-4042-4556-920B-BFC29553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Content: fill the offer and message side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DBF85-2A6F-4B78-8714-D1F3F5E7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03B5C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200BD-3990-47DC-BBBB-600923B2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4D64E-1953-47FD-BA93-1CCB1B8F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What it means and why it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99EBE-A239-4ABD-B3FD-2FED71DC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95B9E-F88C-485B-8B98-71475F3E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SEO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CCDF7-56A1-4F61-86A9-F5F9A525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7655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Organic search demand for shirts, club store, local football merchandise and tourism-related searches.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5946A-23DB-4DB2-ADFB-7038FAE6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6403E-7B13-4AC6-B92C-24BCF530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Paid media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09C5F-5384-4975-B39C-ADA818CF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4330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Campaign reach and budget-driven traffic. It can accelerate sales but increases communication cost.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5FB64-313B-45B1-BA0C-15BEA85D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AC21E-214C-4794-A013-2E5E76D1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Email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1DCA71-3899-4C9F-A47A-FBDE86E1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1005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Direct owned communication with fans, buyers and subscribers.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B613F4-54A2-49A9-AC07-24072FCE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8FD9F-1420-4177-9A8A-AE875DB2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Product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8E7286-71B4-425A-BD1B-E0F42CD9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7680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The quality and clarity of the offer: shirt, scarf, pack, delivery, discount or launch.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E8759D-B644-40C1-9858-A7024879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9CDDD2-0AE9-49B5-8048-DBBD7D4A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Brand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25878A-1E5E-4FCE-A830-8F2D96D6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4355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Trust, reputation, emotional connection and club identity.</a:t>
            </a:r>
          </a:p>
        </p:txBody>
      </p:sp>
    </p:spTree>
    <p:extLst>
      <p:ext uri="{BB962C8B-B14F-4D97-AF65-F5344CB8AC3E}">
        <p14:creationId xmlns:p14="http://schemas.microsoft.com/office/powerpoint/2010/main" val="1137393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489D3B-514D-4667-A51F-3B3D05E5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2260A-95AC-4410-B981-229664F9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0E589-7CBA-4022-9450-15177F5D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DOC ROI - Internet Dynamics laboratory 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F981C-4E92-41E6-8839-747F846E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Infrastructure: fill the machine that carries the relationship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690E8-2DE8-4CE5-8A56-E01FC756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03B5C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CB9BA-D5DE-4CB7-B8F0-29FE97E8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F6E2D-3945-4AB8-B1C1-F22FEFFF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What to enter and why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6A172-79BD-4700-8EF6-B228DC50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975DF-596F-4390-82DC-7B79B483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Mobile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1B9D1-5C84-47E8-A9D0-E7264674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7655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Use mobile traffic or orders. Fans often discover and buy from mobile; high fit improves communication.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89303C-E9FB-4BF4-9080-32E23AC0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C9197-39DC-4EA2-B02E-60EB1172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Ecommerce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615930-C511-4B74-AB60-DF6D7869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4330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Use ecommerce capability or transaction volume. It connects content with revenue.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FEBE5E-3065-47A2-81D9-98BE3149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162F5-46E5-4D9E-A111-A144B547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CRM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3BB2BA-41F6-43FA-AF4E-00892674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1005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Use CRM maturity or active customer records. CRM matters because it lets the club remember and personalize the relationship.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F0EFC7-219F-450A-B0FC-90693AF0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681FA6-08ED-4E9F-962C-EA08E89C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Analytics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1D6966-B418-41EC-8299-AF182337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7680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Use measurement coverage. Without analytics, the system cannot learn from behaviour.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0CDEFA-0E14-44A5-B8A5-6D2664F7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1028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96967B-95D3-441F-AD0E-FC3FC177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288036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Workflow 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B09D3F-DEBC-48CD-B321-680A13C9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43550"/>
            <a:ext cx="678942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Use automation maturity. It shows whether campaigns, service, stock alerts or follow-ups can run without manual effort.</a:t>
            </a:r>
          </a:p>
        </p:txBody>
      </p:sp>
    </p:spTree>
    <p:extLst>
      <p:ext uri="{BB962C8B-B14F-4D97-AF65-F5344CB8AC3E}">
        <p14:creationId xmlns:p14="http://schemas.microsoft.com/office/powerpoint/2010/main" val="1940413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A665E9-3640-4BA0-9A1A-DF3028F2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62633-17FE-43BC-969B-3024028D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7B2C0-9A11-41C3-A5CF-EE10006E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DOC ROI - Internet Dynamics laboratory 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7C44D-2FDC-4F03-B888-983CEF9F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How to fill each node configuration field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6D2FD-26A3-49BC-A54E-F292255E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3B5C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9F93C-718C-4483-AEA7-EA2C699F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Field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7456B-05B1-48CF-A4C4-94DD5FC1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24050"/>
            <a:ext cx="67894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Plain instruction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D4564-1BB3-4462-AEC3-3E730A82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D32C8-205E-4525-B308-7B73C384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Name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4A312-EC5D-4C2C-8CA0-89B69EA6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52700"/>
            <a:ext cx="67894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Write the label that should appear on the canvas. Example: CRM.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1F8326-20C7-42F5-9601-87680D2E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FADEC-F39A-4E0C-9B8F-09423600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Measure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B7264-ADBE-4374-BA1E-B5909ACC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81350"/>
            <a:ext cx="67894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Choose what the number represents. Example: customer records or active contacts.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3C930E-D8EE-417C-B5A8-2F06AC45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07F09A-DAFA-41E6-BAE1-494A1582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Observed quantity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9AE840-A83E-41E8-9F6D-F16198BB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10000"/>
            <a:ext cx="67894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Enter the current value you can defend. Example: 18,000 CRM contacts.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72695A-67CA-428B-8325-C973419C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BA5CF1-3219-4048-BD6C-7DFB26F7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Arrival maximum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226FB7-74D5-4882-B443-85C1A26D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38650"/>
            <a:ext cx="67894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Enter the realistic target. Example: 60,000 useful CRM contacts.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5DEA5E-0895-41F5-98BF-228FE04C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971B0F-715D-474B-8C90-ECF56D89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Weight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D54978-7F90-4D9E-809C-7B729B6F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67300"/>
            <a:ext cx="67894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Set importance. CRM might be 1.30 because personalization depends on it.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52A6AF-E1A1-4401-AF3D-6A9D4A2C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8AE164-9E78-4205-8FC5-95A1E946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AI enablement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87DD58-DD57-4880-8308-60C96D6E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95950"/>
            <a:ext cx="67894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Set AI maturity from 0 to 100. Example: 45 if there is basic automation but no full agent.</a:t>
            </a:r>
          </a:p>
        </p:txBody>
      </p:sp>
    </p:spTree>
    <p:extLst>
      <p:ext uri="{BB962C8B-B14F-4D97-AF65-F5344CB8AC3E}">
        <p14:creationId xmlns:p14="http://schemas.microsoft.com/office/powerpoint/2010/main" val="1039731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7118E7-27BE-42B6-94CD-B1260CFF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08E05-8CCD-4D16-9F56-AF90EF52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C2384-B8D8-4C33-B6A3-A9388727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DOC ROI - Internet Dynamics laboratory 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99A8A-C3BC-45E7-867F-57B0127E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Why CRM deserves attention in this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5CAAF-41E9-4C58-BDA2-5EF92221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125F1-AC54-4243-AF3F-E9D335E7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592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CRM is not just a database. It is the memory of the relationship.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A1D74-44E9-4DA4-8883-DEF2391B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A81C3-C6A1-4F4D-8A59-520BEBB9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86050"/>
            <a:ext cx="592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For the Ibiza ecommerce case, CRM connects fans, buyers, purchase history, preferences and campaigns.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43234-C2BF-447B-B319-0C59C1FF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15747-6544-4C7D-8A02-041DA2DE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592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A weak CRM means poor personalization: the same message goes to everyone.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2E5A0-D682-41F3-AC42-E551EF9B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48CC6-E3DF-4916-9565-9CEBC71B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67150"/>
            <a:ext cx="5924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A strong CRM lets AI decide who should receive which offer, when, and through which channel.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5B506-11DA-4AF4-B153-7C2FD6AB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F43B6-56DF-4629-AA6F-E31FA2C2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88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3B5C"/>
                </a:solidFill>
              </a:defRPr>
            </a:pPr>
            <a:r>
              <a:rPr sz="1950" b="1">
                <a:solidFill>
                  <a:srgbClr val="003B5C"/>
                </a:solidFill>
              </a:rPr>
              <a:t>Example CRM values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8F6B5-ABED-4F92-B99E-5AD0C1ED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5070B"/>
                </a:solidFill>
              </a:defRPr>
            </a:pPr>
            <a:r>
              <a:rPr sz="1575" b="0">
                <a:solidFill>
                  <a:srgbClr val="05070B"/>
                </a:solidFill>
              </a:rPr>
              <a:t>Observed: 18,000 active contacts</a:t>
            </a:r>
          </a:p>
          <a:p xmlns:a="http://schemas.openxmlformats.org/drawingml/2006/main">
            <a:pPr algn="l">
              <a:defRPr sz="1575" b="0">
                <a:solidFill>
                  <a:srgbClr val="05070B"/>
                </a:solidFill>
              </a:defRPr>
            </a:pPr>
            <a:r>
              <a:rPr sz="1575" b="0">
                <a:solidFill>
                  <a:srgbClr val="05070B"/>
                </a:solidFill>
              </a:rPr>
              <a:t>Arrival max: 60,000 useful contacts</a:t>
            </a:r>
          </a:p>
          <a:p xmlns:a="http://schemas.openxmlformats.org/drawingml/2006/main">
            <a:pPr algn="l">
              <a:defRPr sz="1575" b="0">
                <a:solidFill>
                  <a:srgbClr val="05070B"/>
                </a:solidFill>
              </a:defRPr>
            </a:pPr>
            <a:r>
              <a:rPr sz="1575" b="0">
                <a:solidFill>
                  <a:srgbClr val="05070B"/>
                </a:solidFill>
              </a:rPr>
              <a:t>Weight: 1.30</a:t>
            </a:r>
          </a:p>
          <a:p xmlns:a="http://schemas.openxmlformats.org/drawingml/2006/main">
            <a:pPr algn="l">
              <a:defRPr sz="1575" b="0">
                <a:solidFill>
                  <a:srgbClr val="05070B"/>
                </a:solidFill>
              </a:defRPr>
            </a:pPr>
            <a:r>
              <a:rPr sz="1575" b="0">
                <a:solidFill>
                  <a:srgbClr val="05070B"/>
                </a:solidFill>
              </a:rPr>
              <a:t>AI enablement: 45</a:t>
            </a:r>
          </a:p>
        </p:txBody>
      </p:sp>
    </p:spTree>
    <p:extLst>
      <p:ext uri="{BB962C8B-B14F-4D97-AF65-F5344CB8AC3E}">
        <p14:creationId xmlns:p14="http://schemas.microsoft.com/office/powerpoint/2010/main" val="17002910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905F0B-8781-4EBC-A7C5-D13136E9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5CA7F-4231-4BBA-95F1-ECF35E65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2ECD2-2D85-4715-8BB9-FFD808A2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DOC ROI - Internet Dynamics laboratory 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2C196-D8E7-4359-B827-026F230A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External variables explain acceleration or friction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72354-A18F-4078-9902-97AAA540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3B5C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4D54E-6495-442F-8980-923F8186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Slider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D8CCD-5222-4EDC-8D3C-D7AF2F3C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24050"/>
            <a:ext cx="67894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How to think about 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13540-05F8-4FEA-B63D-2D7E0CBA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A897B-3C03-4A2B-A1B1-B1AFA2B5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Processes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A64DC-B973-4129-8896-63F1C057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52700"/>
            <a:ext cx="67894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Can the club repeat campaigns, launches and service flows without improvising?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93D9E-5794-4FDB-986E-9E6E579B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BF882F-5C22-4A54-8A1B-13DA0E1A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Systems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DF191-A109-4DC5-9775-A928D713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81350"/>
            <a:ext cx="67894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Are ecommerce, analytics, CRM, payment and stock connected enough?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D2CED9-D228-49FC-99CD-C5C422F4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A70EE0-D9A6-4073-A3F3-09B64A6C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Data /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D53EB-E92D-43D6-A1B4-E7F23AC2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10000"/>
            <a:ext cx="67894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Is data activated for decisions, personalization and automation?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4D4665-01E1-47AF-BCA5-EE3FD1C8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E1A9CE-5A4E-4C8E-9CA4-1182D011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Legal / GDPR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C6122-C9A9-41F5-A5E9-94D6FD8D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38650"/>
            <a:ext cx="67894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Can the club use consent, cookies and customer data correctly?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3A71B4-D4D4-4C92-B648-D8A94A96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DA44A6-99CB-4EE9-BB46-4C950C53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Competition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163A0C-C8E3-411F-A72F-C78072D8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67300"/>
            <a:ext cx="67894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 high value means market pressure is intense; it can reduce effective capture.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A6F586-4CD9-493D-9C3F-AF95C663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1028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FFC9D0-CE07-4EE6-ABD5-4EA01A16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070B"/>
                </a:solidFill>
              </a:defRPr>
            </a:pPr>
            <a:r>
              <a:rPr sz="1200" b="1">
                <a:solidFill>
                  <a:srgbClr val="05070B"/>
                </a:solidFill>
              </a:rPr>
              <a:t>Digital culture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F23A1F-DBD5-420C-81CE-503F5A98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95950"/>
            <a:ext cx="67894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Does the audience expect digital buying, service and personalization?</a:t>
            </a:r>
          </a:p>
        </p:txBody>
      </p:sp>
    </p:spTree>
    <p:extLst>
      <p:ext uri="{BB962C8B-B14F-4D97-AF65-F5344CB8AC3E}">
        <p14:creationId xmlns:p14="http://schemas.microsoft.com/office/powerpoint/2010/main" val="10555803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1E041-6479-4514-B174-64D48CE9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91919-58F5-4703-A66F-2A25C885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51CF5-71CA-4644-BF1E-5CD6910C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DOC ROI - Internet Dynamics laboratory 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E841F-4C93-4514-A586-D7AF5C01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How the equation turns the example into a diagnosis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2A7F2-CB8E-456C-AD3F-E9CBA3C6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70ED9-A9E7-4FE9-983F-A3F2EE36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601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First, each node is normalized: observed quantity divided by arrival maximum.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28498-C717-47FA-AE9B-25EA26F6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F420B-4C4E-4532-B48F-27563FAF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86050"/>
            <a:ext cx="601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Then Users, Content and Infrastructure are combined as a reinforcing system.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64066-6654-4E39-88F3-56F16153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85E99-8B54-4360-A97E-7E4120A1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601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Management and exogenous variables adjust the score because execution and environment matter.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3145D-5F89-4251-B9B3-044F1946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99B03-7324-4EC5-BCC9-1035A024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67150"/>
            <a:ext cx="601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AI enablement accelerates the model when the organization has enough data, systems and process maturity.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F3BE9-CB15-47E3-B195-39D75A60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669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71D33"/>
          </a:solidFill>
          <a:ln xmlns:a="http://schemas.openxmlformats.org/drawingml/2006/main" w="9525">
            <a:solidFill>
              <a:srgbClr val="071D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13CCAD-EFCA-4F8A-B4D5-DB1A8251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146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I_net = CEnd x G x E x F_AI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1A5F5C-01AE-4767-BFEB-FF3321E1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8612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6FB"/>
                </a:solidFill>
              </a:defRPr>
            </a:pPr>
            <a:r>
              <a:rPr sz="1350" b="0">
                <a:solidFill>
                  <a:srgbClr val="EAF6FB"/>
                </a:solidFill>
              </a:rPr>
              <a:t>Read it as: communication strength, adjusted by management, external conditions and AI acceleration.</a:t>
            </a:r>
          </a:p>
        </p:txBody>
      </p:sp>
    </p:spTree>
    <p:extLst>
      <p:ext uri="{BB962C8B-B14F-4D97-AF65-F5344CB8AC3E}">
        <p14:creationId xmlns:p14="http://schemas.microsoft.com/office/powerpoint/2010/main" val="21315497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1EF259-5257-4151-B4E7-C17E330A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5070B"/>
          </a:solidFill>
          <a:ln xmlns:a="http://schemas.openxmlformats.org/drawingml/2006/main" w="9525">
            <a:solidFill>
              <a:srgbClr val="0507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4CF77-F2EF-474C-9A12-48F6416E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28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DocROI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0E450-A1E8-46FC-9228-D2CCF354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5C"/>
                </a:solidFill>
              </a:defRPr>
            </a:pPr>
            <a:r>
              <a:rPr sz="1125" b="1">
                <a:solidFill>
                  <a:srgbClr val="003B5C"/>
                </a:solidFill>
              </a:rPr>
              <a:t>DOC ROI - Internet Dynamics laboratory 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DFC3C-59AB-4513-A6B6-9A178D39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70B"/>
                </a:solidFill>
              </a:defRPr>
            </a:pPr>
            <a:r>
              <a:rPr sz="3150" b="1">
                <a:solidFill>
                  <a:srgbClr val="05070B"/>
                </a:solidFill>
              </a:rPr>
              <a:t>Manual reading of the Ibiza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E64BD-CF0E-42FA-8916-0301DE3D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D69EA-DF85-47A5-B49C-63F498C9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697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If the score is low, the ecommerce is visible but not yet a managed communication system.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DF885-25CF-4014-8D0B-DF588A2A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2F062-C33A-4C30-BA26-21E03DFD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86050"/>
            <a:ext cx="697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If the score is medium, the loop exists but depends on better data activation, CRM, content and workflow maturity.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1D9F5-FB70-493F-9107-BA06DAE3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5B27D-6245-4897-90DF-297E6568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697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If the score is high, the club is close to an AI-enabled relationship engine: signals can trigger personalized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D9C95-A60B-40A6-AF98-75FEBBBA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5C"/>
                </a:solidFill>
              </a:defRPr>
            </a:pPr>
            <a:r>
              <a:rPr sz="1650" b="1">
                <a:solidFill>
                  <a:srgbClr val="003B5C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BE9FC5-016F-481D-ACEC-C0FB843E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67150"/>
            <a:ext cx="697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The goal is not to look digital. The goal is to communicate better, learn faster and convert relationship into value.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E4021-B547-4916-AC00-AB4BBF2D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62200"/>
            <a:ext cx="2286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8ECF8"/>
          </a:solidFill>
          <a:ln xmlns:a="http://schemas.openxmlformats.org/drawingml/2006/main" w="9525">
            <a:solidFill>
              <a:srgbClr val="003B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3A3A23-E328-4691-8855-D14B1AED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146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3B5C"/>
                </a:solidFill>
              </a:defRPr>
            </a:pPr>
            <a:r>
              <a:rPr sz="1950" b="1">
                <a:solidFill>
                  <a:srgbClr val="003B5C"/>
                </a:solidFill>
              </a:rPr>
              <a:t>Use the 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4B7212-CAF5-4A67-9BE9-C169890D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3850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5070B"/>
                </a:solidFill>
              </a:defRPr>
            </a:pPr>
            <a:r>
              <a:rPr sz="1350" b="0">
                <a:solidFill>
                  <a:srgbClr val="05070B"/>
                </a:solidFill>
              </a:rPr>
              <a:t>Open the example file in the laboratory, inspect each node, then replace the illustrative values with real data.</a:t>
            </a:r>
          </a:p>
        </p:txBody>
      </p:sp>
    </p:spTree>
    <p:extLst>
      <p:ext uri="{BB962C8B-B14F-4D97-AF65-F5344CB8AC3E}">
        <p14:creationId xmlns:p14="http://schemas.microsoft.com/office/powerpoint/2010/main" val="18547183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2026-07-29T16:40:19.1340000Z</dcterms:created>
  <dcterms:modified xsi:type="dcterms:W3CDTF">2026-07-29T16:40:19.1340000Z</dcterms:modified>
</coreProperties>
</file>